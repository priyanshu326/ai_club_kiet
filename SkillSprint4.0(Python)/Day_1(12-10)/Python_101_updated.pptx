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4" r:id="rId35"/>
    <p:sldId id="273" r:id="rId19"/>
    <p:sldId id="274" r:id="rId20"/>
    <p:sldId id="275" r:id="rId21"/>
    <p:sldId id="276" r:id="rId22"/>
    <p:sldId id="277" r:id="rId23"/>
    <p:sldId id="278" r:id="rId29"/>
    <p:sldId id="279" r:id="rId30"/>
    <p:sldId id="280" r:id="rId31"/>
    <p:sldId id="281" r:id="rId32"/>
    <p:sldId id="282" r:id="rId33"/>
    <p:sldId id="283" r:id="rId34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c5e835c-1911-8626-b930-a4dc363fe051}">
          <p14:sldIdLst>
            <p14:sldId id="256"/>
            <p14:sldId id="257"/>
          </p14:sldIdLst>
        </p14:section>
        <p14:section name="Foundations" id="{4e533f10-1024-efc1-ea56-8994fcc8734a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Python" id="{f4ea5273-2ca1-a1d2-8ec1-71d37df73569}">
          <p14:sldIdLst>
            <p14:sldId id="264"/>
            <p14:sldId id="265"/>
            <p14:sldId id="266"/>
            <p14:sldId id="267"/>
            <p14:sldId id="268"/>
          </p14:sldIdLst>
        </p14:section>
        <p14:section name="Fundamentals" id="{bdbcf1c8-feb0-6a0c-15e3-86e96c18d953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FFE2B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1"/>
          <p:cNvSpPr/>
          <p:nvPr/>
        </p:nvSpPr>
        <p:spPr>
          <a:xfrm>
            <a:off x="6035040" y="-1097280"/>
            <a:ext cx="4754880" cy="4754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deco circle 2"/>
          <p:cNvSpPr/>
          <p:nvPr/>
        </p:nvSpPr>
        <p:spPr>
          <a:xfrm>
            <a:off x="6949440" y="2377440"/>
            <a:ext cx="3291840" cy="32918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6903720" y="1234440"/>
            <a:ext cx="1371600" cy="13716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 FaPyth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87768" y="161848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tx2"/>
                </a:solidFill>
              </a:rPr>
              <a:t>AI CLUB BOOTCAMP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101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803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From how computers follow instructions to why Python rules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three things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4630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 FaFileA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65506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to website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 your resume to a website and it tells you how well your skills match a job.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520440" y="14630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 FaYoutub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655064"/>
            <a:ext cx="301752" cy="30175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picks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YouTube recommends a video that you actually want to watch.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280160"/>
            <a:ext cx="25603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263640" y="14630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 FaRobo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65506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6364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answers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6974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chatbot answers your questions in seconds.</a:t>
            </a:r>
            <a:endParaRPr lang="en-US" sz="1400" dirty="0"/>
          </a:p>
        </p:txBody>
      </p:sp>
      <p:sp>
        <p:nvSpPr>
          <p:cNvPr id="18" name="callout"/>
          <p:cNvSpPr/>
          <p:nvPr/>
        </p:nvSpPr>
        <p:spPr>
          <a:xfrm>
            <a:off x="548640" y="3886200"/>
            <a:ext cx="8046720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7724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connects them? Code, and Python is one of the languages used to build them.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program?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017520" cy="320040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is like a recipe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Steps to get your work done by the computer.</a:t>
            </a:r>
            <a:endParaRPr lang="en-US" sz="1400" dirty="0"/>
          </a:p>
        </p:txBody>
      </p:sp>
      <p:sp>
        <p:nvSpPr>
          <p:cNvPr id="6" name="component pill"/>
          <p:cNvSpPr/>
          <p:nvPr/>
        </p:nvSpPr>
        <p:spPr>
          <a:xfrm>
            <a:off x="777240" y="2834640"/>
            <a:ext cx="2560320" cy="420624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Input</a:t>
            </a:r>
            <a:endParaRPr lang="en-US" sz="1500" dirty="0"/>
          </a:p>
        </p:txBody>
      </p:sp>
      <p:sp>
        <p:nvSpPr>
          <p:cNvPr id="8" name="component pill"/>
          <p:cNvSpPr/>
          <p:nvPr/>
        </p:nvSpPr>
        <p:spPr>
          <a:xfrm>
            <a:off x="777240" y="3364992"/>
            <a:ext cx="2560320" cy="420624"/>
          </a:xfrm>
          <a:prstGeom prst="roundRect">
            <a:avLst>
              <a:gd name="adj" fmla="val 21739"/>
            </a:avLst>
          </a:prstGeom>
          <a:solidFill>
            <a:schemeClr val="accent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3649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Logic</a:t>
            </a:r>
            <a:endParaRPr lang="en-US" sz="1500" dirty="0"/>
          </a:p>
        </p:txBody>
      </p:sp>
      <p:sp>
        <p:nvSpPr>
          <p:cNvPr id="10" name="component pill"/>
          <p:cNvSpPr/>
          <p:nvPr/>
        </p:nvSpPr>
        <p:spPr>
          <a:xfrm>
            <a:off x="777240" y="3895344"/>
            <a:ext cx="2560320" cy="420624"/>
          </a:xfrm>
          <a:prstGeom prst="roundRect">
            <a:avLst>
              <a:gd name="adj" fmla="val 21739"/>
            </a:avLst>
          </a:prstGeom>
          <a:solidFill>
            <a:schemeClr val="accent3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89534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Output</a:t>
            </a:r>
            <a:endParaRPr lang="en-US" sz="1500" dirty="0"/>
          </a:p>
        </p:txBody>
      </p:sp>
      <p:sp>
        <p:nvSpPr>
          <p:cNvPr id="12" name="code card"/>
          <p:cNvSpPr/>
          <p:nvPr/>
        </p:nvSpPr>
        <p:spPr>
          <a:xfrm>
            <a:off x="3794760" y="1280160"/>
            <a:ext cx="4800600" cy="2423160"/>
          </a:xfrm>
          <a:prstGeom prst="roundRect">
            <a:avLst>
              <a:gd name="adj" fmla="val 452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1417320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int(input("Age: "))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age &gt;= 18: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print("Can vote")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print("Can't vote")</a:t>
            </a:r>
            <a:endParaRPr lang="en-US" sz="1600" dirty="0"/>
          </a:p>
        </p:txBody>
      </p:sp>
      <p:sp>
        <p:nvSpPr>
          <p:cNvPr id="14" name="chip"/>
          <p:cNvSpPr/>
          <p:nvPr/>
        </p:nvSpPr>
        <p:spPr>
          <a:xfrm>
            <a:off x="3794760" y="3886200"/>
            <a:ext cx="1508760" cy="594360"/>
          </a:xfrm>
          <a:prstGeom prst="roundRect">
            <a:avLst>
              <a:gd name="adj" fmla="val 1846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94760" y="3886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Input: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</a:t>
            </a:r>
            <a:endParaRPr lang="en-US" sz="1400" dirty="0"/>
          </a:p>
        </p:txBody>
      </p:sp>
      <p:sp>
        <p:nvSpPr>
          <p:cNvPr id="16" name="chip"/>
          <p:cNvSpPr/>
          <p:nvPr/>
        </p:nvSpPr>
        <p:spPr>
          <a:xfrm>
            <a:off x="5440680" y="3886200"/>
            <a:ext cx="1508760" cy="594360"/>
          </a:xfrm>
          <a:prstGeom prst="roundRect">
            <a:avLst>
              <a:gd name="adj" fmla="val 1846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3886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Logic: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if / else</a:t>
            </a:r>
            <a:endParaRPr lang="en-US" sz="1400" dirty="0"/>
          </a:p>
        </p:txBody>
      </p:sp>
      <p:sp>
        <p:nvSpPr>
          <p:cNvPr id="18" name="chip"/>
          <p:cNvSpPr/>
          <p:nvPr/>
        </p:nvSpPr>
        <p:spPr>
          <a:xfrm>
            <a:off x="7086600" y="3886200"/>
            <a:ext cx="1508760" cy="594360"/>
          </a:xfrm>
          <a:prstGeom prst="roundRect">
            <a:avLst>
              <a:gd name="adj" fmla="val 1846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86600" y="38862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Output: </a:t>
            </a:r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programming language?</a:t>
            </a:r>
            <a:endParaRPr lang="en-US" sz="3400" dirty="0"/>
          </a:p>
        </p:txBody>
      </p:sp>
      <p:sp>
        <p:nvSpPr>
          <p:cNvPr id="3" name="definition card"/>
          <p:cNvSpPr/>
          <p:nvPr/>
        </p:nvSpPr>
        <p:spPr>
          <a:xfrm>
            <a:off x="548640" y="1280160"/>
            <a:ext cx="4572000" cy="3200400"/>
          </a:xfrm>
          <a:prstGeom prst="roundRect">
            <a:avLst>
              <a:gd name="adj" fmla="val 3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0020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way of writing instructions that a computer can understand.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33756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Like a language you use to talk to the computer.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EXAMPLES</a:t>
            </a:r>
            <a:endParaRPr lang="en-US" sz="1200" dirty="0"/>
          </a:p>
        </p:txBody>
      </p:sp>
      <p:sp>
        <p:nvSpPr>
          <p:cNvPr id="7" name="card"/>
          <p:cNvSpPr/>
          <p:nvPr/>
        </p:nvSpPr>
        <p:spPr>
          <a:xfrm>
            <a:off x="5486400" y="1645920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645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Python</a:t>
            </a:r>
            <a:endParaRPr lang="en-US" sz="1800" dirty="0"/>
          </a:p>
        </p:txBody>
      </p:sp>
      <p:sp>
        <p:nvSpPr>
          <p:cNvPr id="9" name="card"/>
          <p:cNvSpPr/>
          <p:nvPr/>
        </p:nvSpPr>
        <p:spPr>
          <a:xfrm>
            <a:off x="5486400" y="2377440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3774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C++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5486400" y="3108960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31089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Java</a:t>
            </a:r>
            <a:endParaRPr lang="en-US" sz="1800" dirty="0"/>
          </a:p>
        </p:txBody>
      </p:sp>
      <p:sp>
        <p:nvSpPr>
          <p:cNvPr id="13" name="card"/>
          <p:cNvSpPr/>
          <p:nvPr/>
        </p:nvSpPr>
        <p:spPr>
          <a:xfrm>
            <a:off x="5486400" y="3840480"/>
            <a:ext cx="3108960" cy="594360"/>
          </a:xfrm>
          <a:prstGeom prst="roundRect">
            <a:avLst>
              <a:gd name="adj" fmla="val 184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0" y="38404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levels of language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ber badge"/>
          <p:cNvSpPr/>
          <p:nvPr/>
        </p:nvSpPr>
        <p:spPr>
          <a:xfrm>
            <a:off x="777240" y="148132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280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level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1280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Humans cannot read it</a:t>
            </a:r>
            <a:endParaRPr lang="en-US" sz="1400" dirty="0"/>
          </a:p>
        </p:txBody>
      </p:sp>
      <p:sp>
        <p:nvSpPr>
          <p:cNvPr id="8" name="example chip"/>
          <p:cNvSpPr/>
          <p:nvPr/>
        </p:nvSpPr>
        <p:spPr>
          <a:xfrm>
            <a:off x="6766560" y="1554480"/>
            <a:ext cx="1645920" cy="41148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6656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0s and 1s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548640" y="237744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badge"/>
          <p:cNvSpPr/>
          <p:nvPr/>
        </p:nvSpPr>
        <p:spPr>
          <a:xfrm>
            <a:off x="777240" y="257860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3774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Assembly language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23774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is short, but still hard to learn</a:t>
            </a:r>
            <a:endParaRPr lang="en-US" sz="1400" dirty="0"/>
          </a:p>
        </p:txBody>
      </p:sp>
      <p:sp>
        <p:nvSpPr>
          <p:cNvPr id="15" name="example chip"/>
          <p:cNvSpPr/>
          <p:nvPr/>
        </p:nvSpPr>
        <p:spPr>
          <a:xfrm>
            <a:off x="6766560" y="2651760"/>
            <a:ext cx="1645920" cy="41148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ADD, MOV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548640" y="3474720"/>
            <a:ext cx="804672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ber badge"/>
          <p:cNvSpPr/>
          <p:nvPr/>
        </p:nvSpPr>
        <p:spPr>
          <a:xfrm>
            <a:off x="777240" y="367588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675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554480" y="347472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High-level language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840480" y="34747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English-like, easy to read and write</a:t>
            </a:r>
            <a:endParaRPr lang="en-US" sz="1400" dirty="0"/>
          </a:p>
        </p:txBody>
      </p:sp>
      <p:sp>
        <p:nvSpPr>
          <p:cNvPr id="22" name="example chip"/>
          <p:cNvSpPr/>
          <p:nvPr/>
        </p:nvSpPr>
        <p:spPr>
          <a:xfrm>
            <a:off x="6766560" y="3749040"/>
            <a:ext cx="1645920" cy="411480"/>
          </a:xfrm>
          <a:prstGeom prst="roundRect">
            <a:avLst>
              <a:gd name="adj" fmla="val 2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3749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Python, Java, C++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words → the CPU's language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4630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YOU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7830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Print "Hi"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decide what you want to happen, in plain English.</a:t>
            </a:r>
            <a:endParaRPr lang="en-US" sz="1400" dirty="0"/>
          </a:p>
        </p:txBody>
      </p:sp>
      <p:sp>
        <p:nvSpPr>
          <p:cNvPr id="7" name="flow arrow"/>
          <p:cNvSpPr/>
          <p:nvPr/>
        </p:nvSpPr>
        <p:spPr>
          <a:xfrm>
            <a:off x="1956816" y="269748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2217420" y="128016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90572" y="14630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STEP 1 · WRITE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290572" y="17830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1500" dirty="0"/>
          </a:p>
        </p:txBody>
      </p:sp>
      <p:sp>
        <p:nvSpPr>
          <p:cNvPr id="11" name="code box"/>
          <p:cNvSpPr/>
          <p:nvPr/>
        </p:nvSpPr>
        <p:spPr>
          <a:xfrm>
            <a:off x="2308860" y="2514600"/>
            <a:ext cx="118872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08860" y="25146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print("Hi")</a:t>
            </a:r>
            <a:endParaRPr lang="en-US" sz="1300" dirty="0"/>
          </a:p>
        </p:txBody>
      </p:sp>
      <p:sp>
        <p:nvSpPr>
          <p:cNvPr id="13" name="flow arrow"/>
          <p:cNvSpPr/>
          <p:nvPr/>
        </p:nvSpPr>
        <p:spPr>
          <a:xfrm>
            <a:off x="3625596" y="269748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card"/>
          <p:cNvSpPr/>
          <p:nvPr/>
        </p:nvSpPr>
        <p:spPr>
          <a:xfrm>
            <a:off x="3886200" y="128016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59352" y="14630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STEP 2 · TRANSLATE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959352" y="17830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251460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compiler or interpreter converts your text for the machine.</a:t>
            </a:r>
            <a:endParaRPr lang="en-US" sz="1400" dirty="0"/>
          </a:p>
        </p:txBody>
      </p:sp>
      <p:sp>
        <p:nvSpPr>
          <p:cNvPr id="18" name="flow arrow"/>
          <p:cNvSpPr/>
          <p:nvPr/>
        </p:nvSpPr>
        <p:spPr>
          <a:xfrm>
            <a:off x="5294376" y="269748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card"/>
          <p:cNvSpPr/>
          <p:nvPr/>
        </p:nvSpPr>
        <p:spPr>
          <a:xfrm>
            <a:off x="5554980" y="128016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8132" y="14630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STEP 3 · LOWER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28132" y="17830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code</a:t>
            </a:r>
            <a:endParaRPr lang="en-US" sz="1500" dirty="0"/>
          </a:p>
        </p:txBody>
      </p:sp>
      <p:sp>
        <p:nvSpPr>
          <p:cNvPr id="22" name="code box"/>
          <p:cNvSpPr/>
          <p:nvPr/>
        </p:nvSpPr>
        <p:spPr>
          <a:xfrm>
            <a:off x="5646420" y="2514600"/>
            <a:ext cx="1188720" cy="960120"/>
          </a:xfrm>
          <a:prstGeom prst="roundRect">
            <a:avLst>
              <a:gd name="adj" fmla="val 1142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46420" y="2514600"/>
            <a:ext cx="1188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01001000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01101001</a:t>
            </a:r>
            <a:endParaRPr lang="en-US" sz="1300" dirty="0"/>
          </a:p>
        </p:txBody>
      </p:sp>
      <p:sp>
        <p:nvSpPr>
          <p:cNvPr id="24" name="flow arrow"/>
          <p:cNvSpPr/>
          <p:nvPr/>
        </p:nvSpPr>
        <p:spPr>
          <a:xfrm>
            <a:off x="6963156" y="2697480"/>
            <a:ext cx="22860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card"/>
          <p:cNvSpPr/>
          <p:nvPr/>
        </p:nvSpPr>
        <p:spPr>
          <a:xfrm>
            <a:off x="7223760" y="128016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96912" y="14630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STEP 4 · RUN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1783080"/>
            <a:ext cx="1225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executes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514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360920" y="310896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 see this on the screen.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 vs Interpreter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 CPU needs a translator before it can run high-level code.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783080"/>
            <a:ext cx="393192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FaCog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214518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Compiler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346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Translates the whole program first, then runs it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Very fast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Ex: C, C++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663440" y="1783080"/>
            <a:ext cx="3931920" cy="26974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937760" y="19659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FaCod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982" y="214518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Interpreter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83464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Translates and runs one line at a time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Easier to test and find errors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uses this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 many languages?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Different tasks need different languages.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822960" y="1920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FaGlob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122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JavaScript, HTML, CSS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4663440" y="164592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937760" y="19202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FaMicroch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784" y="21122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85216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&amp; Hardware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85216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C, C++, Rust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306324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 circle"/>
          <p:cNvSpPr/>
          <p:nvPr/>
        </p:nvSpPr>
        <p:spPr>
          <a:xfrm>
            <a:off x="822960" y="33375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6" name="icon FaMobileAl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52958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3319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Kotlin, Swift, Dart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4663440" y="3063240"/>
            <a:ext cx="3931920" cy="1234440"/>
          </a:xfrm>
          <a:prstGeom prst="roundRect">
            <a:avLst>
              <a:gd name="adj" fmla="val 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4937760" y="3337560"/>
            <a:ext cx="685800" cy="6858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1" name="icon FaChartBa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784" y="35295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852160" y="3319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AI &amp; ML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585216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Python, SQL, R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Next topic first: Python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Python</a:t>
            </a:r>
            <a:endParaRPr lang="en-US" sz="3400" dirty="0"/>
          </a:p>
        </p:txBody>
      </p:sp>
      <p:sp>
        <p:nvSpPr>
          <p:cNvPr id="3" name="stat card"/>
          <p:cNvSpPr/>
          <p:nvPr/>
        </p:nvSpPr>
        <p:spPr>
          <a:xfrm>
            <a:off x="548640" y="1280160"/>
            <a:ext cx="2560320" cy="3200400"/>
          </a:xfrm>
          <a:prstGeom prst="roundRect">
            <a:avLst>
              <a:gd name="adj" fmla="val 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Year Python was introduced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3337560" y="1280160"/>
            <a:ext cx="52578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28016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High-level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128016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Easy to read and write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37560" y="1938528"/>
            <a:ext cx="52578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93852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Dynamically typed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9385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need to declare a data type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3337560" y="2596896"/>
            <a:ext cx="52578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25968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Portable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596896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Same code runs on Windows, Mac and Linux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3337560" y="3255264"/>
            <a:ext cx="52578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20440" y="325526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Interpreted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20640" y="325526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line by line, stops at first error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3337560" y="3913632"/>
            <a:ext cx="525780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391363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General purpose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39136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just AI: backend, DevOps, data too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Python works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Python interpreter pipeline: Execution flowchart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1737360" cy="21945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1097280" y="1920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FaFileCod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6502" y="2099462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Code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script.py</a:t>
            </a:r>
            <a:endParaRPr lang="en-US" sz="1400" dirty="0"/>
          </a:p>
        </p:txBody>
      </p:sp>
      <p:sp>
        <p:nvSpPr>
          <p:cNvPr id="9" name="flow arrow"/>
          <p:cNvSpPr/>
          <p:nvPr/>
        </p:nvSpPr>
        <p:spPr>
          <a:xfrm>
            <a:off x="2359152" y="2606040"/>
            <a:ext cx="31089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ard"/>
          <p:cNvSpPr/>
          <p:nvPr/>
        </p:nvSpPr>
        <p:spPr>
          <a:xfrm>
            <a:off x="2651760" y="1691640"/>
            <a:ext cx="1737360" cy="21945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200400" y="1920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 FaCog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622" y="20994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4320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Compiler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syntax</a:t>
            </a:r>
            <a:endParaRPr lang="en-US" sz="1400" dirty="0"/>
          </a:p>
        </p:txBody>
      </p:sp>
      <p:sp>
        <p:nvSpPr>
          <p:cNvPr id="15" name="flow arrow"/>
          <p:cNvSpPr/>
          <p:nvPr/>
        </p:nvSpPr>
        <p:spPr>
          <a:xfrm>
            <a:off x="4462272" y="2606040"/>
            <a:ext cx="31089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ard"/>
          <p:cNvSpPr/>
          <p:nvPr/>
        </p:nvSpPr>
        <p:spPr>
          <a:xfrm>
            <a:off x="4754880" y="1691640"/>
            <a:ext cx="1737360" cy="21945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 circle"/>
          <p:cNvSpPr/>
          <p:nvPr/>
        </p:nvSpPr>
        <p:spPr>
          <a:xfrm>
            <a:off x="5303520" y="1920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 FaMicrochi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742" y="209946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Bytecode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script.pyc</a:t>
            </a:r>
            <a:endParaRPr lang="en-US" sz="1400" dirty="0"/>
          </a:p>
        </p:txBody>
      </p:sp>
      <p:sp>
        <p:nvSpPr>
          <p:cNvPr id="21" name="flow arrow"/>
          <p:cNvSpPr/>
          <p:nvPr/>
        </p:nvSpPr>
        <p:spPr>
          <a:xfrm>
            <a:off x="6565392" y="2606040"/>
            <a:ext cx="310896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card"/>
          <p:cNvSpPr/>
          <p:nvPr/>
        </p:nvSpPr>
        <p:spPr>
          <a:xfrm>
            <a:off x="6858000" y="1691640"/>
            <a:ext cx="1737360" cy="21945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 circle"/>
          <p:cNvSpPr/>
          <p:nvPr/>
        </p:nvSpPr>
        <p:spPr>
          <a:xfrm>
            <a:off x="7406640" y="19202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4" name="icon FaTermina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5862" y="2099462"/>
            <a:ext cx="281635" cy="28163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494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PVM Interpreter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line-by-line</a:t>
            </a:r>
            <a:endParaRPr lang="en-US" sz="1400" dirty="0"/>
          </a:p>
        </p:txBody>
      </p:sp>
      <p:sp>
        <p:nvSpPr>
          <p:cNvPr id="27" name="callout"/>
          <p:cNvSpPr/>
          <p:nvPr/>
        </p:nvSpPr>
        <p:spPr>
          <a:xfrm>
            <a:off x="548640" y="4069080"/>
            <a:ext cx="80467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7724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Your code is compiled to bytecode first, then the PVM runs it line by 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Python?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5087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 FaBookOpe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68798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Easy, readable syntax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Fewer symbols, more words. Python uses input() and print() where C++ uses &gt;&gt; and &lt;&lt;.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28016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 FaBoxe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262" y="168798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63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Thousands of free libraries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Code already written for almost any job. Just call list.sort().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777240" y="31546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con FaUn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" y="333390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and open source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Costs nothing and runs on every system.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926080"/>
            <a:ext cx="39319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4892040" y="31546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 FaUser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262" y="3333902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Huge community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204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Help is always a search away: Stack Overflow, Reddit.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Python is used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 FaBrai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462" y="159654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&amp; Machine Learning</a:t>
            </a:r>
            <a:endParaRPr lang="en-US" sz="1700" dirty="0"/>
          </a:p>
        </p:txBody>
      </p:sp>
      <p:sp>
        <p:nvSpPr>
          <p:cNvPr id="7" name="company chip"/>
          <p:cNvSpPr/>
          <p:nvPr/>
        </p:nvSpPr>
        <p:spPr>
          <a:xfrm>
            <a:off x="777240" y="2834640"/>
            <a:ext cx="2103120" cy="347472"/>
          </a:xfrm>
          <a:prstGeom prst="roundRect">
            <a:avLst>
              <a:gd name="adj" fmla="val 3157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Uber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291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Uses TensorFlow and PyTorch for dynamic pricing models and route optimization.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2918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 circle"/>
          <p:cNvSpPr/>
          <p:nvPr/>
        </p:nvSpPr>
        <p:spPr>
          <a:xfrm>
            <a:off x="352044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 FaChartLi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662" y="15965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20440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&amp; Analytics</a:t>
            </a:r>
            <a:endParaRPr lang="en-US" sz="1700" dirty="0"/>
          </a:p>
        </p:txBody>
      </p:sp>
      <p:sp>
        <p:nvSpPr>
          <p:cNvPr id="14" name="company chip"/>
          <p:cNvSpPr/>
          <p:nvPr/>
        </p:nvSpPr>
        <p:spPr>
          <a:xfrm>
            <a:off x="3520440" y="2834640"/>
            <a:ext cx="2103120" cy="347472"/>
          </a:xfrm>
          <a:prstGeom prst="roundRect">
            <a:avLst>
              <a:gd name="adj" fmla="val 3157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52044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Netflix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291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Relies on Pandas and NumPy to analyze viewing habits and optimize content distribution.</a:t>
            </a:r>
            <a:endParaRPr lang="en-US" sz="1400" dirty="0"/>
          </a:p>
        </p:txBody>
      </p:sp>
      <p:sp>
        <p:nvSpPr>
          <p:cNvPr id="17" name="card"/>
          <p:cNvSpPr/>
          <p:nvPr/>
        </p:nvSpPr>
        <p:spPr>
          <a:xfrm>
            <a:off x="6035040" y="1280160"/>
            <a:ext cx="2560320" cy="324612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 circle"/>
          <p:cNvSpPr/>
          <p:nvPr/>
        </p:nvSpPr>
        <p:spPr>
          <a:xfrm>
            <a:off x="6263640" y="14173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icon FaLaptopCod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62" y="159654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263640" y="21945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sz="1700" dirty="0"/>
          </a:p>
        </p:txBody>
      </p:sp>
      <p:sp>
        <p:nvSpPr>
          <p:cNvPr id="21" name="company chip"/>
          <p:cNvSpPr/>
          <p:nvPr/>
        </p:nvSpPr>
        <p:spPr>
          <a:xfrm>
            <a:off x="6263640" y="2834640"/>
            <a:ext cx="2103120" cy="347472"/>
          </a:xfrm>
          <a:prstGeom prst="roundRect">
            <a:avLst>
              <a:gd name="adj" fmla="val 3157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263640" y="2834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Instagram, Spotify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6263640" y="32918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Django runs the backend: user authentication, media streaming. Pinterest uses Flask.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places Python shows up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1188720" y="14630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 FaCog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5141" y="162946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DevOps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2606040" y="12801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con circle"/>
          <p:cNvSpPr/>
          <p:nvPr/>
        </p:nvSpPr>
        <p:spPr>
          <a:xfrm>
            <a:off x="3246120" y="14630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con FaBol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541" y="1629461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6974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4663440" y="12801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 circle"/>
          <p:cNvSpPr/>
          <p:nvPr/>
        </p:nvSpPr>
        <p:spPr>
          <a:xfrm>
            <a:off x="5303520" y="14630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con FaGamepad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941" y="1629461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Game Dev &amp; 3D Animation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720840" y="12801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icon circle"/>
          <p:cNvSpPr/>
          <p:nvPr/>
        </p:nvSpPr>
        <p:spPr>
          <a:xfrm>
            <a:off x="7360920" y="14630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con FaSpider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7341" y="162946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12280" y="2148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 Scraping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28803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1188720" y="30632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con FaChartLi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5141" y="322966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4008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 Science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2606040" y="28803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3246120" y="30632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con FaPla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541" y="3229661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269748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Drones</a:t>
            </a:r>
            <a:endParaRPr lang="en-US" sz="1400" dirty="0"/>
          </a:p>
        </p:txBody>
      </p:sp>
      <p:sp>
        <p:nvSpPr>
          <p:cNvPr id="27" name="card"/>
          <p:cNvSpPr/>
          <p:nvPr/>
        </p:nvSpPr>
        <p:spPr>
          <a:xfrm>
            <a:off x="4663440" y="28803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on circle"/>
          <p:cNvSpPr/>
          <p:nvPr/>
        </p:nvSpPr>
        <p:spPr>
          <a:xfrm>
            <a:off x="5303520" y="30632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icon FaCloud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69941" y="3229661"/>
            <a:ext cx="261518" cy="26151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475488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6720840" y="2880360"/>
            <a:ext cx="18745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icon circle"/>
          <p:cNvSpPr/>
          <p:nvPr/>
        </p:nvSpPr>
        <p:spPr>
          <a:xfrm>
            <a:off x="7360920" y="306324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3" name="icon FaShieldAl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7341" y="3229661"/>
            <a:ext cx="261518" cy="26151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812280" y="3749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Cybersecurity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Variables: naming and storing values</a:t>
            </a:r>
            <a:endParaRPr lang="en-US" sz="3400" dirty="0"/>
          </a:p>
        </p:txBody>
      </p:sp>
      <p:sp>
        <p:nvSpPr>
          <p:cNvPr id="3" name="variable box"/>
          <p:cNvSpPr/>
          <p:nvPr/>
        </p:nvSpPr>
        <p:spPr>
          <a:xfrm>
            <a:off x="548640" y="1280160"/>
            <a:ext cx="1280160" cy="109728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200" dirty="0"/>
          </a:p>
        </p:txBody>
      </p:sp>
      <p:sp>
        <p:nvSpPr>
          <p:cNvPr id="6" name="flow arrow"/>
          <p:cNvSpPr/>
          <p:nvPr/>
        </p:nvSpPr>
        <p:spPr>
          <a:xfrm>
            <a:off x="1920240" y="169164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de card"/>
          <p:cNvSpPr/>
          <p:nvPr/>
        </p:nvSpPr>
        <p:spPr>
          <a:xfrm>
            <a:off x="2286000" y="1280160"/>
            <a:ext cx="2194560" cy="109728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280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"Asha"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2560320"/>
            <a:ext cx="393192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variable?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container that stores data or values in our program. Think of it as a labelled box in memory where we can place something, change it, or use it later.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475488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83480" y="1417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rules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983480" y="187452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Letters, digits and underscore only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Cannot start with a digit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Case-sensitive: Age and age are different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spaces or reserved words (if, for)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Style: snake_case, like total_score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98348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student_name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Bad: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2name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variable names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Each name on the left breaks a naming rule. The right side is the fix.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80467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Name$ = Rahul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002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$ is not allowed</a:t>
            </a:r>
            <a:endParaRPr lang="en-US" sz="1400" dirty="0"/>
          </a:p>
        </p:txBody>
      </p:sp>
      <p:sp>
        <p:nvSpPr>
          <p:cNvPr id="7" name="flow arrow"/>
          <p:cNvSpPr/>
          <p:nvPr/>
        </p:nvSpPr>
        <p:spPr>
          <a:xfrm>
            <a:off x="5303520" y="1792224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0" y="16002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"Rahul"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350008"/>
            <a:ext cx="80467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500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 Name = AI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35000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No spaces allowed</a:t>
            </a:r>
            <a:endParaRPr lang="en-US" sz="1400" dirty="0"/>
          </a:p>
        </p:txBody>
      </p:sp>
      <p:sp>
        <p:nvSpPr>
          <p:cNvPr id="12" name="flow arrow"/>
          <p:cNvSpPr/>
          <p:nvPr/>
        </p:nvSpPr>
        <p:spPr>
          <a:xfrm>
            <a:off x="5303520" y="2542032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3500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department_name = "AI"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099816"/>
            <a:ext cx="80467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09981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College$Name = ABC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0998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$ is not allowed</a:t>
            </a:r>
            <a:endParaRPr lang="en-US" sz="1400" dirty="0"/>
          </a:p>
        </p:txBody>
      </p:sp>
      <p:sp>
        <p:nvSpPr>
          <p:cNvPr id="17" name="flow arrow"/>
          <p:cNvSpPr/>
          <p:nvPr/>
        </p:nvSpPr>
        <p:spPr>
          <a:xfrm>
            <a:off x="5303520" y="3291840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30998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college_name = "ABC"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849624"/>
            <a:ext cx="80467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849624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9Age = 20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291840" y="38496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Cannot start with a digit</a:t>
            </a:r>
            <a:endParaRPr lang="en-US" sz="1400" dirty="0"/>
          </a:p>
        </p:txBody>
      </p:sp>
      <p:sp>
        <p:nvSpPr>
          <p:cNvPr id="22" name="flow arrow"/>
          <p:cNvSpPr/>
          <p:nvPr/>
        </p:nvSpPr>
        <p:spPr>
          <a:xfrm>
            <a:off x="5303520" y="4041648"/>
            <a:ext cx="274320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60720" y="384962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451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Text values need quotes too, and snake_case is the Python style.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A data type defines the kind of value a variable can hold.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75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whole numbers, positive or negative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60020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75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 = 3.14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decimals: numbers with a dot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6035040" y="160020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075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"Ada"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77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text wrapped in quotes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0175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is_open = True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True or False, capital first letter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3291840" y="30175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2044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None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52044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"no value yet" placeholder</a:t>
            </a:r>
            <a:endParaRPr lang="en-US" sz="1400" dirty="0"/>
          </a:p>
        </p:txBody>
      </p:sp>
      <p:sp>
        <p:nvSpPr>
          <p:cNvPr id="24" name="type check card"/>
          <p:cNvSpPr/>
          <p:nvPr/>
        </p:nvSpPr>
        <p:spPr>
          <a:xfrm>
            <a:off x="6035040" y="3017520"/>
            <a:ext cx="2560320" cy="1280160"/>
          </a:xfrm>
          <a:prstGeom prst="roundRect">
            <a:avLst>
              <a:gd name="adj" fmla="val 857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a type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print(type(age))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'int'&gt;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&amp; indentation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Comments explain the code. Indentation shows which lines belong together.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FaCommentDot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 with #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ignores them when running the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to add notes or reminders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60020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892040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FaInd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8909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Indentation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4231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Defines blocks of code in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Usually 4 spaces per level (don't mix tabs and spaces)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Shows which lines are inside an if, loop, etc.</a:t>
            </a:r>
            <a:endParaRPr lang="en-US" sz="1400" dirty="0"/>
          </a:p>
        </p:txBody>
      </p:sp>
      <p:sp>
        <p:nvSpPr>
          <p:cNvPr id="14" name="remember callout"/>
          <p:cNvSpPr/>
          <p:nvPr/>
        </p:nvSpPr>
        <p:spPr>
          <a:xfrm>
            <a:off x="548640" y="4069080"/>
            <a:ext cx="80467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Remember: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Comments are for people. Indentation tells Python what to 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&amp; casting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Sometimes you need to change a value from one type to another.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 FaExchangeAl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 converts some types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Example: 5 + 2.5 gives 7.5 (int becomes float)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don't have to do anything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63440" y="1600200"/>
            <a:ext cx="39319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on circle"/>
          <p:cNvSpPr/>
          <p:nvPr/>
        </p:nvSpPr>
        <p:spPr>
          <a:xfrm>
            <a:off x="4892040" y="17373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con FaFlas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8909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737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937760" y="242316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 change the type yourself using a function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Useful for user input, which is always a string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Common ones: int(), float(), str(), bool()</a:t>
            </a:r>
            <a:endParaRPr lang="en-US" sz="1400" dirty="0"/>
          </a:p>
        </p:txBody>
      </p:sp>
      <p:sp>
        <p:nvSpPr>
          <p:cNvPr id="14" name="remember callout"/>
          <p:cNvSpPr/>
          <p:nvPr/>
        </p:nvSpPr>
        <p:spPr>
          <a:xfrm>
            <a:off x="548640" y="4069080"/>
            <a:ext cx="8046720" cy="502920"/>
          </a:xfrm>
          <a:prstGeom prst="roundRect">
            <a:avLst>
              <a:gd name="adj" fmla="val 2181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7240" y="4069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Remember: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Conversion happens automatically. Casting happens when you do it yourself.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types of operators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01 · MATH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</a:t>
            </a:r>
            <a:endParaRPr lang="en-US" sz="1600" dirty="0"/>
          </a:p>
        </p:txBody>
      </p:sp>
      <p:sp>
        <p:nvSpPr>
          <p:cNvPr id="6" name="code box"/>
          <p:cNvSpPr/>
          <p:nvPr/>
        </p:nvSpPr>
        <p:spPr>
          <a:xfrm>
            <a:off x="658368" y="2029968"/>
            <a:ext cx="16550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2029968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 * / // % **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+ 2 → 7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26060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371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02 · RELATIONAL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1" name="code box"/>
          <p:cNvSpPr/>
          <p:nvPr/>
        </p:nvSpPr>
        <p:spPr>
          <a:xfrm>
            <a:off x="2715768" y="2029968"/>
            <a:ext cx="16550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15768" y="2029968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!= &gt; &lt; &gt;= &lt;=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 → True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6634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371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03 · BOOLEAN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</a:t>
            </a:r>
            <a:endParaRPr lang="en-US" sz="1600" dirty="0"/>
          </a:p>
        </p:txBody>
      </p:sp>
      <p:sp>
        <p:nvSpPr>
          <p:cNvPr id="16" name="code box"/>
          <p:cNvSpPr/>
          <p:nvPr/>
        </p:nvSpPr>
        <p:spPr>
          <a:xfrm>
            <a:off x="4773168" y="2029968"/>
            <a:ext cx="16550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2029968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 or  not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and b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720840" y="1280160"/>
            <a:ext cx="187452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3716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04 · STATE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Assignment</a:t>
            </a:r>
            <a:endParaRPr lang="en-US" sz="1600" dirty="0"/>
          </a:p>
        </p:txBody>
      </p:sp>
      <p:sp>
        <p:nvSpPr>
          <p:cNvPr id="21" name="code box"/>
          <p:cNvSpPr/>
          <p:nvPr/>
        </p:nvSpPr>
        <p:spPr>
          <a:xfrm>
            <a:off x="6830568" y="2029968"/>
            <a:ext cx="16550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0568" y="2029968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+= -= *= /= %=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+= 10</a:t>
            </a:r>
            <a:endParaRPr lang="en-US" sz="1200" dirty="0"/>
          </a:p>
        </p:txBody>
      </p:sp>
      <p:sp>
        <p:nvSpPr>
          <p:cNvPr id="23" name="card"/>
          <p:cNvSpPr/>
          <p:nvPr/>
        </p:nvSpPr>
        <p:spPr>
          <a:xfrm>
            <a:off x="5486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05 · BINARY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319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</a:t>
            </a:r>
            <a:endParaRPr lang="en-US" sz="1600" dirty="0"/>
          </a:p>
        </p:txBody>
      </p:sp>
      <p:sp>
        <p:nvSpPr>
          <p:cNvPr id="26" name="code box"/>
          <p:cNvSpPr/>
          <p:nvPr/>
        </p:nvSpPr>
        <p:spPr>
          <a:xfrm>
            <a:off x="658368" y="3721608"/>
            <a:ext cx="23408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372160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| ^ ~ &lt;&lt; &gt;&gt;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&amp; 3 → 1</a:t>
            </a:r>
            <a:endParaRPr lang="en-US" sz="1200" dirty="0"/>
          </a:p>
        </p:txBody>
      </p:sp>
      <p:sp>
        <p:nvSpPr>
          <p:cNvPr id="28" name="card"/>
          <p:cNvSpPr/>
          <p:nvPr/>
        </p:nvSpPr>
        <p:spPr>
          <a:xfrm>
            <a:off x="32918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06 · CONTAINER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3429000" y="3319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Membership</a:t>
            </a:r>
            <a:endParaRPr lang="en-US" sz="1600" dirty="0"/>
          </a:p>
        </p:txBody>
      </p:sp>
      <p:sp>
        <p:nvSpPr>
          <p:cNvPr id="31" name="code box"/>
          <p:cNvSpPr/>
          <p:nvPr/>
        </p:nvSpPr>
        <p:spPr>
          <a:xfrm>
            <a:off x="3401568" y="3721608"/>
            <a:ext cx="23408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01568" y="372160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/ not in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"py" in "python"</a:t>
            </a:r>
            <a:endParaRPr lang="en-US" sz="1200" dirty="0"/>
          </a:p>
        </p:txBody>
      </p:sp>
      <p:sp>
        <p:nvSpPr>
          <p:cNvPr id="33" name="card"/>
          <p:cNvSpPr/>
          <p:nvPr/>
        </p:nvSpPr>
        <p:spPr>
          <a:xfrm>
            <a:off x="6035040" y="297180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722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07 · MEMORY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3319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600" dirty="0"/>
          </a:p>
        </p:txBody>
      </p:sp>
      <p:sp>
        <p:nvSpPr>
          <p:cNvPr id="36" name="code box"/>
          <p:cNvSpPr/>
          <p:nvPr/>
        </p:nvSpPr>
        <p:spPr>
          <a:xfrm>
            <a:off x="6144768" y="3721608"/>
            <a:ext cx="2340864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44768" y="3721608"/>
            <a:ext cx="2340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/ is not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is None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precedence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Highest to lowest. Python works through them in this order.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8046720" cy="420624"/>
          </a:xfrm>
          <a:prstGeom prst="roundRect">
            <a:avLst>
              <a:gd name="adj" fmla="val 2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ber badge"/>
          <p:cNvSpPr/>
          <p:nvPr/>
        </p:nvSpPr>
        <p:spPr>
          <a:xfrm>
            <a:off x="685800" y="1618488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18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55448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Parentheses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5544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029968"/>
            <a:ext cx="8046720" cy="420624"/>
          </a:xfrm>
          <a:prstGeom prst="roundRect">
            <a:avLst>
              <a:gd name="adj" fmla="val 2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ber badge"/>
          <p:cNvSpPr/>
          <p:nvPr/>
        </p:nvSpPr>
        <p:spPr>
          <a:xfrm>
            <a:off x="685800" y="2093976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029968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Exponentiation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20299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2505456"/>
            <a:ext cx="8046720" cy="420624"/>
          </a:xfrm>
          <a:prstGeom prst="roundRect">
            <a:avLst>
              <a:gd name="adj" fmla="val 2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ber badge"/>
          <p:cNvSpPr/>
          <p:nvPr/>
        </p:nvSpPr>
        <p:spPr>
          <a:xfrm>
            <a:off x="685800" y="2569464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569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2505456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Multiplication, division, modulo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25054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/ // %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2980944"/>
            <a:ext cx="8046720" cy="420624"/>
          </a:xfrm>
          <a:prstGeom prst="roundRect">
            <a:avLst>
              <a:gd name="adj" fmla="val 2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ber badge"/>
          <p:cNvSpPr/>
          <p:nvPr/>
        </p:nvSpPr>
        <p:spPr>
          <a:xfrm>
            <a:off x="685800" y="3044952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044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980944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Addition and subtraction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98094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-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3456432"/>
            <a:ext cx="8046720" cy="420624"/>
          </a:xfrm>
          <a:prstGeom prst="roundRect">
            <a:avLst>
              <a:gd name="adj" fmla="val 2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ber badge"/>
          <p:cNvSpPr/>
          <p:nvPr/>
        </p:nvSpPr>
        <p:spPr>
          <a:xfrm>
            <a:off x="685800" y="3520440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3456432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Comparison, membership, identity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3456432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 != &lt; &gt; in is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548640" y="3931920"/>
            <a:ext cx="8046720" cy="420624"/>
          </a:xfrm>
          <a:prstGeom prst="roundRect">
            <a:avLst>
              <a:gd name="adj" fmla="val 2608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ber badge"/>
          <p:cNvSpPr/>
          <p:nvPr/>
        </p:nvSpPr>
        <p:spPr>
          <a:xfrm>
            <a:off x="685800" y="3995928"/>
            <a:ext cx="292608" cy="29260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393192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Logical: not, then and, then 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393192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 and  or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4622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Bitwise operators sit between + - and comparisons. When in doubt, use ().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Precedence in action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Same operators, different order. Parentheses let you take control.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+ 3 * 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14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29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* runs before +, so 2 + 12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55448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+ 3) * 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16459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20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202996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Parentheses go first, so 5 * 4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251460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 3 **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18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9900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** runs before *, so 2 * 9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663440" y="251460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10 - 4 - 3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99008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Same level runs left to right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34747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+ 2 &gt; 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29184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True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3950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Math before comparison: 7 &gt; 6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663440" y="3474720"/>
            <a:ext cx="393192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or False and False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06640" y="35661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True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92040" y="395020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and runs before 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statements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>They let our program decide what to do based on conditions.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4206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eyword chip"/>
          <p:cNvSpPr/>
          <p:nvPr/>
        </p:nvSpPr>
        <p:spPr>
          <a:xfrm>
            <a:off x="731520" y="1792224"/>
            <a:ext cx="7315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9222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60020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Tests a condition. If it is true, its block runs.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560320"/>
            <a:ext cx="4206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eyword chip"/>
          <p:cNvSpPr/>
          <p:nvPr/>
        </p:nvSpPr>
        <p:spPr>
          <a:xfrm>
            <a:off x="731520" y="2752344"/>
            <a:ext cx="7315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5234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256032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Used when there are multiple conditions to check.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520440"/>
            <a:ext cx="4206240" cy="841248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eyword chip"/>
          <p:cNvSpPr/>
          <p:nvPr/>
        </p:nvSpPr>
        <p:spPr>
          <a:xfrm>
            <a:off x="731520" y="3712464"/>
            <a:ext cx="7315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712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52044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if all the conditions above are false.</a:t>
            </a:r>
            <a:endParaRPr lang="en-US" sz="1400" dirty="0"/>
          </a:p>
        </p:txBody>
      </p:sp>
      <p:sp>
        <p:nvSpPr>
          <p:cNvPr id="16" name="code card"/>
          <p:cNvSpPr/>
          <p:nvPr/>
        </p:nvSpPr>
        <p:spPr>
          <a:xfrm>
            <a:off x="5029200" y="160020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57800" y="169164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85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score &gt;= 90: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"A"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 score &gt;= 80: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"B"  # runs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grade = "C"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Example: Voting system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Input, a condition and an output working together.</a:t>
            </a:r>
          </a:p>
        </p:txBody>
      </p:sp>
      <p:sp>
        <p:nvSpPr>
          <p:cNvPr id="4" name="code card"/>
          <p:cNvSpPr/>
          <p:nvPr/>
        </p:nvSpPr>
        <p:spPr>
          <a:xfrm>
            <a:off x="548640" y="1600200"/>
            <a:ext cx="4023360" cy="173736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de text"/>
          <p:cNvSpPr txBox="1"/>
          <p:nvPr/>
        </p:nvSpPr>
        <p:spPr>
          <a:xfrm>
            <a:off x="777240" y="169164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age = int(input("Age: "))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 age &gt;= 18: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print("Can vote")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else: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print("Can't vote")</a:t>
            </a:r>
          </a:p>
        </p:txBody>
      </p:sp>
      <p:sp>
        <p:nvSpPr>
          <p:cNvPr id="6" name="card"/>
          <p:cNvSpPr/>
          <p:nvPr/>
        </p:nvSpPr>
        <p:spPr>
          <a:xfrm>
            <a:off x="4754880" y="1600200"/>
            <a:ext cx="3840480" cy="77724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eyword chip"/>
          <p:cNvSpPr/>
          <p:nvPr/>
        </p:nvSpPr>
        <p:spPr>
          <a:xfrm>
            <a:off x="4937760" y="1760220"/>
            <a:ext cx="7315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chip text"/>
          <p:cNvSpPr txBox="1"/>
          <p:nvPr/>
        </p:nvSpPr>
        <p:spPr>
          <a:xfrm>
            <a:off x="4937760" y="17602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20</a:t>
            </a:r>
          </a:p>
        </p:txBody>
      </p:sp>
      <p:sp>
        <p:nvSpPr>
          <p:cNvPr id="9" name="card text"/>
          <p:cNvSpPr txBox="1"/>
          <p:nvPr/>
        </p:nvSpPr>
        <p:spPr>
          <a:xfrm>
            <a:off x="585216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20 &gt;= 18 is True, so it prints "Can vote".</a:t>
            </a:r>
          </a:p>
        </p:txBody>
      </p:sp>
      <p:sp>
        <p:nvSpPr>
          <p:cNvPr id="10" name="card"/>
          <p:cNvSpPr/>
          <p:nvPr/>
        </p:nvSpPr>
        <p:spPr>
          <a:xfrm>
            <a:off x="4754880" y="2560320"/>
            <a:ext cx="3840480" cy="77724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eyword chip"/>
          <p:cNvSpPr/>
          <p:nvPr/>
        </p:nvSpPr>
        <p:spPr>
          <a:xfrm>
            <a:off x="4937760" y="2720340"/>
            <a:ext cx="73152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hip text"/>
          <p:cNvSpPr txBox="1"/>
          <p:nvPr/>
        </p:nvSpPr>
        <p:spPr>
          <a:xfrm>
            <a:off x="4937760" y="27203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15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5852160" y="25603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15 &gt;= 18 is False, so else runs: "Can't vote".</a:t>
            </a:r>
          </a:p>
        </p:txBody>
      </p:sp>
      <p:sp>
        <p:nvSpPr>
          <p:cNvPr id="14" name="remember bar"/>
          <p:cNvSpPr/>
          <p:nvPr/>
        </p:nvSpPr>
        <p:spPr>
          <a:xfrm>
            <a:off x="548640" y="361188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remember text"/>
          <p:cNvSpPr txBox="1"/>
          <p:nvPr/>
        </p:nvSpPr>
        <p:spPr>
          <a:xfrm>
            <a:off x="777240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Remember: </a:t>
            </a:r>
            <a:r>
              <a:rPr lang="en-US" sz="1400" dirty="0">
                <a:solidFill>
                  <a:schemeClr val="tx1"/>
                </a:solidFill>
              </a:rPr>
              <a:t xml:space="preserve">input() gives a string, so cast it with int() before comparing.</a:t>
            </a:r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Example: Traffic light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One input, several branches. Only one block runs.</a:t>
            </a:r>
          </a:p>
        </p:txBody>
      </p:sp>
      <p:sp>
        <p:nvSpPr>
          <p:cNvPr id="4" name="light housing"/>
          <p:cNvSpPr/>
          <p:nvPr/>
        </p:nvSpPr>
        <p:spPr>
          <a:xfrm>
            <a:off x="548640" y="1600200"/>
            <a:ext cx="1371600" cy="274320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</p:sp>
      <p:sp>
        <p:nvSpPr>
          <p:cNvPr id="5" name="lamp"/>
          <p:cNvSpPr/>
          <p:nvPr/>
        </p:nvSpPr>
        <p:spPr>
          <a:xfrm>
            <a:off x="868680" y="184708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D64533"/>
          </a:solidFill>
          <a:ln w="12700">
            <a:solidFill>
              <a:srgbClr val="D64533"/>
            </a:solidFill>
            <a:prstDash val="solid"/>
          </a:ln>
        </p:spPr>
      </p:sp>
      <p:sp>
        <p:nvSpPr>
          <p:cNvPr id="6" name="lamp"/>
          <p:cNvSpPr/>
          <p:nvPr/>
        </p:nvSpPr>
        <p:spPr>
          <a:xfrm>
            <a:off x="868680" y="271576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2B01E"/>
          </a:solidFill>
          <a:ln w="12700">
            <a:solidFill>
              <a:srgbClr val="F2B01E"/>
            </a:solidFill>
            <a:prstDash val="solid"/>
          </a:ln>
        </p:spPr>
      </p:sp>
      <p:sp>
        <p:nvSpPr>
          <p:cNvPr id="7" name="lamp"/>
          <p:cNvSpPr/>
          <p:nvPr/>
        </p:nvSpPr>
        <p:spPr>
          <a:xfrm>
            <a:off x="868680" y="3584448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3BA55D"/>
          </a:solidFill>
          <a:ln w="12700">
            <a:solidFill>
              <a:srgbClr val="3BA55D"/>
            </a:solidFill>
            <a:prstDash val="solid"/>
          </a:ln>
        </p:spPr>
      </p:sp>
      <p:sp>
        <p:nvSpPr>
          <p:cNvPr id="8" name="card"/>
          <p:cNvSpPr/>
          <p:nvPr/>
        </p:nvSpPr>
        <p:spPr>
          <a:xfrm>
            <a:off x="2103120" y="1600200"/>
            <a:ext cx="274320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 text"/>
          <p:cNvSpPr txBox="1"/>
          <p:nvPr/>
        </p:nvSpPr>
        <p:spPr>
          <a:xfrm>
            <a:off x="2286000" y="16002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red</a:t>
            </a:r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prints Stop</a:t>
            </a:r>
          </a:p>
        </p:txBody>
      </p:sp>
      <p:sp>
        <p:nvSpPr>
          <p:cNvPr id="10" name="card"/>
          <p:cNvSpPr/>
          <p:nvPr/>
        </p:nvSpPr>
        <p:spPr>
          <a:xfrm>
            <a:off x="2103120" y="2560320"/>
            <a:ext cx="274320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ard text"/>
          <p:cNvSpPr txBox="1"/>
          <p:nvPr/>
        </p:nvSpPr>
        <p:spPr>
          <a:xfrm>
            <a:off x="2286000" y="2560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yellow</a:t>
            </a:r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prints Get ready</a:t>
            </a:r>
          </a:p>
        </p:txBody>
      </p:sp>
      <p:sp>
        <p:nvSpPr>
          <p:cNvPr id="12" name="card"/>
          <p:cNvSpPr/>
          <p:nvPr/>
        </p:nvSpPr>
        <p:spPr>
          <a:xfrm>
            <a:off x="2103120" y="3520440"/>
            <a:ext cx="274320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text"/>
          <p:cNvSpPr txBox="1"/>
          <p:nvPr/>
        </p:nvSpPr>
        <p:spPr>
          <a:xfrm>
            <a:off x="2286000" y="35204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green</a:t>
            </a:r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prints Go</a:t>
            </a:r>
          </a:p>
        </p:txBody>
      </p:sp>
      <p:sp>
        <p:nvSpPr>
          <p:cNvPr id="14" name="code card"/>
          <p:cNvSpPr/>
          <p:nvPr/>
        </p:nvSpPr>
        <p:spPr>
          <a:xfrm>
            <a:off x="5029200" y="1600200"/>
            <a:ext cx="3566160" cy="27432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code text"/>
          <p:cNvSpPr txBox="1"/>
          <p:nvPr/>
        </p:nvSpPr>
        <p:spPr>
          <a:xfrm>
            <a:off x="5257800" y="169164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light = input("Colour: 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 light == "red":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print("Stop")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elif light == "yellow":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print("Get ready")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elif light == "green":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print("Go")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else: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print("Invalid colour")</a:t>
            </a:r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Nested conditionals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An if inside another if. The inner one runs only when the outer is true.</a:t>
            </a:r>
          </a:p>
        </p:txBody>
      </p:sp>
      <p:sp>
        <p:nvSpPr>
          <p:cNvPr id="4" name="code card"/>
          <p:cNvSpPr/>
          <p:nvPr/>
        </p:nvSpPr>
        <p:spPr>
          <a:xfrm>
            <a:off x="548640" y="1600200"/>
            <a:ext cx="4023360" cy="2743200"/>
          </a:xfrm>
          <a:prstGeom prst="roundRect">
            <a:avLst>
              <a:gd name="adj" fmla="val 4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code text"/>
          <p:cNvSpPr txBox="1"/>
          <p:nvPr/>
        </p:nvSpPr>
        <p:spPr>
          <a:xfrm>
            <a:off x="777240" y="16916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age = 20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has_id = True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if age &gt;= 18: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has_id: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print("Welcome")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else: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print("Need ID")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else: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print("Too young")</a:t>
            </a:r>
          </a:p>
        </p:txBody>
      </p:sp>
      <p:sp>
        <p:nvSpPr>
          <p:cNvPr id="6" name="card"/>
          <p:cNvSpPr/>
          <p:nvPr/>
        </p:nvSpPr>
        <p:spPr>
          <a:xfrm>
            <a:off x="4754880" y="1600200"/>
            <a:ext cx="384048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number chip"/>
          <p:cNvSpPr/>
          <p:nvPr/>
        </p:nvSpPr>
        <p:spPr>
          <a:xfrm>
            <a:off x="4937760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number text"/>
          <p:cNvSpPr txBox="1"/>
          <p:nvPr/>
        </p:nvSpPr>
        <p:spPr>
          <a:xfrm>
            <a:off x="4937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 xml:space="preserve">1</a:t>
            </a:r>
          </a:p>
        </p:txBody>
      </p:sp>
      <p:sp>
        <p:nvSpPr>
          <p:cNvPr id="9" name="card text"/>
          <p:cNvSpPr txBox="1"/>
          <p:nvPr/>
        </p:nvSpPr>
        <p:spPr>
          <a:xfrm>
            <a:off x="5577840" y="160020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 xml:space="preserve">Outer if</a:t>
            </a:r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 xml:space="preserve">Runs first. Checks the age.</a:t>
            </a:r>
          </a:p>
        </p:txBody>
      </p:sp>
      <p:sp>
        <p:nvSpPr>
          <p:cNvPr id="10" name="card"/>
          <p:cNvSpPr/>
          <p:nvPr/>
        </p:nvSpPr>
        <p:spPr>
          <a:xfrm>
            <a:off x="4754880" y="2560320"/>
            <a:ext cx="384048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ber chip"/>
          <p:cNvSpPr/>
          <p:nvPr/>
        </p:nvSpPr>
        <p:spPr>
          <a:xfrm>
            <a:off x="493776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number text"/>
          <p:cNvSpPr txBox="1"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 xml:space="preserve">2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5577840" y="25603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 xml:space="preserve">Inner if</a:t>
            </a:r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 xml:space="preserve">Checked only when the outer if is true.</a:t>
            </a:r>
          </a:p>
        </p:txBody>
      </p:sp>
      <p:sp>
        <p:nvSpPr>
          <p:cNvPr id="14" name="card"/>
          <p:cNvSpPr/>
          <p:nvPr/>
        </p:nvSpPr>
        <p:spPr>
          <a:xfrm>
            <a:off x="4754880" y="3520440"/>
            <a:ext cx="384048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ber chip"/>
          <p:cNvSpPr/>
          <p:nvPr/>
        </p:nvSpPr>
        <p:spPr>
          <a:xfrm>
            <a:off x="4937760" y="3703320"/>
            <a:ext cx="4572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number text"/>
          <p:cNvSpPr txBox="1"/>
          <p:nvPr/>
        </p:nvSpPr>
        <p:spPr>
          <a:xfrm>
            <a:off x="49377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 xml:space="preserve">3</a:t>
            </a:r>
          </a:p>
        </p:txBody>
      </p:sp>
      <p:sp>
        <p:nvSpPr>
          <p:cNvPr id="17" name="card text"/>
          <p:cNvSpPr txBox="1"/>
          <p:nvPr/>
        </p:nvSpPr>
        <p:spPr>
          <a:xfrm>
            <a:off x="5577840" y="35204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 xml:space="preserve">Indentation</a:t>
            </a:r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 xml:space="preserve">Each level moves 4 spaces to the right.</a:t>
            </a:r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Question 1: Guess the number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Practice time. Try it yourself.</a:t>
            </a:r>
          </a:p>
        </p:txBody>
      </p:sp>
      <p:sp>
        <p:nvSpPr>
          <p:cNvPr id="4" name="task card"/>
          <p:cNvSpPr/>
          <p:nvPr/>
        </p:nvSpPr>
        <p:spPr>
          <a:xfrm>
            <a:off x="548640" y="1600200"/>
            <a:ext cx="8046720" cy="17373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sk text"/>
          <p:cNvSpPr txBox="1"/>
          <p:nvPr/>
        </p:nvSpPr>
        <p:spPr>
          <a:xfrm>
            <a:off x="82296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 xml:space="preserve">TASK</a:t>
            </a:r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 xml:space="preserve">Write a program that generates a random number between 1 and 10. Ask the user to guess it. Print "Correct guess!" if the guess matches; otherwise, print "Wrong guess!".</a:t>
            </a:r>
          </a:p>
        </p:txBody>
      </p:sp>
      <p:sp>
        <p:nvSpPr>
          <p:cNvPr id="6" name="remember bar"/>
          <p:cNvSpPr/>
          <p:nvPr/>
        </p:nvSpPr>
        <p:spPr>
          <a:xfrm>
            <a:off x="548640" y="356616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emember text"/>
          <p:cNvSpPr txBox="1"/>
          <p:nvPr/>
        </p:nvSpPr>
        <p:spPr>
          <a:xfrm>
            <a:off x="777240" y="3566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Sample run: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Guess: 7  →  Wrong guess!</a:t>
            </a:r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Question 2: Number sign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Practice time. Try it yourself.</a:t>
            </a:r>
          </a:p>
        </p:txBody>
      </p:sp>
      <p:sp>
        <p:nvSpPr>
          <p:cNvPr id="4" name="task card"/>
          <p:cNvSpPr/>
          <p:nvPr/>
        </p:nvSpPr>
        <p:spPr>
          <a:xfrm>
            <a:off x="548640" y="1600200"/>
            <a:ext cx="8046720" cy="17373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sk text"/>
          <p:cNvSpPr txBox="1"/>
          <p:nvPr/>
        </p:nvSpPr>
        <p:spPr>
          <a:xfrm>
            <a:off x="82296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chemeClr val="tx2"/>
                </a:solidFill>
              </a:rPr>
              <a:t xml:space="preserve">TASK</a:t>
            </a:r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 xml:space="preserve">Generate a random integer between -10 and 10. Print whether the number is positive, negative, or zero.</a:t>
            </a:r>
          </a:p>
        </p:txBody>
      </p:sp>
      <p:sp>
        <p:nvSpPr>
          <p:cNvPr id="6" name="remember bar"/>
          <p:cNvSpPr/>
          <p:nvPr/>
        </p:nvSpPr>
        <p:spPr>
          <a:xfrm>
            <a:off x="548640" y="356616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remember text"/>
          <p:cNvSpPr txBox="1"/>
          <p:nvPr/>
        </p:nvSpPr>
        <p:spPr>
          <a:xfrm>
            <a:off x="777240" y="35661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Sample run: </a:t>
            </a: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-4  →  Negative</a:t>
            </a:r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Challenge: Random number range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Generate a random integer between 1 and 100. Print: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804672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eyword chip"/>
          <p:cNvSpPr/>
          <p:nvPr/>
        </p:nvSpPr>
        <p:spPr>
          <a:xfrm>
            <a:off x="731520" y="1783080"/>
            <a:ext cx="100584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hip text"/>
          <p:cNvSpPr txBox="1"/>
          <p:nvPr/>
        </p:nvSpPr>
        <p:spPr>
          <a:xfrm>
            <a:off x="731520" y="1783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Small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1920240" y="16002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if it is less than 30</a:t>
            </a:r>
          </a:p>
        </p:txBody>
      </p:sp>
      <p:sp>
        <p:nvSpPr>
          <p:cNvPr id="8" name="card"/>
          <p:cNvSpPr/>
          <p:nvPr/>
        </p:nvSpPr>
        <p:spPr>
          <a:xfrm>
            <a:off x="548640" y="2560320"/>
            <a:ext cx="804672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eyword chip"/>
          <p:cNvSpPr/>
          <p:nvPr/>
        </p:nvSpPr>
        <p:spPr>
          <a:xfrm>
            <a:off x="731520" y="2743200"/>
            <a:ext cx="100584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hip text"/>
          <p:cNvSpPr txBox="1"/>
          <p:nvPr/>
        </p:nvSpPr>
        <p:spPr>
          <a:xfrm>
            <a:off x="731520" y="27432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Medium</a:t>
            </a:r>
          </a:p>
        </p:txBody>
      </p:sp>
      <p:sp>
        <p:nvSpPr>
          <p:cNvPr id="11" name="card text"/>
          <p:cNvSpPr txBox="1"/>
          <p:nvPr/>
        </p:nvSpPr>
        <p:spPr>
          <a:xfrm>
            <a:off x="1920240" y="25603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if it is between 30 and 70, inclusive</a:t>
            </a:r>
          </a:p>
        </p:txBody>
      </p:sp>
      <p:sp>
        <p:nvSpPr>
          <p:cNvPr id="12" name="card"/>
          <p:cNvSpPr/>
          <p:nvPr/>
        </p:nvSpPr>
        <p:spPr>
          <a:xfrm>
            <a:off x="548640" y="3520440"/>
            <a:ext cx="8046720" cy="82296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eyword chip"/>
          <p:cNvSpPr/>
          <p:nvPr/>
        </p:nvSpPr>
        <p:spPr>
          <a:xfrm>
            <a:off x="731520" y="3703320"/>
            <a:ext cx="1005840" cy="45720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chip text"/>
          <p:cNvSpPr txBox="1"/>
          <p:nvPr/>
        </p:nvSpPr>
        <p:spPr>
          <a:xfrm>
            <a:off x="731520" y="3703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Large</a:t>
            </a:r>
          </a:p>
        </p:txBody>
      </p:sp>
      <p:sp>
        <p:nvSpPr>
          <p:cNvPr id="15" name="card text"/>
          <p:cNvSpPr txBox="1"/>
          <p:nvPr/>
        </p:nvSpPr>
        <p:spPr>
          <a:xfrm>
            <a:off x="1920240" y="35204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 xml:space="preserve">if it is greater than 70</a:t>
            </a:r>
          </a:p>
        </p:txBody>
      </p:sp>
      <p:sp>
        <p:nvSpPr>
          <p:cNvPr id="1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 xml:space="preserve">Input and output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1143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2"/>
                </a:solidFill>
              </a:rPr>
              <a:t xml:space="preserve">Talking to the user: ask with input(), reply with print().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3931920" cy="192024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eyword chip"/>
          <p:cNvSpPr/>
          <p:nvPr/>
        </p:nvSpPr>
        <p:spPr>
          <a:xfrm>
            <a:off x="731520" y="1783080"/>
            <a:ext cx="1188720" cy="41148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chip text"/>
          <p:cNvSpPr txBox="1"/>
          <p:nvPr/>
        </p:nvSpPr>
        <p:spPr>
          <a:xfrm>
            <a:off x="7315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input()</a:t>
            </a:r>
          </a:p>
        </p:txBody>
      </p:sp>
      <p:sp>
        <p:nvSpPr>
          <p:cNvPr id="7" name="card text"/>
          <p:cNvSpPr txBox="1"/>
          <p:nvPr/>
        </p:nvSpPr>
        <p:spPr>
          <a:xfrm>
            <a:off x="73152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To take input we use the input() function. By default, whatever the user types is considered a string.</a:t>
            </a:r>
          </a:p>
        </p:txBody>
      </p:sp>
      <p:sp>
        <p:nvSpPr>
          <p:cNvPr id="8" name="code mini"/>
          <p:cNvSpPr/>
          <p:nvPr/>
        </p:nvSpPr>
        <p:spPr>
          <a:xfrm>
            <a:off x="731520" y="3017520"/>
            <a:ext cx="356616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code mini text"/>
          <p:cNvSpPr txBox="1"/>
          <p:nvPr/>
        </p:nvSpPr>
        <p:spPr>
          <a:xfrm>
            <a:off x="8686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name = input("Name: ")</a:t>
            </a:r>
          </a:p>
        </p:txBody>
      </p:sp>
      <p:sp>
        <p:nvSpPr>
          <p:cNvPr id="10" name="card"/>
          <p:cNvSpPr/>
          <p:nvPr/>
        </p:nvSpPr>
        <p:spPr>
          <a:xfrm>
            <a:off x="4663440" y="1600200"/>
            <a:ext cx="3931920" cy="1920240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eyword chip"/>
          <p:cNvSpPr/>
          <p:nvPr/>
        </p:nvSpPr>
        <p:spPr>
          <a:xfrm>
            <a:off x="4846320" y="1783080"/>
            <a:ext cx="1188720" cy="411480"/>
          </a:xfrm>
          <a:prstGeom prst="roundRect">
            <a:avLst>
              <a:gd name="adj" fmla="val 24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chip text"/>
          <p:cNvSpPr txBox="1"/>
          <p:nvPr/>
        </p:nvSpPr>
        <p:spPr>
          <a:xfrm>
            <a:off x="4846320" y="1783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print()</a:t>
            </a:r>
          </a:p>
        </p:txBody>
      </p:sp>
      <p:sp>
        <p:nvSpPr>
          <p:cNvPr id="13" name="card text"/>
          <p:cNvSpPr txBox="1"/>
          <p:nvPr/>
        </p:nvSpPr>
        <p:spPr>
          <a:xfrm>
            <a:off x="484632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 xml:space="preserve">For printing output, we use the print() function.</a:t>
            </a:r>
          </a:p>
        </p:txBody>
      </p:sp>
      <p:sp>
        <p:nvSpPr>
          <p:cNvPr id="14" name="code mini"/>
          <p:cNvSpPr/>
          <p:nvPr/>
        </p:nvSpPr>
        <p:spPr>
          <a:xfrm>
            <a:off x="4846320" y="3017520"/>
            <a:ext cx="3566160" cy="365760"/>
          </a:xfrm>
          <a:prstGeom prst="roundRect">
            <a:avLst>
              <a:gd name="adj" fmla="val 1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5" name="code mini text"/>
          <p:cNvSpPr txBox="1"/>
          <p:nvPr/>
        </p:nvSpPr>
        <p:spPr>
          <a:xfrm>
            <a:off x="498348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print("Hello", name)</a:t>
            </a:r>
          </a:p>
        </p:txBody>
      </p:sp>
      <p:sp>
        <p:nvSpPr>
          <p:cNvPr id="16" name="remember bar"/>
          <p:cNvSpPr/>
          <p:nvPr/>
        </p:nvSpPr>
        <p:spPr>
          <a:xfrm>
            <a:off x="548640" y="3703320"/>
            <a:ext cx="8046720" cy="5486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remember text"/>
          <p:cNvSpPr txBox="1"/>
          <p:nvPr/>
        </p:nvSpPr>
        <p:spPr>
          <a:xfrm>
            <a:off x="777240" y="37033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 xml:space="preserve">Remember: </a:t>
            </a:r>
            <a:r>
              <a:rPr lang="en-US" sz="1400" dirty="0">
                <a:solidFill>
                  <a:schemeClr val="tx1"/>
                </a:solidFill>
              </a:rPr>
              <a:t xml:space="preserve">input() always gives a string. Use int() or float() to get a number.</a:t>
            </a:r>
          </a:p>
        </p:txBody>
      </p:sp>
      <p:sp>
        <p:nvSpPr>
          <p:cNvPr id="1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622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Cream">
  <a:themeElements>
    <a:clrScheme name="Orange Cream">
      <a:dk1>
        <a:srgbClr val="4A2C17"/>
      </a:dk1>
      <a:lt1>
        <a:srgbClr val="FFF8EC"/>
      </a:lt1>
      <a:dk2>
        <a:srgbClr val="C9622B"/>
      </a:dk2>
      <a:lt2>
        <a:srgbClr val="FFE9CC"/>
      </a:lt2>
      <a:accent1>
        <a:srgbClr val="F9B27C"/>
      </a:accent1>
      <a:accent2>
        <a:srgbClr val="FDC99A"/>
      </a:accent2>
      <a:accent3>
        <a:srgbClr val="F7A869"/>
      </a:accent3>
      <a:accent4>
        <a:srgbClr val="FFD9B3"/>
      </a:accent4>
      <a:accent5>
        <a:srgbClr val="F9B27C"/>
      </a:accent5>
      <a:accent6>
        <a:srgbClr val="FFEBD2"/>
      </a:accent6>
      <a:hlink>
        <a:srgbClr val="C9622B"/>
      </a:hlink>
      <a:folHlink>
        <a:srgbClr val="4A2C17"/>
      </a:folHlink>
    </a:clrScheme>
    <a:fontScheme name="Orange Crea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101 - AI Club Bootcamp</dc:title>
  <dc:subject>PptxGenJS Presentation</dc:subject>
  <dc:creator>PptxGenJS</dc:creator>
  <cp:lastModifiedBy>PptxGenJS</cp:lastModifiedBy>
  <cp:revision>1</cp:revision>
  <dcterms:created xsi:type="dcterms:W3CDTF">2026-10-12T07:06:50Z</dcterms:created>
  <dcterms:modified xsi:type="dcterms:W3CDTF">2026-10-12T07:06:50Z</dcterms:modified>
</cp:coreProperties>
</file>