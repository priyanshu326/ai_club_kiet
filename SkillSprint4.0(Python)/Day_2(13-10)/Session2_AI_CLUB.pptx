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DM Sans Bold" charset="1" panose="00000000000000000000"/>
      <p:regular r:id="rId33"/>
    </p:embeddedFont>
    <p:embeddedFont>
      <p:font typeface="TT Moons Bold" charset="1" panose="02000803090000020004"/>
      <p:regular r:id="rId34"/>
    </p:embeddedFont>
    <p:embeddedFont>
      <p:font typeface="Aptos Bold" charset="1" panose="020B0004020202020204"/>
      <p:regular r:id="rId38"/>
    </p:embeddedFont>
    <p:embeddedFont>
      <p:font typeface="Georgia Bold" charset="1" panose="02040802050405020203"/>
      <p:regular r:id="rId39"/>
    </p:embeddedFont>
    <p:embeddedFont>
      <p:font typeface="Aptos" charset="1" panose="020B0004020202020204"/>
      <p:regular r:id="rId40"/>
    </p:embeddedFont>
    <p:embeddedFont>
      <p:font typeface="Consolas" charset="1" panose="020B0609020204030204"/>
      <p:regular r:id="rId42"/>
    </p:embeddedFont>
    <p:embeddedFont>
      <p:font typeface="Consolas Bold" charset="1" panose="020B070902020403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9.xml" Type="http://schemas.openxmlformats.org/officeDocument/2006/relationships/notesSlide"/><Relationship Id="rId61" Target="notesSlides/notesSlide20.xml" Type="http://schemas.openxmlformats.org/officeDocument/2006/relationships/notesSlide"/><Relationship Id="rId62" Target="notesSlides/notesSlide21.xml" Type="http://schemas.openxmlformats.org/officeDocument/2006/relationships/notesSlide"/><Relationship Id="rId63" Target="notesSlides/notesSlide22.xml" Type="http://schemas.openxmlformats.org/officeDocument/2006/relationships/notesSlide"/><Relationship Id="rId64" Target="notesSlides/notesSlide23.xml" Type="http://schemas.openxmlformats.org/officeDocument/2006/relationships/notesSlide"/><Relationship Id="rId65" Target="notesSlides/notesSlide24.xml" Type="http://schemas.openxmlformats.org/officeDocument/2006/relationships/notesSlide"/><Relationship Id="rId66" Target="notesSlides/notesSlide25.xml" Type="http://schemas.openxmlformats.org/officeDocument/2006/relationships/notesSlide"/><Relationship Id="rId67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the roadmap to set expectations. The source PDF covers Unit 2 as Lists, Dictionaries and Sets, with tuples, sequences, nested lists, iteration and strings as subtopics. fileciteturn0file0L4-L7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defines lists as linear structures, identifies elements by index, and explains zero-based indexing. fileciteturn0file0L8-L15 Instructor note: mention negative indexing as a useful extension, but do not introduce it until students are comfortable with positive indexes.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Python lists use zero-based indexing, square brackets, can be empty, and may contain mixed-type elements. fileciteturn0file0L27-L39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retrieve, update/replace, delete, insert and append are introduced on pages 2–3, along with extend(). fileciteturn0file0L40-L69 The source has a typo in one append output; use the correct result [1, 2, 3, 4] when demonstrating it. fileciteturn0file0L73-L75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sort(), reverse(), len(), min() and max() are listed with examples in the PDF. fileciteturn0file0L76-L103 Added instructor note: sorted() is useful when you want to keep the original list unchanged.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demonstrates indexing, slicing and a mixed-type list. fileciteturn0file0L107-L140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tuples are immutable, use parentheses, and do not support delete/update/insert/append. The PDF also shows indexing, negative indexing and slicing. fileciteturn0file0L141-L161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tuple indexing, negative indexing, slicing, concatenation, len(), min() and max() are shown in the PDF. fileciteturn0file0L151-L183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defines sequences and lists lists, tuples and strings as sequences; it highlights len(), indexing, slicing, count and concatenation. fileciteturn0file0L205-L216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explains that lists/tuples can contain other sequences and demonstrates class_grades[0][0] → 85. fileciteturn0file0L217-L226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for loops iterate once per element in a sequence; while loops can be used when traversal depends on a condition. fileciteturn0file0L230-L255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demonstrates range(start, stop), range(start, stop, step), negative steps and range(len(n)). fileciteturn0file0L256-L297 Instructor correction/extension: range() returns a range object, not a generator function.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contrasts iterating over elements with iterating over index values using range(len(n)). fileciteturn0file0L276-L297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defines dictionaries as mutable key/value collections using curly braces and shows access by key. fileciteturn0file0L324-L345 Instructor extension: modern Python dictionaries preserve insertion order (language guarantee since Python 3.7), while key-based lookup remains the important mental model.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copy(), get(), update(), keys(), values(), len(), del and d[key]=value are covered in pages 11–12. fileciteturn0file0L347-L410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PDF's dictionary example demonstrates reading a key, changing a value, adding a new key/value pair and deleting a key. fileciteturn0file0L411-L432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defines sets as mutable, unordered, unindexed collections with no duplicates. fileciteturn0file0L433-L441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add, remove, discard, clear, copy, pop and update are described in the PDF. fileciteturn0file0L446-L503 Instructor correction: set.pop() removes an arbitrary element, because sets are unordered; the source's wording “first element” should not be taught as a guaranteed position.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covers union, intersection and difference using both operators and methods. fileciteturn0file0L504-L541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strings are sequences of characters and immutable; the PDF introduces len, indexing, slicing, count, index, min/max, concatenation and membership. fileciteturn0file0L562-L567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lists these sequence operations for strings. fileciteturn0file0L568-L627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isalpha, isdigit, islower, isupper, lower, upper, find, replace and strip are described in the PDF. fileciteturn0file0L628-L696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 introduces three formatting styles—f-strings, format() and the % operator—with examples. fileciteturn0file0L727-L753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 basis: the PDF's final comparison table covers syntax, mutability, ordering, duplicates and empty forms for list, tuple, dictionary and set. fileciteturn0file0L760-L806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this as a 10–15 minute coding activity. Encourage students to predict the output before running code. These challenges synthesize the PDF topics rather than introducing new APIs.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Closing prompt: Ask students to explain when they would choose each of the four collections. Revisit the five hands-on challenges if time allows.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851914" cy="10287000"/>
          </a:xfrm>
          <a:custGeom>
            <a:avLst/>
            <a:gdLst/>
            <a:ahLst/>
            <a:cxnLst/>
            <a:rect r="r" b="b" t="t" l="l"/>
            <a:pathLst>
              <a:path h="10287000" w="12851914">
                <a:moveTo>
                  <a:pt x="0" y="0"/>
                </a:moveTo>
                <a:lnTo>
                  <a:pt x="12851914" y="0"/>
                </a:lnTo>
                <a:lnTo>
                  <a:pt x="12851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0220" y="5138034"/>
            <a:ext cx="3489158" cy="5148966"/>
          </a:xfrm>
          <a:custGeom>
            <a:avLst/>
            <a:gdLst/>
            <a:ahLst/>
            <a:cxnLst/>
            <a:rect r="r" b="b" t="t" l="l"/>
            <a:pathLst>
              <a:path h="5148966" w="3489158">
                <a:moveTo>
                  <a:pt x="0" y="0"/>
                </a:moveTo>
                <a:lnTo>
                  <a:pt x="3489158" y="0"/>
                </a:lnTo>
                <a:lnTo>
                  <a:pt x="3489158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7212" y="1022356"/>
            <a:ext cx="3930400" cy="56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b="true" sz="4308" spc="86">
                <a:solidFill>
                  <a:srgbClr val="081F38"/>
                </a:solidFill>
                <a:latin typeface="DM Sans Bold"/>
                <a:ea typeface="DM Sans Bold"/>
                <a:cs typeface="DM Sans Bold"/>
                <a:sym typeface="DM Sans Bold"/>
              </a:rPr>
              <a:t>WELCOME 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0948" y="1808856"/>
            <a:ext cx="7556795" cy="221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3"/>
              </a:lnSpc>
            </a:pPr>
            <a:r>
              <a:rPr lang="en-US" b="true" sz="16673" spc="-333">
                <a:solidFill>
                  <a:srgbClr val="081F38"/>
                </a:solidFill>
                <a:latin typeface="TT Moons Bold"/>
                <a:ea typeface="TT Moons Bold"/>
                <a:cs typeface="TT Moons Bold"/>
                <a:sym typeface="TT Moons Bold"/>
              </a:rPr>
              <a:t>PYTHON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807" y="3698459"/>
            <a:ext cx="9270822" cy="19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2"/>
              </a:lnSpc>
            </a:pPr>
            <a:r>
              <a:rPr lang="en-US" b="true" sz="14992" spc="-300">
                <a:solidFill>
                  <a:srgbClr val="081F38"/>
                </a:solidFill>
                <a:latin typeface="TT Moons Bold"/>
                <a:ea typeface="TT Moons Bold"/>
                <a:cs typeface="TT Moons Bold"/>
                <a:sym typeface="TT Moons Bold"/>
              </a:rPr>
              <a:t>BOOTCAMP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5783021"/>
            <a:ext cx="4572000" cy="1082267"/>
          </a:xfrm>
          <a:custGeom>
            <a:avLst/>
            <a:gdLst/>
            <a:ahLst/>
            <a:cxnLst/>
            <a:rect r="r" b="b" t="t" l="l"/>
            <a:pathLst>
              <a:path h="1082267" w="4572000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9227" y="6092895"/>
            <a:ext cx="3086724" cy="59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b="true" sz="4585" spc="91">
                <a:solidFill>
                  <a:srgbClr val="F6EDE4"/>
                </a:solidFill>
                <a:latin typeface="DM Sans Bold"/>
                <a:ea typeface="DM Sans Bold"/>
                <a:cs typeface="DM Sans Bold"/>
                <a:sym typeface="DM Sans Bold"/>
              </a:rPr>
              <a:t>SESSION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591" y="7288564"/>
            <a:ext cx="8250280" cy="39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b="true" sz="3032" spc="60">
                <a:solidFill>
                  <a:srgbClr val="205A5D"/>
                </a:solidFill>
                <a:latin typeface="DM Sans Bold"/>
                <a:ea typeface="DM Sans Bold"/>
                <a:cs typeface="DM Sans Bold"/>
                <a:sym typeface="DM Sans Bold"/>
              </a:rPr>
              <a:t>LISTS 🟠 TUPLES 🟠 DICTIONARIES 🟠 SETS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8133399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1044" y="8841246"/>
            <a:ext cx="6904992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-66" b="true">
                <a:solidFill>
                  <a:srgbClr val="081F38"/>
                </a:solidFill>
                <a:latin typeface="DM Sans Bold"/>
                <a:ea typeface="DM Sans Bold"/>
                <a:cs typeface="DM Sans Bold"/>
                <a:sym typeface="DM Sans Bold"/>
              </a:rPr>
              <a:t>Learn by building. Think in Python.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FROM ONE VALUE TO MANY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Today's roadmap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2120494"/>
            <a:ext cx="7495365" cy="1606601"/>
            <a:chOff x="0" y="0"/>
            <a:chExt cx="9993820" cy="2142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53671" y="2392994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0004" y="2383469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Lists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0004" y="3024416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Ordered, mutable collections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89758" y="2120494"/>
            <a:ext cx="7495365" cy="1606601"/>
            <a:chOff x="0" y="0"/>
            <a:chExt cx="9993820" cy="2142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489710" y="2392994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6043" y="2383469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Tuples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6043" y="3024416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Ordered, immutable sequences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3719" y="4083415"/>
            <a:ext cx="7495365" cy="1606601"/>
            <a:chOff x="0" y="0"/>
            <a:chExt cx="9993820" cy="21421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53671" y="4355916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0004" y="4346391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Sequences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40004" y="4987338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Indexing, slicing, nesting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89758" y="4083415"/>
            <a:ext cx="7495365" cy="1606601"/>
            <a:chOff x="0" y="0"/>
            <a:chExt cx="9993820" cy="21421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89710" y="4355916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6043" y="4346391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Iteration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76043" y="4987338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for, while and range()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3719" y="6046337"/>
            <a:ext cx="7495365" cy="1606601"/>
            <a:chOff x="0" y="0"/>
            <a:chExt cx="9993820" cy="21421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53671" y="6318837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40004" y="6309312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Dictionaries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40004" y="6950259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Key → value lookup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89758" y="6046337"/>
            <a:ext cx="7495365" cy="1606601"/>
            <a:chOff x="0" y="0"/>
            <a:chExt cx="9993820" cy="21421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93757" cy="2142109"/>
            </a:xfrm>
            <a:custGeom>
              <a:avLst/>
              <a:gdLst/>
              <a:ahLst/>
              <a:cxnLst/>
              <a:rect r="r" b="b" t="t" l="l"/>
              <a:pathLst>
                <a:path h="2142109" w="9993757">
                  <a:moveTo>
                    <a:pt x="0" y="171323"/>
                  </a:moveTo>
                  <a:cubicBezTo>
                    <a:pt x="0" y="76708"/>
                    <a:pt x="76708" y="0"/>
                    <a:pt x="171323" y="0"/>
                  </a:cubicBezTo>
                  <a:lnTo>
                    <a:pt x="9822434" y="0"/>
                  </a:lnTo>
                  <a:cubicBezTo>
                    <a:pt x="9917049" y="0"/>
                    <a:pt x="9993757" y="76708"/>
                    <a:pt x="9993757" y="171323"/>
                  </a:cubicBezTo>
                  <a:lnTo>
                    <a:pt x="9993757" y="1970786"/>
                  </a:lnTo>
                  <a:cubicBezTo>
                    <a:pt x="9993757" y="2065401"/>
                    <a:pt x="9917049" y="2142109"/>
                    <a:pt x="9822434" y="2142109"/>
                  </a:cubicBezTo>
                  <a:lnTo>
                    <a:pt x="171323" y="2142109"/>
                  </a:lnTo>
                  <a:cubicBezTo>
                    <a:pt x="76708" y="2142109"/>
                    <a:pt x="0" y="2065401"/>
                    <a:pt x="0" y="197078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489710" y="6318837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76043" y="6309312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76043" y="6950259"/>
            <a:ext cx="604440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Unique values + set algebra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865837" y="8036709"/>
            <a:ext cx="7495365" cy="1249709"/>
            <a:chOff x="0" y="0"/>
            <a:chExt cx="9993820" cy="16662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3884" cy="1666367"/>
            </a:xfrm>
            <a:custGeom>
              <a:avLst/>
              <a:gdLst/>
              <a:ahLst/>
              <a:cxnLst/>
              <a:rect r="r" b="b" t="t" l="l"/>
              <a:pathLst>
                <a:path h="1666367" w="9993884">
                  <a:moveTo>
                    <a:pt x="0" y="133350"/>
                  </a:moveTo>
                  <a:cubicBezTo>
                    <a:pt x="0" y="59690"/>
                    <a:pt x="59690" y="0"/>
                    <a:pt x="133350" y="0"/>
                  </a:cubicBezTo>
                  <a:lnTo>
                    <a:pt x="9860534" y="0"/>
                  </a:lnTo>
                  <a:cubicBezTo>
                    <a:pt x="9934194" y="0"/>
                    <a:pt x="9993884" y="59690"/>
                    <a:pt x="9993884" y="133350"/>
                  </a:cubicBezTo>
                  <a:lnTo>
                    <a:pt x="9993884" y="1533017"/>
                  </a:lnTo>
                  <a:cubicBezTo>
                    <a:pt x="9993884" y="1606677"/>
                    <a:pt x="9934194" y="1666367"/>
                    <a:pt x="9860534" y="1666367"/>
                  </a:cubicBezTo>
                  <a:lnTo>
                    <a:pt x="133350" y="1666367"/>
                  </a:lnTo>
                  <a:cubicBezTo>
                    <a:pt x="59690" y="1666367"/>
                    <a:pt x="0" y="1606677"/>
                    <a:pt x="0" y="153301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5165788" y="8309210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52122" y="8299685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Final comparison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52122" y="8940641"/>
            <a:ext cx="45993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Choose the right collection for the job.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2.1 LIST STRUCTURES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Lists: ordered, indexed, mutable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592" y="1994916"/>
            <a:ext cx="8419128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list is a linear data structure. Every element has a position, and Python starts indexing at 0.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0984" y="3630435"/>
            <a:ext cx="1386973" cy="1592875"/>
            <a:chOff x="0" y="0"/>
            <a:chExt cx="1849298" cy="2123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9247" cy="2123821"/>
            </a:xfrm>
            <a:custGeom>
              <a:avLst/>
              <a:gdLst/>
              <a:ahLst/>
              <a:cxnLst/>
              <a:rect r="r" b="b" t="t" l="l"/>
              <a:pathLst>
                <a:path h="2123821" w="1849247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701292" y="0"/>
                  </a:lnTo>
                  <a:cubicBezTo>
                    <a:pt x="1782953" y="0"/>
                    <a:pt x="1849247" y="66294"/>
                    <a:pt x="1849247" y="147955"/>
                  </a:cubicBezTo>
                  <a:lnTo>
                    <a:pt x="1849247" y="1975866"/>
                  </a:lnTo>
                  <a:cubicBezTo>
                    <a:pt x="1849247" y="2057527"/>
                    <a:pt x="1782953" y="2123821"/>
                    <a:pt x="1701292" y="2123821"/>
                  </a:cubicBezTo>
                  <a:lnTo>
                    <a:pt x="147955" y="2123821"/>
                  </a:lnTo>
                  <a:cubicBezTo>
                    <a:pt x="66294" y="2123821"/>
                    <a:pt x="0" y="2057654"/>
                    <a:pt x="0" y="1975866"/>
                  </a:cubicBezTo>
                  <a:close/>
                </a:path>
              </a:pathLst>
            </a:custGeom>
            <a:solidFill>
              <a:srgbClr val="F8F3E7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43857" y="3861749"/>
            <a:ext cx="128123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857" y="4254503"/>
            <a:ext cx="128123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100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10739" y="3630435"/>
            <a:ext cx="1386973" cy="1592875"/>
            <a:chOff x="0" y="0"/>
            <a:chExt cx="1849298" cy="2123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9247" cy="2123821"/>
            </a:xfrm>
            <a:custGeom>
              <a:avLst/>
              <a:gdLst/>
              <a:ahLst/>
              <a:cxnLst/>
              <a:rect r="r" b="b" t="t" l="l"/>
              <a:pathLst>
                <a:path h="2123821" w="1849247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701292" y="0"/>
                  </a:lnTo>
                  <a:cubicBezTo>
                    <a:pt x="1782953" y="0"/>
                    <a:pt x="1849247" y="66294"/>
                    <a:pt x="1849247" y="147955"/>
                  </a:cubicBezTo>
                  <a:lnTo>
                    <a:pt x="1849247" y="1975866"/>
                  </a:lnTo>
                  <a:cubicBezTo>
                    <a:pt x="1849247" y="2057527"/>
                    <a:pt x="1782953" y="2123821"/>
                    <a:pt x="1701292" y="2123821"/>
                  </a:cubicBezTo>
                  <a:lnTo>
                    <a:pt x="147955" y="2123821"/>
                  </a:lnTo>
                  <a:cubicBezTo>
                    <a:pt x="66294" y="2123821"/>
                    <a:pt x="0" y="2057654"/>
                    <a:pt x="0" y="1975866"/>
                  </a:cubicBezTo>
                  <a:close/>
                </a:path>
              </a:pathLst>
            </a:custGeom>
            <a:solidFill>
              <a:srgbClr val="F8F3E7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763612" y="3861749"/>
            <a:ext cx="128123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3612" y="4254503"/>
            <a:ext cx="128123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200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30494" y="3630435"/>
            <a:ext cx="1386973" cy="1592875"/>
            <a:chOff x="0" y="0"/>
            <a:chExt cx="1849298" cy="2123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49247" cy="2123821"/>
            </a:xfrm>
            <a:custGeom>
              <a:avLst/>
              <a:gdLst/>
              <a:ahLst/>
              <a:cxnLst/>
              <a:rect r="r" b="b" t="t" l="l"/>
              <a:pathLst>
                <a:path h="2123821" w="1849247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701292" y="0"/>
                  </a:lnTo>
                  <a:cubicBezTo>
                    <a:pt x="1782953" y="0"/>
                    <a:pt x="1849247" y="66294"/>
                    <a:pt x="1849247" y="147955"/>
                  </a:cubicBezTo>
                  <a:lnTo>
                    <a:pt x="1849247" y="1975866"/>
                  </a:lnTo>
                  <a:cubicBezTo>
                    <a:pt x="1849247" y="2057527"/>
                    <a:pt x="1782953" y="2123821"/>
                    <a:pt x="1701292" y="2123821"/>
                  </a:cubicBezTo>
                  <a:lnTo>
                    <a:pt x="147955" y="2123821"/>
                  </a:lnTo>
                  <a:cubicBezTo>
                    <a:pt x="66294" y="2123821"/>
                    <a:pt x="0" y="2057654"/>
                    <a:pt x="0" y="1975866"/>
                  </a:cubicBezTo>
                  <a:close/>
                </a:path>
              </a:pathLst>
            </a:custGeom>
            <a:solidFill>
              <a:srgbClr val="F8F3E7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383367" y="3861749"/>
            <a:ext cx="128123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3367" y="4254503"/>
            <a:ext cx="128123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300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0248" y="3630435"/>
            <a:ext cx="1386973" cy="1592875"/>
            <a:chOff x="0" y="0"/>
            <a:chExt cx="1849298" cy="21238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9247" cy="2123821"/>
            </a:xfrm>
            <a:custGeom>
              <a:avLst/>
              <a:gdLst/>
              <a:ahLst/>
              <a:cxnLst/>
              <a:rect r="r" b="b" t="t" l="l"/>
              <a:pathLst>
                <a:path h="2123821" w="1849247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701292" y="0"/>
                  </a:lnTo>
                  <a:cubicBezTo>
                    <a:pt x="1782953" y="0"/>
                    <a:pt x="1849247" y="66294"/>
                    <a:pt x="1849247" y="147955"/>
                  </a:cubicBezTo>
                  <a:lnTo>
                    <a:pt x="1849247" y="1975866"/>
                  </a:lnTo>
                  <a:cubicBezTo>
                    <a:pt x="1849247" y="2057527"/>
                    <a:pt x="1782953" y="2123821"/>
                    <a:pt x="1701292" y="2123821"/>
                  </a:cubicBezTo>
                  <a:lnTo>
                    <a:pt x="147955" y="2123821"/>
                  </a:lnTo>
                  <a:cubicBezTo>
                    <a:pt x="66294" y="2123821"/>
                    <a:pt x="0" y="2057654"/>
                    <a:pt x="0" y="1975866"/>
                  </a:cubicBezTo>
                  <a:close/>
                </a:path>
              </a:pathLst>
            </a:custGeom>
            <a:solidFill>
              <a:srgbClr val="F8F3E7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003122" y="3861749"/>
            <a:ext cx="128123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3122" y="4254503"/>
            <a:ext cx="128123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400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70003" y="3630435"/>
            <a:ext cx="1386973" cy="1592875"/>
            <a:chOff x="0" y="0"/>
            <a:chExt cx="1849298" cy="2123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9247" cy="2123821"/>
            </a:xfrm>
            <a:custGeom>
              <a:avLst/>
              <a:gdLst/>
              <a:ahLst/>
              <a:cxnLst/>
              <a:rect r="r" b="b" t="t" l="l"/>
              <a:pathLst>
                <a:path h="2123821" w="1849247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701292" y="0"/>
                  </a:lnTo>
                  <a:cubicBezTo>
                    <a:pt x="1782953" y="0"/>
                    <a:pt x="1849247" y="66294"/>
                    <a:pt x="1849247" y="147955"/>
                  </a:cubicBezTo>
                  <a:lnTo>
                    <a:pt x="1849247" y="1975866"/>
                  </a:lnTo>
                  <a:cubicBezTo>
                    <a:pt x="1849247" y="2057527"/>
                    <a:pt x="1782953" y="2123821"/>
                    <a:pt x="1701292" y="2123821"/>
                  </a:cubicBezTo>
                  <a:lnTo>
                    <a:pt x="147955" y="2123821"/>
                  </a:lnTo>
                  <a:cubicBezTo>
                    <a:pt x="66294" y="2123821"/>
                    <a:pt x="0" y="2057654"/>
                    <a:pt x="0" y="1975866"/>
                  </a:cubicBezTo>
                  <a:close/>
                </a:path>
              </a:pathLst>
            </a:custGeom>
            <a:solidFill>
              <a:srgbClr val="F8F3E7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7622867" y="3861749"/>
            <a:ext cx="128123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22867" y="4254503"/>
            <a:ext cx="128123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500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2494" y="3193342"/>
            <a:ext cx="1006697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index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2494" y="5279803"/>
            <a:ext cx="1006697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value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1562" y="2353847"/>
            <a:ext cx="7358101" cy="3102807"/>
            <a:chOff x="0" y="0"/>
            <a:chExt cx="9810801" cy="41370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10750" cy="4137025"/>
            </a:xfrm>
            <a:custGeom>
              <a:avLst/>
              <a:gdLst/>
              <a:ahLst/>
              <a:cxnLst/>
              <a:rect r="r" b="b" t="t" l="l"/>
              <a:pathLst>
                <a:path h="4137025" w="9810750">
                  <a:moveTo>
                    <a:pt x="0" y="330962"/>
                  </a:moveTo>
                  <a:cubicBezTo>
                    <a:pt x="0" y="148209"/>
                    <a:pt x="148209" y="0"/>
                    <a:pt x="330962" y="0"/>
                  </a:cubicBezTo>
                  <a:lnTo>
                    <a:pt x="9479788" y="0"/>
                  </a:lnTo>
                  <a:cubicBezTo>
                    <a:pt x="9662541" y="0"/>
                    <a:pt x="9810750" y="148209"/>
                    <a:pt x="9810750" y="330962"/>
                  </a:cubicBezTo>
                  <a:lnTo>
                    <a:pt x="9810750" y="3806063"/>
                  </a:lnTo>
                  <a:cubicBezTo>
                    <a:pt x="9810750" y="3988816"/>
                    <a:pt x="9662541" y="4137025"/>
                    <a:pt x="9479788" y="4137025"/>
                  </a:cubicBezTo>
                  <a:lnTo>
                    <a:pt x="330962" y="4137025"/>
                  </a:lnTo>
                  <a:cubicBezTo>
                    <a:pt x="148209" y="4137025"/>
                    <a:pt x="0" y="3988943"/>
                    <a:pt x="0" y="380606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901504" y="2571436"/>
            <a:ext cx="67581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ZERO-BASED INDEXING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74072" y="2890256"/>
            <a:ext cx="6813061" cy="229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numbers = [100, 200, 300, 400, 500]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print(numbers[0])  # 100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print(numbers[4])  # 500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1562" y="5895346"/>
            <a:ext cx="7358101" cy="1592875"/>
            <a:chOff x="0" y="0"/>
            <a:chExt cx="9810801" cy="21238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108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9810877">
                  <a:moveTo>
                    <a:pt x="0" y="169926"/>
                  </a:moveTo>
                  <a:cubicBezTo>
                    <a:pt x="0" y="76073"/>
                    <a:pt x="76073" y="0"/>
                    <a:pt x="169926" y="0"/>
                  </a:cubicBezTo>
                  <a:lnTo>
                    <a:pt x="9640951" y="0"/>
                  </a:lnTo>
                  <a:cubicBezTo>
                    <a:pt x="9734804" y="0"/>
                    <a:pt x="9810877" y="76073"/>
                    <a:pt x="9810877" y="169926"/>
                  </a:cubicBezTo>
                  <a:lnTo>
                    <a:pt x="9810877" y="1953895"/>
                  </a:lnTo>
                  <a:cubicBezTo>
                    <a:pt x="9810877" y="2047748"/>
                    <a:pt x="9734804" y="2123821"/>
                    <a:pt x="9640951" y="2123821"/>
                  </a:cubicBezTo>
                  <a:lnTo>
                    <a:pt x="169926" y="2123821"/>
                  </a:lnTo>
                  <a:cubicBezTo>
                    <a:pt x="76073" y="2123821"/>
                    <a:pt x="0" y="2047748"/>
                    <a:pt x="0" y="1953895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997592" y="6250200"/>
            <a:ext cx="141850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Key idea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8896" y="6195289"/>
            <a:ext cx="5056080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For n elements, valid positive indexes are 0 … n−1.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PYTHON LIST TYPE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Creating lists in 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83229"/>
            <a:ext cx="7152199" cy="4887287"/>
            <a:chOff x="0" y="0"/>
            <a:chExt cx="9536265" cy="6516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36303" cy="6516370"/>
            </a:xfrm>
            <a:custGeom>
              <a:avLst/>
              <a:gdLst/>
              <a:ahLst/>
              <a:cxnLst/>
              <a:rect r="r" b="b" t="t" l="l"/>
              <a:pathLst>
                <a:path h="6516370" w="9536303">
                  <a:moveTo>
                    <a:pt x="0" y="521335"/>
                  </a:moveTo>
                  <a:cubicBezTo>
                    <a:pt x="0" y="233426"/>
                    <a:pt x="233426" y="0"/>
                    <a:pt x="521335" y="0"/>
                  </a:cubicBezTo>
                  <a:lnTo>
                    <a:pt x="9014968" y="0"/>
                  </a:lnTo>
                  <a:cubicBezTo>
                    <a:pt x="9302877" y="0"/>
                    <a:pt x="9536303" y="233426"/>
                    <a:pt x="9536303" y="521335"/>
                  </a:cubicBezTo>
                  <a:lnTo>
                    <a:pt x="9536303" y="5995035"/>
                  </a:lnTo>
                  <a:cubicBezTo>
                    <a:pt x="9536303" y="6282944"/>
                    <a:pt x="9302877" y="6516370"/>
                    <a:pt x="9014968" y="6516370"/>
                  </a:cubicBezTo>
                  <a:lnTo>
                    <a:pt x="521335" y="6516370"/>
                  </a:lnTo>
                  <a:cubicBezTo>
                    <a:pt x="233426" y="6516370"/>
                    <a:pt x="0" y="6282944"/>
                    <a:pt x="0" y="5995035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00818"/>
            <a:ext cx="6552295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EXAMPLES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00579"/>
            <a:ext cx="6607159" cy="409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a = [1, 2, 3]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words = ['one', 'two', 'three']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mixed = ['apples', 50, True]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empty = []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09317" y="2051856"/>
            <a:ext cx="7769895" cy="1730140"/>
            <a:chOff x="0" y="0"/>
            <a:chExt cx="10359860" cy="2306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59899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899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175367" y="0"/>
                  </a:lnTo>
                  <a:cubicBezTo>
                    <a:pt x="10277349" y="0"/>
                    <a:pt x="10359899" y="82677"/>
                    <a:pt x="10359899" y="184531"/>
                  </a:cubicBezTo>
                  <a:lnTo>
                    <a:pt x="10359899" y="2122297"/>
                  </a:lnTo>
                  <a:cubicBezTo>
                    <a:pt x="10359899" y="2224278"/>
                    <a:pt x="10277222" y="2306828"/>
                    <a:pt x="10175367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009269" y="2324357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5602" y="2314832"/>
            <a:ext cx="645620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Square brackets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5602" y="2955788"/>
            <a:ext cx="631894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Lists are written with comma-separated elements inside [ ].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09317" y="4042239"/>
            <a:ext cx="7769895" cy="1730140"/>
            <a:chOff x="0" y="0"/>
            <a:chExt cx="10359860" cy="2306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59899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899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175367" y="0"/>
                  </a:lnTo>
                  <a:cubicBezTo>
                    <a:pt x="10277349" y="0"/>
                    <a:pt x="10359899" y="82677"/>
                    <a:pt x="10359899" y="184531"/>
                  </a:cubicBezTo>
                  <a:lnTo>
                    <a:pt x="10359899" y="2122297"/>
                  </a:lnTo>
                  <a:cubicBezTo>
                    <a:pt x="10359899" y="2224278"/>
                    <a:pt x="10277222" y="2306828"/>
                    <a:pt x="10175367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009269" y="4314730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5602" y="4305205"/>
            <a:ext cx="645620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Mixed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95602" y="4946161"/>
            <a:ext cx="631894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Python list can contain values of different types.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09317" y="6032611"/>
            <a:ext cx="7769895" cy="1730140"/>
            <a:chOff x="0" y="0"/>
            <a:chExt cx="10359860" cy="2306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59899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359899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175367" y="0"/>
                  </a:lnTo>
                  <a:cubicBezTo>
                    <a:pt x="10277349" y="0"/>
                    <a:pt x="10359899" y="82677"/>
                    <a:pt x="10359899" y="184531"/>
                  </a:cubicBezTo>
                  <a:lnTo>
                    <a:pt x="10359899" y="2122297"/>
                  </a:lnTo>
                  <a:cubicBezTo>
                    <a:pt x="10359899" y="2224278"/>
                    <a:pt x="10277222" y="2306828"/>
                    <a:pt x="10175367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009269" y="6305102"/>
            <a:ext cx="485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5602" y="6295577"/>
            <a:ext cx="645620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Mutable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5602" y="6936534"/>
            <a:ext cx="631894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You can change the contents after creating the list.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2494" y="7526788"/>
            <a:ext cx="56737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3D7D85"/>
                </a:solidFill>
                <a:latin typeface="Georgia Bold"/>
                <a:ea typeface="Georgia Bold"/>
                <a:cs typeface="Georgia Bold"/>
                <a:sym typeface="Georgia Bold"/>
              </a:rPr>
              <a:t>Empty list → []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COMMON LIST OPERATIONS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List operations: read, change, grow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120494"/>
            <a:ext cx="5161817" cy="2375297"/>
            <a:chOff x="0" y="0"/>
            <a:chExt cx="6882422" cy="3167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410920"/>
            <a:ext cx="146491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Retrieve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8258" y="3012729"/>
            <a:ext cx="4612748" cy="810444"/>
            <a:chOff x="0" y="0"/>
            <a:chExt cx="6150331" cy="1080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00769" y="324714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li[1]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122" y="393458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Read an element by index.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36582" y="2120494"/>
            <a:ext cx="5161817" cy="2375297"/>
            <a:chOff x="0" y="0"/>
            <a:chExt cx="6882422" cy="31670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36534" y="2410920"/>
            <a:ext cx="137040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Replace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83670" y="3012729"/>
            <a:ext cx="4612748" cy="810444"/>
            <a:chOff x="0" y="0"/>
            <a:chExt cx="6150331" cy="1080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156180" y="324714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li[2] =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36534" y="393458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Change an existing element.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91993" y="2120494"/>
            <a:ext cx="5161817" cy="2375297"/>
            <a:chOff x="0" y="0"/>
            <a:chExt cx="6882422" cy="3167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591945" y="2410920"/>
            <a:ext cx="105653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Insert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539072" y="3012729"/>
            <a:ext cx="4612748" cy="810444"/>
            <a:chOff x="0" y="0"/>
            <a:chExt cx="6150331" cy="1080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811592" y="324714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li.insert(1, 3)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1945" y="393458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Add at a specific index.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1170" y="4934474"/>
            <a:ext cx="5161817" cy="2375297"/>
            <a:chOff x="0" y="0"/>
            <a:chExt cx="6882422" cy="31670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81122" y="5224901"/>
            <a:ext cx="134644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Append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28258" y="5826709"/>
            <a:ext cx="4612748" cy="810444"/>
            <a:chOff x="0" y="0"/>
            <a:chExt cx="6150331" cy="1080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00769" y="606112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li.append(4)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1122" y="674856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Add one item at the end.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636582" y="4934474"/>
            <a:ext cx="5161817" cy="2375297"/>
            <a:chOff x="0" y="0"/>
            <a:chExt cx="6882422" cy="31670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6936534" y="5224901"/>
            <a:ext cx="11081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Delete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83670" y="5826709"/>
            <a:ext cx="4612748" cy="810444"/>
            <a:chOff x="0" y="0"/>
            <a:chExt cx="6150331" cy="1080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7156180" y="606112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del li[2]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36534" y="674856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Remove an item by index.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291993" y="4934474"/>
            <a:ext cx="5161817" cy="2375297"/>
            <a:chOff x="0" y="0"/>
            <a:chExt cx="6882422" cy="31670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82384" cy="3166999"/>
            </a:xfrm>
            <a:custGeom>
              <a:avLst/>
              <a:gdLst/>
              <a:ahLst/>
              <a:cxnLst/>
              <a:rect r="r" b="b" t="t" l="l"/>
              <a:pathLst>
                <a:path h="3166999" w="6882384">
                  <a:moveTo>
                    <a:pt x="0" y="253365"/>
                  </a:moveTo>
                  <a:cubicBezTo>
                    <a:pt x="0" y="113411"/>
                    <a:pt x="113411" y="0"/>
                    <a:pt x="253365" y="0"/>
                  </a:cubicBezTo>
                  <a:lnTo>
                    <a:pt x="6629019" y="0"/>
                  </a:lnTo>
                  <a:cubicBezTo>
                    <a:pt x="6768973" y="0"/>
                    <a:pt x="6882384" y="113411"/>
                    <a:pt x="6882384" y="253365"/>
                  </a:cubicBezTo>
                  <a:lnTo>
                    <a:pt x="6882384" y="2913634"/>
                  </a:lnTo>
                  <a:cubicBezTo>
                    <a:pt x="6882384" y="3053588"/>
                    <a:pt x="6768973" y="3166999"/>
                    <a:pt x="6629019" y="3166999"/>
                  </a:cubicBezTo>
                  <a:lnTo>
                    <a:pt x="253365" y="3166999"/>
                  </a:lnTo>
                  <a:cubicBezTo>
                    <a:pt x="113411" y="3166999"/>
                    <a:pt x="0" y="3053588"/>
                    <a:pt x="0" y="29136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591945" y="5224901"/>
            <a:ext cx="12227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Extend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539072" y="5826709"/>
            <a:ext cx="4612748" cy="810444"/>
            <a:chOff x="0" y="0"/>
            <a:chExt cx="6150331" cy="1080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50356" cy="1080643"/>
            </a:xfrm>
            <a:custGeom>
              <a:avLst/>
              <a:gdLst/>
              <a:ahLst/>
              <a:cxnLst/>
              <a:rect r="r" b="b" t="t" l="l"/>
              <a:pathLst>
                <a:path h="1080643" w="615035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6063869" y="0"/>
                  </a:lnTo>
                  <a:cubicBezTo>
                    <a:pt x="6111621" y="0"/>
                    <a:pt x="6150356" y="38735"/>
                    <a:pt x="6150356" y="86487"/>
                  </a:cubicBezTo>
                  <a:lnTo>
                    <a:pt x="6150356" y="994156"/>
                  </a:lnTo>
                  <a:cubicBezTo>
                    <a:pt x="6150356" y="1041908"/>
                    <a:pt x="6111621" y="1080643"/>
                    <a:pt x="606386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2811592" y="6061129"/>
            <a:ext cx="406771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li.extend([4,5])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91945" y="6748567"/>
            <a:ext cx="44383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Add multiple items at the end.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SORT • REVERSE • LEN • MIN • MAX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List tools worth memorizing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406" y="2163842"/>
            <a:ext cx="20362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sort()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4230" y="2224068"/>
            <a:ext cx="3065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Ascending order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38513" y="2051856"/>
            <a:ext cx="4132316" cy="810444"/>
            <a:chOff x="0" y="0"/>
            <a:chExt cx="5509755" cy="1080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9768" cy="1080643"/>
            </a:xfrm>
            <a:custGeom>
              <a:avLst/>
              <a:gdLst/>
              <a:ahLst/>
              <a:cxnLst/>
              <a:rect r="r" b="b" t="t" l="l"/>
              <a:pathLst>
                <a:path h="1080643" w="5509768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5423281" y="0"/>
                  </a:lnTo>
                  <a:cubicBezTo>
                    <a:pt x="5471033" y="0"/>
                    <a:pt x="5509768" y="38735"/>
                    <a:pt x="5509768" y="86487"/>
                  </a:cubicBezTo>
                  <a:lnTo>
                    <a:pt x="5509768" y="994156"/>
                  </a:lnTo>
                  <a:cubicBezTo>
                    <a:pt x="5509768" y="1041908"/>
                    <a:pt x="5471033" y="1080643"/>
                    <a:pt x="5423281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511033" y="2286276"/>
            <a:ext cx="358727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li.sort()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1200" y="2176443"/>
            <a:ext cx="27911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[1, 2, 3]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994111" y="2051856"/>
            <a:ext cx="2485111" cy="810444"/>
            <a:chOff x="0" y="0"/>
            <a:chExt cx="3313481" cy="1080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3557" cy="1080643"/>
            </a:xfrm>
            <a:custGeom>
              <a:avLst/>
              <a:gdLst/>
              <a:ahLst/>
              <a:cxnLst/>
              <a:rect r="r" b="b" t="t" l="l"/>
              <a:pathLst>
                <a:path h="1080643" w="3313557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3227070" y="0"/>
                  </a:lnTo>
                  <a:cubicBezTo>
                    <a:pt x="3274822" y="0"/>
                    <a:pt x="3313557" y="38735"/>
                    <a:pt x="3313557" y="86487"/>
                  </a:cubicBezTo>
                  <a:lnTo>
                    <a:pt x="3313557" y="994156"/>
                  </a:lnTo>
                  <a:cubicBezTo>
                    <a:pt x="3313557" y="1041908"/>
                    <a:pt x="3274822" y="1080643"/>
                    <a:pt x="3227070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764504" y="2283181"/>
            <a:ext cx="9443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0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reorder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406" y="3467872"/>
            <a:ext cx="20362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reverse()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4230" y="3528108"/>
            <a:ext cx="3065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Reverse current order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38513" y="3355896"/>
            <a:ext cx="4132316" cy="810444"/>
            <a:chOff x="0" y="0"/>
            <a:chExt cx="5509755" cy="1080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09768" cy="1080643"/>
            </a:xfrm>
            <a:custGeom>
              <a:avLst/>
              <a:gdLst/>
              <a:ahLst/>
              <a:cxnLst/>
              <a:rect r="r" b="b" t="t" l="l"/>
              <a:pathLst>
                <a:path h="1080643" w="5509768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5423281" y="0"/>
                  </a:lnTo>
                  <a:cubicBezTo>
                    <a:pt x="5471033" y="0"/>
                    <a:pt x="5509768" y="38735"/>
                    <a:pt x="5509768" y="86487"/>
                  </a:cubicBezTo>
                  <a:lnTo>
                    <a:pt x="5509768" y="994156"/>
                  </a:lnTo>
                  <a:cubicBezTo>
                    <a:pt x="5509768" y="1041908"/>
                    <a:pt x="5471033" y="1080643"/>
                    <a:pt x="5423281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511033" y="3590315"/>
            <a:ext cx="358727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li.reverse()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21200" y="3480483"/>
            <a:ext cx="27911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[2, 3, 1]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94111" y="3355896"/>
            <a:ext cx="2485111" cy="810444"/>
            <a:chOff x="0" y="0"/>
            <a:chExt cx="3313481" cy="1080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13557" cy="1080643"/>
            </a:xfrm>
            <a:custGeom>
              <a:avLst/>
              <a:gdLst/>
              <a:ahLst/>
              <a:cxnLst/>
              <a:rect r="r" b="b" t="t" l="l"/>
              <a:pathLst>
                <a:path h="1080643" w="3313557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3227070" y="0"/>
                  </a:lnTo>
                  <a:cubicBezTo>
                    <a:pt x="3274822" y="0"/>
                    <a:pt x="3313557" y="38735"/>
                    <a:pt x="3313557" y="86487"/>
                  </a:cubicBezTo>
                  <a:lnTo>
                    <a:pt x="3313557" y="994156"/>
                  </a:lnTo>
                  <a:cubicBezTo>
                    <a:pt x="3313557" y="1041908"/>
                    <a:pt x="3274822" y="1080643"/>
                    <a:pt x="3227070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764504" y="3587210"/>
            <a:ext cx="9443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0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reorder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6406" y="4771911"/>
            <a:ext cx="20362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len()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34230" y="4832147"/>
            <a:ext cx="3065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Number of elements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238513" y="4659935"/>
            <a:ext cx="4132316" cy="810444"/>
            <a:chOff x="0" y="0"/>
            <a:chExt cx="5509755" cy="1080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09768" cy="1080643"/>
            </a:xfrm>
            <a:custGeom>
              <a:avLst/>
              <a:gdLst/>
              <a:ahLst/>
              <a:cxnLst/>
              <a:rect r="r" b="b" t="t" l="l"/>
              <a:pathLst>
                <a:path h="1080643" w="5509768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5423281" y="0"/>
                  </a:lnTo>
                  <a:cubicBezTo>
                    <a:pt x="5471033" y="0"/>
                    <a:pt x="5509768" y="38735"/>
                    <a:pt x="5509768" y="86487"/>
                  </a:cubicBezTo>
                  <a:lnTo>
                    <a:pt x="5509768" y="994156"/>
                  </a:lnTo>
                  <a:cubicBezTo>
                    <a:pt x="5509768" y="1041908"/>
                    <a:pt x="5471033" y="1080643"/>
                    <a:pt x="5423281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6511033" y="4894355"/>
            <a:ext cx="358727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len(li)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21200" y="4784522"/>
            <a:ext cx="27911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994111" y="4659935"/>
            <a:ext cx="2485111" cy="810444"/>
            <a:chOff x="0" y="0"/>
            <a:chExt cx="3313481" cy="1080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13557" cy="1080643"/>
            </a:xfrm>
            <a:custGeom>
              <a:avLst/>
              <a:gdLst/>
              <a:ahLst/>
              <a:cxnLst/>
              <a:rect r="r" b="b" t="t" l="l"/>
              <a:pathLst>
                <a:path h="1080643" w="3313557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3227070" y="0"/>
                  </a:lnTo>
                  <a:cubicBezTo>
                    <a:pt x="3274822" y="0"/>
                    <a:pt x="3313557" y="38735"/>
                    <a:pt x="3313557" y="86487"/>
                  </a:cubicBezTo>
                  <a:lnTo>
                    <a:pt x="3313557" y="994156"/>
                  </a:lnTo>
                  <a:cubicBezTo>
                    <a:pt x="3313557" y="1041908"/>
                    <a:pt x="3274822" y="1080643"/>
                    <a:pt x="3227070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4868014" y="4891249"/>
            <a:ext cx="73729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0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count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6406" y="6075950"/>
            <a:ext cx="20362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min()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34230" y="6136186"/>
            <a:ext cx="3065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Smallest value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238513" y="5963974"/>
            <a:ext cx="4132316" cy="810444"/>
            <a:chOff x="0" y="0"/>
            <a:chExt cx="5509755" cy="1080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09768" cy="1080643"/>
            </a:xfrm>
            <a:custGeom>
              <a:avLst/>
              <a:gdLst/>
              <a:ahLst/>
              <a:cxnLst/>
              <a:rect r="r" b="b" t="t" l="l"/>
              <a:pathLst>
                <a:path h="1080643" w="5509768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5423281" y="0"/>
                  </a:lnTo>
                  <a:cubicBezTo>
                    <a:pt x="5471033" y="0"/>
                    <a:pt x="5509768" y="38735"/>
                    <a:pt x="5509768" y="86487"/>
                  </a:cubicBezTo>
                  <a:lnTo>
                    <a:pt x="5509768" y="994156"/>
                  </a:lnTo>
                  <a:cubicBezTo>
                    <a:pt x="5509768" y="1041908"/>
                    <a:pt x="5471033" y="1080643"/>
                    <a:pt x="5423281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6511033" y="6198394"/>
            <a:ext cx="358727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min(li)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821200" y="6088561"/>
            <a:ext cx="27911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994111" y="5963974"/>
            <a:ext cx="2485111" cy="810444"/>
            <a:chOff x="0" y="0"/>
            <a:chExt cx="3313481" cy="1080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13557" cy="1080643"/>
            </a:xfrm>
            <a:custGeom>
              <a:avLst/>
              <a:gdLst/>
              <a:ahLst/>
              <a:cxnLst/>
              <a:rect r="r" b="b" t="t" l="l"/>
              <a:pathLst>
                <a:path h="1080643" w="3313557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3227070" y="0"/>
                  </a:lnTo>
                  <a:cubicBezTo>
                    <a:pt x="3274822" y="0"/>
                    <a:pt x="3313557" y="38735"/>
                    <a:pt x="3313557" y="86487"/>
                  </a:cubicBezTo>
                  <a:lnTo>
                    <a:pt x="3313557" y="994156"/>
                  </a:lnTo>
                  <a:cubicBezTo>
                    <a:pt x="3313557" y="1041908"/>
                    <a:pt x="3274822" y="1080643"/>
                    <a:pt x="3227070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67245" y="6195289"/>
            <a:ext cx="113883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0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compare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6406" y="7379989"/>
            <a:ext cx="20362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max()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34230" y="7440225"/>
            <a:ext cx="30657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Largest value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238513" y="7268013"/>
            <a:ext cx="4132316" cy="810444"/>
            <a:chOff x="0" y="0"/>
            <a:chExt cx="5509755" cy="1080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09768" cy="1080643"/>
            </a:xfrm>
            <a:custGeom>
              <a:avLst/>
              <a:gdLst/>
              <a:ahLst/>
              <a:cxnLst/>
              <a:rect r="r" b="b" t="t" l="l"/>
              <a:pathLst>
                <a:path h="1080643" w="5509768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5423281" y="0"/>
                  </a:lnTo>
                  <a:cubicBezTo>
                    <a:pt x="5471033" y="0"/>
                    <a:pt x="5509768" y="38735"/>
                    <a:pt x="5509768" y="86487"/>
                  </a:cubicBezTo>
                  <a:lnTo>
                    <a:pt x="5509768" y="994156"/>
                  </a:lnTo>
                  <a:cubicBezTo>
                    <a:pt x="5509768" y="1041908"/>
                    <a:pt x="5471033" y="1080643"/>
                    <a:pt x="5423281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6511033" y="7502433"/>
            <a:ext cx="358727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max(li)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21200" y="7392600"/>
            <a:ext cx="279116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3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994111" y="7268013"/>
            <a:ext cx="2485111" cy="810444"/>
            <a:chOff x="0" y="0"/>
            <a:chExt cx="3313481" cy="1080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13557" cy="1080643"/>
            </a:xfrm>
            <a:custGeom>
              <a:avLst/>
              <a:gdLst/>
              <a:ahLst/>
              <a:cxnLst/>
              <a:rect r="r" b="b" t="t" l="l"/>
              <a:pathLst>
                <a:path h="1080643" w="3313557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3227070" y="0"/>
                  </a:lnTo>
                  <a:cubicBezTo>
                    <a:pt x="3274822" y="0"/>
                    <a:pt x="3313557" y="38735"/>
                    <a:pt x="3313557" y="86487"/>
                  </a:cubicBezTo>
                  <a:lnTo>
                    <a:pt x="3313557" y="994156"/>
                  </a:lnTo>
                  <a:cubicBezTo>
                    <a:pt x="3313557" y="1041908"/>
                    <a:pt x="3274822" y="1080643"/>
                    <a:pt x="3227070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4667245" y="7499328"/>
            <a:ext cx="113883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0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compare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22356" y="8983856"/>
            <a:ext cx="15456865" cy="769268"/>
            <a:chOff x="0" y="0"/>
            <a:chExt cx="20609154" cy="10256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609179" cy="1025652"/>
            </a:xfrm>
            <a:custGeom>
              <a:avLst/>
              <a:gdLst/>
              <a:ahLst/>
              <a:cxnLst/>
              <a:rect r="r" b="b" t="t" l="l"/>
              <a:pathLst>
                <a:path h="1025652" w="20609179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20527138" y="0"/>
                  </a:lnTo>
                  <a:cubicBezTo>
                    <a:pt x="20572476" y="0"/>
                    <a:pt x="20609179" y="36703"/>
                    <a:pt x="20609179" y="82042"/>
                  </a:cubicBezTo>
                  <a:lnTo>
                    <a:pt x="20609179" y="943610"/>
                  </a:lnTo>
                  <a:cubicBezTo>
                    <a:pt x="20609179" y="988949"/>
                    <a:pt x="20572476" y="1025652"/>
                    <a:pt x="20527138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7EFD2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349759" y="9242622"/>
            <a:ext cx="915903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Instructor note: sort() changes the list in place; sorted(li) returns a new sorted list.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ACCESS PATTERNS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Indexing &amp; slicing: zoom in on a list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24405"/>
            <a:ext cx="8318964" cy="5024552"/>
            <a:chOff x="0" y="0"/>
            <a:chExt cx="11091951" cy="6699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1926" cy="6699377"/>
            </a:xfrm>
            <a:custGeom>
              <a:avLst/>
              <a:gdLst/>
              <a:ahLst/>
              <a:cxnLst/>
              <a:rect r="r" b="b" t="t" l="l"/>
              <a:pathLst>
                <a:path h="6699377" w="11091926">
                  <a:moveTo>
                    <a:pt x="0" y="535940"/>
                  </a:moveTo>
                  <a:cubicBezTo>
                    <a:pt x="0" y="239903"/>
                    <a:pt x="239903" y="0"/>
                    <a:pt x="535940" y="0"/>
                  </a:cubicBezTo>
                  <a:lnTo>
                    <a:pt x="10555986" y="0"/>
                  </a:lnTo>
                  <a:cubicBezTo>
                    <a:pt x="10852023" y="0"/>
                    <a:pt x="11091926" y="239903"/>
                    <a:pt x="11091926" y="535940"/>
                  </a:cubicBezTo>
                  <a:lnTo>
                    <a:pt x="11091926" y="6163437"/>
                  </a:lnTo>
                  <a:cubicBezTo>
                    <a:pt x="11091926" y="6459474"/>
                    <a:pt x="10852023" y="6699377"/>
                    <a:pt x="10555986" y="6699377"/>
                  </a:cubicBezTo>
                  <a:lnTo>
                    <a:pt x="535940" y="6699377"/>
                  </a:lnTo>
                  <a:cubicBezTo>
                    <a:pt x="239903" y="6699377"/>
                    <a:pt x="0" y="6459474"/>
                    <a:pt x="0" y="6163437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41994"/>
            <a:ext cx="771907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FROM THE PDF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51290"/>
            <a:ext cx="7773934" cy="422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 = ['apple', 'orange', 'mango', 'banana']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li[0]    # 'apple'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li[1:]   # ['orange', 'mango', 'banana']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li[:2]   # ['apple', 'orange']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07454" y="2120494"/>
            <a:ext cx="6671758" cy="1455601"/>
            <a:chOff x="0" y="0"/>
            <a:chExt cx="8895677" cy="1940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95842" cy="1940814"/>
            </a:xfrm>
            <a:custGeom>
              <a:avLst/>
              <a:gdLst/>
              <a:ahLst/>
              <a:cxnLst/>
              <a:rect r="r" b="b" t="t" l="l"/>
              <a:pathLst>
                <a:path h="1940814" w="8895842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8740521" y="0"/>
                  </a:lnTo>
                  <a:cubicBezTo>
                    <a:pt x="8826246" y="0"/>
                    <a:pt x="8895842" y="69469"/>
                    <a:pt x="8895842" y="155321"/>
                  </a:cubicBezTo>
                  <a:lnTo>
                    <a:pt x="8895842" y="1785493"/>
                  </a:lnTo>
                  <a:cubicBezTo>
                    <a:pt x="8895842" y="1871218"/>
                    <a:pt x="8826373" y="1940814"/>
                    <a:pt x="8740521" y="1940814"/>
                  </a:cubicBezTo>
                  <a:lnTo>
                    <a:pt x="155321" y="1940814"/>
                  </a:lnTo>
                  <a:cubicBezTo>
                    <a:pt x="69469" y="1940814"/>
                    <a:pt x="0" y="1871345"/>
                    <a:pt x="0" y="1785493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03494" y="2461622"/>
            <a:ext cx="5811050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Index → one element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03494" y="2890228"/>
            <a:ext cx="292844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li[0]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07454" y="3863788"/>
            <a:ext cx="6671758" cy="1455601"/>
            <a:chOff x="0" y="0"/>
            <a:chExt cx="8895677" cy="1940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95842" cy="1940814"/>
            </a:xfrm>
            <a:custGeom>
              <a:avLst/>
              <a:gdLst/>
              <a:ahLst/>
              <a:cxnLst/>
              <a:rect r="r" b="b" t="t" l="l"/>
              <a:pathLst>
                <a:path h="1940814" w="8895842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8740521" y="0"/>
                  </a:lnTo>
                  <a:cubicBezTo>
                    <a:pt x="8826246" y="0"/>
                    <a:pt x="8895842" y="69469"/>
                    <a:pt x="8895842" y="155321"/>
                  </a:cubicBezTo>
                  <a:lnTo>
                    <a:pt x="8895842" y="1785493"/>
                  </a:lnTo>
                  <a:cubicBezTo>
                    <a:pt x="8895842" y="1871218"/>
                    <a:pt x="8826373" y="1940814"/>
                    <a:pt x="8740521" y="1940814"/>
                  </a:cubicBezTo>
                  <a:lnTo>
                    <a:pt x="155321" y="1940814"/>
                  </a:lnTo>
                  <a:cubicBezTo>
                    <a:pt x="69469" y="1940814"/>
                    <a:pt x="0" y="1871345"/>
                    <a:pt x="0" y="1785493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03494" y="4204916"/>
            <a:ext cx="5811050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Slice → a range of elements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03494" y="4633522"/>
            <a:ext cx="292844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li[1:]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07454" y="5620807"/>
            <a:ext cx="6671758" cy="1455601"/>
            <a:chOff x="0" y="0"/>
            <a:chExt cx="8895677" cy="19408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95842" cy="1940814"/>
            </a:xfrm>
            <a:custGeom>
              <a:avLst/>
              <a:gdLst/>
              <a:ahLst/>
              <a:cxnLst/>
              <a:rect r="r" b="b" t="t" l="l"/>
              <a:pathLst>
                <a:path h="1940814" w="8895842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8740521" y="0"/>
                  </a:lnTo>
                  <a:cubicBezTo>
                    <a:pt x="8826246" y="0"/>
                    <a:pt x="8895842" y="69469"/>
                    <a:pt x="8895842" y="155321"/>
                  </a:cubicBezTo>
                  <a:lnTo>
                    <a:pt x="8895842" y="1785493"/>
                  </a:lnTo>
                  <a:cubicBezTo>
                    <a:pt x="8895842" y="1871218"/>
                    <a:pt x="8826373" y="1940814"/>
                    <a:pt x="8740521" y="1940814"/>
                  </a:cubicBezTo>
                  <a:lnTo>
                    <a:pt x="155321" y="1940814"/>
                  </a:lnTo>
                  <a:cubicBezTo>
                    <a:pt x="69469" y="1940814"/>
                    <a:pt x="0" y="1871345"/>
                    <a:pt x="0" y="1785493"/>
                  </a:cubicBezTo>
                  <a:close/>
                </a:path>
              </a:pathLst>
            </a:custGeom>
            <a:solidFill>
              <a:srgbClr val="E4EBF4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203494" y="5961936"/>
            <a:ext cx="5811050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Mixed lists are allowed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50631" y="6375778"/>
            <a:ext cx="5710885" cy="673179"/>
            <a:chOff x="0" y="0"/>
            <a:chExt cx="7614514" cy="897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14412" cy="897509"/>
            </a:xfrm>
            <a:custGeom>
              <a:avLst/>
              <a:gdLst/>
              <a:ahLst/>
              <a:cxnLst/>
              <a:rect r="r" b="b" t="t" l="l"/>
              <a:pathLst>
                <a:path h="897509" w="7614412">
                  <a:moveTo>
                    <a:pt x="0" y="71755"/>
                  </a:moveTo>
                  <a:cubicBezTo>
                    <a:pt x="0" y="32131"/>
                    <a:pt x="32131" y="0"/>
                    <a:pt x="71755" y="0"/>
                  </a:cubicBezTo>
                  <a:lnTo>
                    <a:pt x="7542657" y="0"/>
                  </a:lnTo>
                  <a:cubicBezTo>
                    <a:pt x="7582281" y="0"/>
                    <a:pt x="7614412" y="32131"/>
                    <a:pt x="7614412" y="71755"/>
                  </a:cubicBezTo>
                  <a:lnTo>
                    <a:pt x="7614412" y="825754"/>
                  </a:lnTo>
                  <a:cubicBezTo>
                    <a:pt x="7614412" y="865378"/>
                    <a:pt x="7582281" y="897509"/>
                    <a:pt x="7542657" y="897509"/>
                  </a:cubicBezTo>
                  <a:lnTo>
                    <a:pt x="71755" y="897509"/>
                  </a:lnTo>
                  <a:cubicBezTo>
                    <a:pt x="32131" y="897636"/>
                    <a:pt x="0" y="865378"/>
                    <a:pt x="0" y="825754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423141" y="6610198"/>
            <a:ext cx="5165855" cy="16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['Hai', 2, 5.999]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2.1.5 TUPLES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Tuples: like lists, but locked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4044" y="2026568"/>
            <a:ext cx="7545157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tuple is an immutable linear data structure. Once created, its values cannot be changed.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170" y="3424533"/>
            <a:ext cx="7289463" cy="3240081"/>
            <a:chOff x="0" y="0"/>
            <a:chExt cx="9719285" cy="43201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9183" cy="4320032"/>
            </a:xfrm>
            <a:custGeom>
              <a:avLst/>
              <a:gdLst/>
              <a:ahLst/>
              <a:cxnLst/>
              <a:rect r="r" b="b" t="t" l="l"/>
              <a:pathLst>
                <a:path h="4320032" w="9719183">
                  <a:moveTo>
                    <a:pt x="0" y="345567"/>
                  </a:moveTo>
                  <a:cubicBezTo>
                    <a:pt x="0" y="154686"/>
                    <a:pt x="154686" y="0"/>
                    <a:pt x="345567" y="0"/>
                  </a:cubicBezTo>
                  <a:lnTo>
                    <a:pt x="9373616" y="0"/>
                  </a:lnTo>
                  <a:cubicBezTo>
                    <a:pt x="9564498" y="0"/>
                    <a:pt x="9719183" y="154686"/>
                    <a:pt x="9719183" y="345567"/>
                  </a:cubicBezTo>
                  <a:lnTo>
                    <a:pt x="9719183" y="3974465"/>
                  </a:lnTo>
                  <a:cubicBezTo>
                    <a:pt x="9719183" y="4165346"/>
                    <a:pt x="9564498" y="4320032"/>
                    <a:pt x="9373616" y="4320032"/>
                  </a:cubicBezTo>
                  <a:lnTo>
                    <a:pt x="345567" y="4320032"/>
                  </a:lnTo>
                  <a:cubicBezTo>
                    <a:pt x="154686" y="4320159"/>
                    <a:pt x="0" y="4165346"/>
                    <a:pt x="0" y="3974465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81122" y="3642122"/>
            <a:ext cx="668956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SYNTAX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690" y="3951418"/>
            <a:ext cx="674442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nums = (10, 20, 30)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student = ('John Smith', 48, 'CS', 3.42)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empty = ()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777954" y="2120494"/>
            <a:ext cx="7495365" cy="1730140"/>
            <a:chOff x="0" y="0"/>
            <a:chExt cx="9993820" cy="2306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3757" cy="2306828"/>
            </a:xfrm>
            <a:custGeom>
              <a:avLst/>
              <a:gdLst/>
              <a:ahLst/>
              <a:cxnLst/>
              <a:rect r="r" b="b" t="t" l="l"/>
              <a:pathLst>
                <a:path h="2306828" w="9993757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809226" y="0"/>
                  </a:lnTo>
                  <a:cubicBezTo>
                    <a:pt x="9911207" y="0"/>
                    <a:pt x="9993757" y="82677"/>
                    <a:pt x="9993757" y="184531"/>
                  </a:cubicBezTo>
                  <a:lnTo>
                    <a:pt x="9993757" y="2122297"/>
                  </a:lnTo>
                  <a:cubicBezTo>
                    <a:pt x="9993757" y="2224278"/>
                    <a:pt x="9911080" y="2306828"/>
                    <a:pt x="9809226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077906" y="2383469"/>
            <a:ext cx="485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4239" y="2373944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Use parentheses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4239" y="3014891"/>
            <a:ext cx="6044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Tuples are commonly written with ( 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77954" y="4110866"/>
            <a:ext cx="7495365" cy="1730140"/>
            <a:chOff x="0" y="0"/>
            <a:chExt cx="9993820" cy="2306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3757" cy="2306828"/>
            </a:xfrm>
            <a:custGeom>
              <a:avLst/>
              <a:gdLst/>
              <a:ahLst/>
              <a:cxnLst/>
              <a:rect r="r" b="b" t="t" l="l"/>
              <a:pathLst>
                <a:path h="2306828" w="9993757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809226" y="0"/>
                  </a:lnTo>
                  <a:cubicBezTo>
                    <a:pt x="9911207" y="0"/>
                    <a:pt x="9993757" y="82677"/>
                    <a:pt x="9993757" y="184531"/>
                  </a:cubicBezTo>
                  <a:lnTo>
                    <a:pt x="9993757" y="2122297"/>
                  </a:lnTo>
                  <a:cubicBezTo>
                    <a:pt x="9993757" y="2224278"/>
                    <a:pt x="9911080" y="2306828"/>
                    <a:pt x="9809226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E4EBF4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077906" y="4373842"/>
            <a:ext cx="485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4239" y="4364317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Immutable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4239" y="5005273"/>
            <a:ext cx="6044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No update, insert, delete or append operations.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77954" y="6101239"/>
            <a:ext cx="7495365" cy="1730140"/>
            <a:chOff x="0" y="0"/>
            <a:chExt cx="9993820" cy="23068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3757" cy="2306828"/>
            </a:xfrm>
            <a:custGeom>
              <a:avLst/>
              <a:gdLst/>
              <a:ahLst/>
              <a:cxnLst/>
              <a:rect r="r" b="b" t="t" l="l"/>
              <a:pathLst>
                <a:path h="2306828" w="9993757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809226" y="0"/>
                  </a:lnTo>
                  <a:cubicBezTo>
                    <a:pt x="9911207" y="0"/>
                    <a:pt x="9993757" y="82677"/>
                    <a:pt x="9993757" y="184531"/>
                  </a:cubicBezTo>
                  <a:lnTo>
                    <a:pt x="9993757" y="2122297"/>
                  </a:lnTo>
                  <a:cubicBezTo>
                    <a:pt x="9993757" y="2224278"/>
                    <a:pt x="9911080" y="2306828"/>
                    <a:pt x="9809226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077906" y="6364214"/>
            <a:ext cx="485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4239" y="6354689"/>
            <a:ext cx="618167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Still a sequence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64239" y="6995646"/>
            <a:ext cx="60444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Indexing, negative indexing and slicing work.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ACCESS • CONCATENATE • MEASURE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Tuple operations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09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24405"/>
            <a:ext cx="7495365" cy="6397228"/>
            <a:chOff x="0" y="0"/>
            <a:chExt cx="9993820" cy="8529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93757" cy="8529574"/>
            </a:xfrm>
            <a:custGeom>
              <a:avLst/>
              <a:gdLst/>
              <a:ahLst/>
              <a:cxnLst/>
              <a:rect r="r" b="b" t="t" l="l"/>
              <a:pathLst>
                <a:path h="8529574" w="9993757">
                  <a:moveTo>
                    <a:pt x="0" y="682371"/>
                  </a:moveTo>
                  <a:cubicBezTo>
                    <a:pt x="0" y="305562"/>
                    <a:pt x="305562" y="0"/>
                    <a:pt x="682371" y="0"/>
                  </a:cubicBezTo>
                  <a:lnTo>
                    <a:pt x="9311386" y="0"/>
                  </a:lnTo>
                  <a:cubicBezTo>
                    <a:pt x="9688195" y="0"/>
                    <a:pt x="9993757" y="305562"/>
                    <a:pt x="9993757" y="682371"/>
                  </a:cubicBezTo>
                  <a:lnTo>
                    <a:pt x="9993757" y="7847203"/>
                  </a:lnTo>
                  <a:cubicBezTo>
                    <a:pt x="9993757" y="8224012"/>
                    <a:pt x="9688195" y="8529574"/>
                    <a:pt x="9311386" y="8529574"/>
                  </a:cubicBezTo>
                  <a:lnTo>
                    <a:pt x="682371" y="8529574"/>
                  </a:lnTo>
                  <a:cubicBezTo>
                    <a:pt x="305562" y="8529574"/>
                    <a:pt x="0" y="8224139"/>
                    <a:pt x="0" y="784720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41994"/>
            <a:ext cx="68954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INDEXING + SLICING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51290"/>
            <a:ext cx="6950326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tu = (1, 2, 3)</a:t>
            </a:r>
          </a:p>
          <a:p>
            <a:pPr algn="l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print(tu[0])     # 1</a:t>
            </a:r>
          </a:p>
          <a:p>
            <a:pPr algn="l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print(tu[-1])    # 3</a:t>
            </a:r>
          </a:p>
          <a:p>
            <a:pPr algn="l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print(tu[1:2])   # (2,)</a:t>
            </a:r>
          </a:p>
          <a:p>
            <a:pPr algn="l">
              <a:lnSpc>
                <a:spcPts val="2821"/>
              </a:lnSpc>
            </a:pPr>
          </a:p>
          <a:p>
            <a:pPr algn="l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print(len(tu))   # 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83856" y="2024405"/>
            <a:ext cx="7426728" cy="3514611"/>
            <a:chOff x="0" y="0"/>
            <a:chExt cx="9902304" cy="46861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02317" cy="4686173"/>
            </a:xfrm>
            <a:custGeom>
              <a:avLst/>
              <a:gdLst/>
              <a:ahLst/>
              <a:cxnLst/>
              <a:rect r="r" b="b" t="t" l="l"/>
              <a:pathLst>
                <a:path h="4686173" w="9902317">
                  <a:moveTo>
                    <a:pt x="0" y="374904"/>
                  </a:moveTo>
                  <a:cubicBezTo>
                    <a:pt x="0" y="167894"/>
                    <a:pt x="167894" y="0"/>
                    <a:pt x="374904" y="0"/>
                  </a:cubicBezTo>
                  <a:lnTo>
                    <a:pt x="9527413" y="0"/>
                  </a:lnTo>
                  <a:cubicBezTo>
                    <a:pt x="9734423" y="0"/>
                    <a:pt x="9902317" y="167894"/>
                    <a:pt x="9902317" y="374904"/>
                  </a:cubicBezTo>
                  <a:lnTo>
                    <a:pt x="9902317" y="4311269"/>
                  </a:lnTo>
                  <a:cubicBezTo>
                    <a:pt x="9902317" y="4518279"/>
                    <a:pt x="9734423" y="4686173"/>
                    <a:pt x="9527413" y="4686173"/>
                  </a:cubicBezTo>
                  <a:lnTo>
                    <a:pt x="374904" y="4686173"/>
                  </a:lnTo>
                  <a:cubicBezTo>
                    <a:pt x="167894" y="4686173"/>
                    <a:pt x="0" y="4518279"/>
                    <a:pt x="0" y="431126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283808" y="2241994"/>
            <a:ext cx="682682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CONCATENATION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6376" y="2551290"/>
            <a:ext cx="688168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tu1 = (1, 3, 4)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tu2 = ('red', 'green', 'blue')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print(tu1 + tu2)</a:t>
            </a:r>
          </a:p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# (1, 3, 4, 'red', 'green', 'blue')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83856" y="5922797"/>
            <a:ext cx="7426728" cy="2485111"/>
            <a:chOff x="0" y="0"/>
            <a:chExt cx="9902304" cy="33134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2317" cy="3313430"/>
            </a:xfrm>
            <a:custGeom>
              <a:avLst/>
              <a:gdLst/>
              <a:ahLst/>
              <a:cxnLst/>
              <a:rect r="r" b="b" t="t" l="l"/>
              <a:pathLst>
                <a:path h="3313430" w="9902317">
                  <a:moveTo>
                    <a:pt x="0" y="265049"/>
                  </a:moveTo>
                  <a:cubicBezTo>
                    <a:pt x="0" y="118618"/>
                    <a:pt x="118618" y="0"/>
                    <a:pt x="265049" y="0"/>
                  </a:cubicBezTo>
                  <a:lnTo>
                    <a:pt x="9637268" y="0"/>
                  </a:lnTo>
                  <a:cubicBezTo>
                    <a:pt x="9783700" y="0"/>
                    <a:pt x="9902317" y="118618"/>
                    <a:pt x="9902317" y="265049"/>
                  </a:cubicBezTo>
                  <a:lnTo>
                    <a:pt x="9902317" y="3048381"/>
                  </a:lnTo>
                  <a:cubicBezTo>
                    <a:pt x="9902317" y="3194812"/>
                    <a:pt x="9783700" y="3313430"/>
                    <a:pt x="9637268" y="3313430"/>
                  </a:cubicBezTo>
                  <a:lnTo>
                    <a:pt x="265049" y="3313430"/>
                  </a:lnTo>
                  <a:cubicBezTo>
                    <a:pt x="118618" y="3313430"/>
                    <a:pt x="0" y="3194812"/>
                    <a:pt x="0" y="3048381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379896" y="6323038"/>
            <a:ext cx="249927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min() / max()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9896" y="6936534"/>
            <a:ext cx="629149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Like lists, they work naturally when the tuple values are comparable.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955" y="9860328"/>
            <a:ext cx="88309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•  SESSION 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2.1.6 SEQUENCES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Sequences: one mental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4044" y="1967465"/>
            <a:ext cx="14733422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Lists, tuples and strings are all sequences: ordered collections whose elements can be accessed by position.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2356" y="3493170"/>
            <a:ext cx="4887287" cy="1867405"/>
            <a:chOff x="0" y="0"/>
            <a:chExt cx="6516383" cy="24898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16370" cy="2489835"/>
            </a:xfrm>
            <a:custGeom>
              <a:avLst/>
              <a:gdLst/>
              <a:ahLst/>
              <a:cxnLst/>
              <a:rect r="r" b="b" t="t" l="l"/>
              <a:pathLst>
                <a:path h="2489835" w="651637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6317234" y="0"/>
                  </a:lnTo>
                  <a:cubicBezTo>
                    <a:pt x="6427216" y="0"/>
                    <a:pt x="6516370" y="89154"/>
                    <a:pt x="6516370" y="199136"/>
                  </a:cubicBezTo>
                  <a:lnTo>
                    <a:pt x="6516370" y="2290699"/>
                  </a:lnTo>
                  <a:cubicBezTo>
                    <a:pt x="6516370" y="2400681"/>
                    <a:pt x="6427216" y="2489835"/>
                    <a:pt x="6317234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49759" y="381104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LIST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759" y="4216403"/>
            <a:ext cx="416384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[10, 20, 30]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13043" y="3493170"/>
            <a:ext cx="4887287" cy="1867405"/>
            <a:chOff x="0" y="0"/>
            <a:chExt cx="6516383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6370" cy="2489835"/>
            </a:xfrm>
            <a:custGeom>
              <a:avLst/>
              <a:gdLst/>
              <a:ahLst/>
              <a:cxnLst/>
              <a:rect r="r" b="b" t="t" l="l"/>
              <a:pathLst>
                <a:path h="2489835" w="651637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6317234" y="0"/>
                  </a:lnTo>
                  <a:cubicBezTo>
                    <a:pt x="6427216" y="0"/>
                    <a:pt x="6516370" y="89154"/>
                    <a:pt x="6516370" y="199136"/>
                  </a:cubicBezTo>
                  <a:lnTo>
                    <a:pt x="6516370" y="2290699"/>
                  </a:lnTo>
                  <a:cubicBezTo>
                    <a:pt x="6516370" y="2400681"/>
                    <a:pt x="6427216" y="2489835"/>
                    <a:pt x="6317234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840445" y="381104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TUPLE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0445" y="4216403"/>
            <a:ext cx="416384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(10, 20, 30)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03738" y="3493170"/>
            <a:ext cx="4887287" cy="1867405"/>
            <a:chOff x="0" y="0"/>
            <a:chExt cx="6516383" cy="24898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16370" cy="2489835"/>
            </a:xfrm>
            <a:custGeom>
              <a:avLst/>
              <a:gdLst/>
              <a:ahLst/>
              <a:cxnLst/>
              <a:rect r="r" b="b" t="t" l="l"/>
              <a:pathLst>
                <a:path h="2489835" w="651637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6317234" y="0"/>
                  </a:lnTo>
                  <a:cubicBezTo>
                    <a:pt x="6427216" y="0"/>
                    <a:pt x="6516370" y="89154"/>
                    <a:pt x="6516370" y="199136"/>
                  </a:cubicBezTo>
                  <a:lnTo>
                    <a:pt x="6516370" y="2290699"/>
                  </a:lnTo>
                  <a:cubicBezTo>
                    <a:pt x="6516370" y="2400681"/>
                    <a:pt x="6427216" y="2489835"/>
                    <a:pt x="6317234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31141" y="381104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7B6CA4"/>
                </a:solidFill>
                <a:latin typeface="Aptos Bold"/>
                <a:ea typeface="Aptos Bold"/>
                <a:cs typeface="Aptos Bold"/>
                <a:sym typeface="Aptos Bold"/>
              </a:rPr>
              <a:t>STRING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31141" y="4216403"/>
            <a:ext cx="416384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"abc"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2356" y="5963974"/>
            <a:ext cx="4887287" cy="1139885"/>
            <a:chOff x="0" y="0"/>
            <a:chExt cx="6516383" cy="15198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16370" cy="1519809"/>
            </a:xfrm>
            <a:custGeom>
              <a:avLst/>
              <a:gdLst/>
              <a:ahLst/>
              <a:cxnLst/>
              <a:rect r="r" b="b" t="t" l="l"/>
              <a:pathLst>
                <a:path h="1519809" w="6516370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394831" y="0"/>
                  </a:lnTo>
                  <a:cubicBezTo>
                    <a:pt x="6462014" y="0"/>
                    <a:pt x="6516370" y="54483"/>
                    <a:pt x="6516370" y="121539"/>
                  </a:cubicBezTo>
                  <a:lnTo>
                    <a:pt x="6516370" y="1398270"/>
                  </a:lnTo>
                  <a:cubicBezTo>
                    <a:pt x="6516370" y="1465453"/>
                    <a:pt x="6461887" y="1519809"/>
                    <a:pt x="6394831" y="1519809"/>
                  </a:cubicBezTo>
                  <a:lnTo>
                    <a:pt x="121539" y="1519809"/>
                  </a:lnTo>
                  <a:cubicBezTo>
                    <a:pt x="54356" y="1519809"/>
                    <a:pt x="0" y="1465326"/>
                    <a:pt x="0" y="1398270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81122" y="6133938"/>
            <a:ext cx="17616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len(s)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34230" y="6181563"/>
            <a:ext cx="237937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How many elements?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3043" y="5963974"/>
            <a:ext cx="4887287" cy="1139885"/>
            <a:chOff x="0" y="0"/>
            <a:chExt cx="6516383" cy="15198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16370" cy="1519809"/>
            </a:xfrm>
            <a:custGeom>
              <a:avLst/>
              <a:gdLst/>
              <a:ahLst/>
              <a:cxnLst/>
              <a:rect r="r" b="b" t="t" l="l"/>
              <a:pathLst>
                <a:path h="1519809" w="6516370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394831" y="0"/>
                  </a:lnTo>
                  <a:cubicBezTo>
                    <a:pt x="6462014" y="0"/>
                    <a:pt x="6516370" y="54483"/>
                    <a:pt x="6516370" y="121539"/>
                  </a:cubicBezTo>
                  <a:lnTo>
                    <a:pt x="6516370" y="1398270"/>
                  </a:lnTo>
                  <a:cubicBezTo>
                    <a:pt x="6516370" y="1465453"/>
                    <a:pt x="6461887" y="1519809"/>
                    <a:pt x="6394831" y="1519809"/>
                  </a:cubicBezTo>
                  <a:lnTo>
                    <a:pt x="121539" y="1519809"/>
                  </a:lnTo>
                  <a:cubicBezTo>
                    <a:pt x="54356" y="1519809"/>
                    <a:pt x="0" y="1465326"/>
                    <a:pt x="0" y="1398270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771818" y="6133938"/>
            <a:ext cx="17616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s[k]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24926" y="6181563"/>
            <a:ext cx="237937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Element at index k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03738" y="5963974"/>
            <a:ext cx="4887287" cy="1139885"/>
            <a:chOff x="0" y="0"/>
            <a:chExt cx="6516383" cy="1519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16370" cy="1519809"/>
            </a:xfrm>
            <a:custGeom>
              <a:avLst/>
              <a:gdLst/>
              <a:ahLst/>
              <a:cxnLst/>
              <a:rect r="r" b="b" t="t" l="l"/>
              <a:pathLst>
                <a:path h="1519809" w="6516370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394831" y="0"/>
                  </a:lnTo>
                  <a:cubicBezTo>
                    <a:pt x="6462014" y="0"/>
                    <a:pt x="6516370" y="54483"/>
                    <a:pt x="6516370" y="121539"/>
                  </a:cubicBezTo>
                  <a:lnTo>
                    <a:pt x="6516370" y="1398270"/>
                  </a:lnTo>
                  <a:cubicBezTo>
                    <a:pt x="6516370" y="1465453"/>
                    <a:pt x="6461887" y="1519809"/>
                    <a:pt x="6394831" y="1519809"/>
                  </a:cubicBezTo>
                  <a:lnTo>
                    <a:pt x="121539" y="1519809"/>
                  </a:lnTo>
                  <a:cubicBezTo>
                    <a:pt x="54356" y="1519809"/>
                    <a:pt x="0" y="1465326"/>
                    <a:pt x="0" y="1398270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262504" y="6133938"/>
            <a:ext cx="17616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s[a:b]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15612" y="6181563"/>
            <a:ext cx="237937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Slice from a to before b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2356" y="7405278"/>
            <a:ext cx="4887287" cy="1139885"/>
            <a:chOff x="0" y="0"/>
            <a:chExt cx="6516383" cy="1519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16370" cy="1519809"/>
            </a:xfrm>
            <a:custGeom>
              <a:avLst/>
              <a:gdLst/>
              <a:ahLst/>
              <a:cxnLst/>
              <a:rect r="r" b="b" t="t" l="l"/>
              <a:pathLst>
                <a:path h="1519809" w="6516370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394831" y="0"/>
                  </a:lnTo>
                  <a:cubicBezTo>
                    <a:pt x="6462014" y="0"/>
                    <a:pt x="6516370" y="54483"/>
                    <a:pt x="6516370" y="121539"/>
                  </a:cubicBezTo>
                  <a:lnTo>
                    <a:pt x="6516370" y="1398270"/>
                  </a:lnTo>
                  <a:cubicBezTo>
                    <a:pt x="6516370" y="1465453"/>
                    <a:pt x="6461887" y="1519809"/>
                    <a:pt x="6394831" y="1519809"/>
                  </a:cubicBezTo>
                  <a:lnTo>
                    <a:pt x="121539" y="1519809"/>
                  </a:lnTo>
                  <a:cubicBezTo>
                    <a:pt x="54356" y="1519809"/>
                    <a:pt x="0" y="1465326"/>
                    <a:pt x="0" y="1398270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81122" y="7575242"/>
            <a:ext cx="17616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s.count(x)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34230" y="7622867"/>
            <a:ext cx="237937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How many x values?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13043" y="7405278"/>
            <a:ext cx="4887287" cy="1139885"/>
            <a:chOff x="0" y="0"/>
            <a:chExt cx="6516383" cy="15198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16370" cy="1519809"/>
            </a:xfrm>
            <a:custGeom>
              <a:avLst/>
              <a:gdLst/>
              <a:ahLst/>
              <a:cxnLst/>
              <a:rect r="r" b="b" t="t" l="l"/>
              <a:pathLst>
                <a:path h="1519809" w="6516370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394831" y="0"/>
                  </a:lnTo>
                  <a:cubicBezTo>
                    <a:pt x="6462014" y="0"/>
                    <a:pt x="6516370" y="54483"/>
                    <a:pt x="6516370" y="121539"/>
                  </a:cubicBezTo>
                  <a:lnTo>
                    <a:pt x="6516370" y="1398270"/>
                  </a:lnTo>
                  <a:cubicBezTo>
                    <a:pt x="6516370" y="1465453"/>
                    <a:pt x="6461887" y="1519809"/>
                    <a:pt x="6394831" y="1519809"/>
                  </a:cubicBezTo>
                  <a:lnTo>
                    <a:pt x="121539" y="1519809"/>
                  </a:lnTo>
                  <a:cubicBezTo>
                    <a:pt x="54356" y="1519809"/>
                    <a:pt x="0" y="1465326"/>
                    <a:pt x="0" y="1398270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6771818" y="7575242"/>
            <a:ext cx="17616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2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s1 + s2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24926" y="7622867"/>
            <a:ext cx="237937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Concatenate sequences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2.1.7 NESTED LISTS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Nested lists: collections inside collections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83229"/>
            <a:ext cx="8593503" cy="6397228"/>
            <a:chOff x="0" y="0"/>
            <a:chExt cx="11458004" cy="8529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57939" cy="8529574"/>
            </a:xfrm>
            <a:custGeom>
              <a:avLst/>
              <a:gdLst/>
              <a:ahLst/>
              <a:cxnLst/>
              <a:rect r="r" b="b" t="t" l="l"/>
              <a:pathLst>
                <a:path h="8529574" w="11457939">
                  <a:moveTo>
                    <a:pt x="0" y="682371"/>
                  </a:moveTo>
                  <a:cubicBezTo>
                    <a:pt x="0" y="305562"/>
                    <a:pt x="305562" y="0"/>
                    <a:pt x="682371" y="0"/>
                  </a:cubicBezTo>
                  <a:lnTo>
                    <a:pt x="10775569" y="0"/>
                  </a:lnTo>
                  <a:cubicBezTo>
                    <a:pt x="11152377" y="0"/>
                    <a:pt x="11457939" y="305562"/>
                    <a:pt x="11457939" y="682371"/>
                  </a:cubicBezTo>
                  <a:lnTo>
                    <a:pt x="11457939" y="7847203"/>
                  </a:lnTo>
                  <a:cubicBezTo>
                    <a:pt x="11457939" y="8224012"/>
                    <a:pt x="11152377" y="8529574"/>
                    <a:pt x="10775569" y="8529574"/>
                  </a:cubicBezTo>
                  <a:lnTo>
                    <a:pt x="682371" y="8529574"/>
                  </a:lnTo>
                  <a:cubicBezTo>
                    <a:pt x="305562" y="8529574"/>
                    <a:pt x="0" y="8224139"/>
                    <a:pt x="0" y="784720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00818"/>
            <a:ext cx="799359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2D-LIKE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10104"/>
            <a:ext cx="8048463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class_grades = [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[85, 91, 89],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[78, 81, 86],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[62, 75, 77]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class_grades[0]     # [85, 91, 89]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class_grades[0][0]  # 85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4867" y="2163842"/>
            <a:ext cx="6291491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Think of the first index as “which student?” and the second as “which exam?”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19258" y="3973601"/>
            <a:ext cx="1455601" cy="810444"/>
            <a:chOff x="0" y="0"/>
            <a:chExt cx="1940801" cy="1080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3324" y="4143565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85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5101" y="3973601"/>
            <a:ext cx="1455601" cy="810444"/>
            <a:chOff x="0" y="0"/>
            <a:chExt cx="1940801" cy="1080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509157" y="4143565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91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50944" y="3973601"/>
            <a:ext cx="1455601" cy="810444"/>
            <a:chOff x="0" y="0"/>
            <a:chExt cx="1940801" cy="1080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E4EBF4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225001" y="4143565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89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19258" y="5071739"/>
            <a:ext cx="1455601" cy="810444"/>
            <a:chOff x="0" y="0"/>
            <a:chExt cx="1940801" cy="1080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793324" y="5241703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78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35101" y="5071739"/>
            <a:ext cx="1455601" cy="810444"/>
            <a:chOff x="0" y="0"/>
            <a:chExt cx="1940801" cy="1080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DCEB8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509157" y="5241703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81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650944" y="5071739"/>
            <a:ext cx="1455601" cy="810444"/>
            <a:chOff x="0" y="0"/>
            <a:chExt cx="1940801" cy="1080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225001" y="5241703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86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19258" y="6169876"/>
            <a:ext cx="1455601" cy="810444"/>
            <a:chOff x="0" y="0"/>
            <a:chExt cx="1940801" cy="1080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BAD1FF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793324" y="6339840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62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935101" y="6169876"/>
            <a:ext cx="1455601" cy="810444"/>
            <a:chOff x="0" y="0"/>
            <a:chExt cx="1940801" cy="1080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509157" y="6339840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75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650944" y="6169876"/>
            <a:ext cx="1455601" cy="810444"/>
            <a:chOff x="0" y="0"/>
            <a:chExt cx="1940801" cy="1080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40814" cy="1080643"/>
            </a:xfrm>
            <a:custGeom>
              <a:avLst/>
              <a:gdLst/>
              <a:ahLst/>
              <a:cxnLst/>
              <a:rect r="r" b="b" t="t" l="l"/>
              <a:pathLst>
                <a:path h="1080643" w="1940814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854327" y="0"/>
                  </a:lnTo>
                  <a:cubicBezTo>
                    <a:pt x="1902079" y="0"/>
                    <a:pt x="1940814" y="38735"/>
                    <a:pt x="1940814" y="86487"/>
                  </a:cubicBezTo>
                  <a:lnTo>
                    <a:pt x="1940814" y="994156"/>
                  </a:lnTo>
                  <a:cubicBezTo>
                    <a:pt x="1940814" y="1041908"/>
                    <a:pt x="1902079" y="1080643"/>
                    <a:pt x="1854327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A5A5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4225001" y="6339840"/>
            <a:ext cx="3074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77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72131" y="7526788"/>
            <a:ext cx="430110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student 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72131" y="8007220"/>
            <a:ext cx="430110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exam 0 → 85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2.1.8 ITERATING OVER LISTS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Iteration: visit every element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83229"/>
            <a:ext cx="7220826" cy="3102807"/>
            <a:chOff x="0" y="0"/>
            <a:chExt cx="9627768" cy="41370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27743" cy="4137025"/>
            </a:xfrm>
            <a:custGeom>
              <a:avLst/>
              <a:gdLst/>
              <a:ahLst/>
              <a:cxnLst/>
              <a:rect r="r" b="b" t="t" l="l"/>
              <a:pathLst>
                <a:path h="4137025" w="9627743">
                  <a:moveTo>
                    <a:pt x="0" y="330962"/>
                  </a:moveTo>
                  <a:cubicBezTo>
                    <a:pt x="0" y="148209"/>
                    <a:pt x="148209" y="0"/>
                    <a:pt x="330962" y="0"/>
                  </a:cubicBezTo>
                  <a:lnTo>
                    <a:pt x="9296781" y="0"/>
                  </a:lnTo>
                  <a:cubicBezTo>
                    <a:pt x="9479535" y="0"/>
                    <a:pt x="9627743" y="148209"/>
                    <a:pt x="9627743" y="330962"/>
                  </a:cubicBezTo>
                  <a:lnTo>
                    <a:pt x="9627743" y="3806063"/>
                  </a:lnTo>
                  <a:cubicBezTo>
                    <a:pt x="9627743" y="3988816"/>
                    <a:pt x="9479535" y="4137025"/>
                    <a:pt x="9296781" y="4137025"/>
                  </a:cubicBezTo>
                  <a:lnTo>
                    <a:pt x="330962" y="4137025"/>
                  </a:lnTo>
                  <a:cubicBezTo>
                    <a:pt x="148209" y="4137025"/>
                    <a:pt x="0" y="3988943"/>
                    <a:pt x="0" y="380606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191293"/>
            <a:ext cx="662093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FOR LOOP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00579"/>
            <a:ext cx="667579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li = [10, 20, 30, 40, 50]</a:t>
            </a:r>
          </a:p>
          <a:p>
            <a:pPr algn="l">
              <a:lnSpc>
                <a:spcPts val="3121"/>
              </a:lnSpc>
            </a:pPr>
          </a:p>
          <a:p>
            <a:pPr algn="l">
              <a:lnSpc>
                <a:spcPts val="3121"/>
              </a:lnSpc>
            </a:pPr>
            <a:r>
              <a:rPr lang="en-US" sz="26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for k in li:</a:t>
            </a:r>
          </a:p>
          <a:p>
            <a:pPr algn="l">
              <a:lnSpc>
                <a:spcPts val="3121"/>
              </a:lnSpc>
            </a:pPr>
            <a:r>
              <a:rPr lang="en-US" sz="26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print(k)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406" y="5467779"/>
            <a:ext cx="663465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The loop variable takes each element in turn.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46591" y="1983229"/>
            <a:ext cx="7358101" cy="3789150"/>
            <a:chOff x="0" y="0"/>
            <a:chExt cx="9810801" cy="5052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10750" cy="5052187"/>
            </a:xfrm>
            <a:custGeom>
              <a:avLst/>
              <a:gdLst/>
              <a:ahLst/>
              <a:cxnLst/>
              <a:rect r="r" b="b" t="t" l="l"/>
              <a:pathLst>
                <a:path h="5052187" w="9810750">
                  <a:moveTo>
                    <a:pt x="0" y="404114"/>
                  </a:moveTo>
                  <a:cubicBezTo>
                    <a:pt x="0" y="180975"/>
                    <a:pt x="180975" y="0"/>
                    <a:pt x="404114" y="0"/>
                  </a:cubicBezTo>
                  <a:lnTo>
                    <a:pt x="9406636" y="0"/>
                  </a:lnTo>
                  <a:cubicBezTo>
                    <a:pt x="9629902" y="0"/>
                    <a:pt x="9810750" y="180975"/>
                    <a:pt x="9810750" y="404114"/>
                  </a:cubicBezTo>
                  <a:lnTo>
                    <a:pt x="9810750" y="4648073"/>
                  </a:lnTo>
                  <a:cubicBezTo>
                    <a:pt x="9810750" y="4871339"/>
                    <a:pt x="9629775" y="5052187"/>
                    <a:pt x="9406636" y="5052187"/>
                  </a:cubicBezTo>
                  <a:lnTo>
                    <a:pt x="404114" y="5052187"/>
                  </a:lnTo>
                  <a:cubicBezTo>
                    <a:pt x="180975" y="5052187"/>
                    <a:pt x="0" y="4871212"/>
                    <a:pt x="0" y="464807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146534" y="2191293"/>
            <a:ext cx="67581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WHILE 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19102" y="2510104"/>
            <a:ext cx="681306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k = 0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while k &lt; len(li):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print(li[k])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k = k + 1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46591" y="6238513"/>
            <a:ext cx="7358101" cy="1730140"/>
            <a:chOff x="0" y="0"/>
            <a:chExt cx="9810801" cy="23068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10750" cy="2306828"/>
            </a:xfrm>
            <a:custGeom>
              <a:avLst/>
              <a:gdLst/>
              <a:ahLst/>
              <a:cxnLst/>
              <a:rect r="r" b="b" t="t" l="l"/>
              <a:pathLst>
                <a:path h="2306828" w="981075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626219" y="0"/>
                  </a:lnTo>
                  <a:cubicBezTo>
                    <a:pt x="9728200" y="0"/>
                    <a:pt x="9810750" y="82677"/>
                    <a:pt x="9810750" y="184531"/>
                  </a:cubicBezTo>
                  <a:lnTo>
                    <a:pt x="9810750" y="2122297"/>
                  </a:lnTo>
                  <a:cubicBezTo>
                    <a:pt x="9810750" y="2224278"/>
                    <a:pt x="9728073" y="2306828"/>
                    <a:pt x="962621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242622" y="6597567"/>
            <a:ext cx="189893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Rule of thumb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95730" y="6524730"/>
            <a:ext cx="464427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for → “for each item”</a:t>
            </a:r>
          </a:p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while → “while this condition holds”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THE BUILT-IN RANGE FUNCTION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range(): generate index patterns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51856"/>
            <a:ext cx="7014924" cy="3308709"/>
            <a:chOff x="0" y="0"/>
            <a:chExt cx="9353232" cy="4411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53297" cy="4411599"/>
            </a:xfrm>
            <a:custGeom>
              <a:avLst/>
              <a:gdLst/>
              <a:ahLst/>
              <a:cxnLst/>
              <a:rect r="r" b="b" t="t" l="l"/>
              <a:pathLst>
                <a:path h="4411599" w="9353297">
                  <a:moveTo>
                    <a:pt x="0" y="352933"/>
                  </a:moveTo>
                  <a:cubicBezTo>
                    <a:pt x="0" y="157988"/>
                    <a:pt x="157988" y="0"/>
                    <a:pt x="352933" y="0"/>
                  </a:cubicBezTo>
                  <a:lnTo>
                    <a:pt x="9000363" y="0"/>
                  </a:lnTo>
                  <a:cubicBezTo>
                    <a:pt x="9195308" y="0"/>
                    <a:pt x="9353297" y="157988"/>
                    <a:pt x="9353297" y="352933"/>
                  </a:cubicBezTo>
                  <a:lnTo>
                    <a:pt x="9353297" y="4058666"/>
                  </a:lnTo>
                  <a:cubicBezTo>
                    <a:pt x="9353297" y="4253611"/>
                    <a:pt x="9195308" y="4411599"/>
                    <a:pt x="9000363" y="4411599"/>
                  </a:cubicBezTo>
                  <a:lnTo>
                    <a:pt x="352933" y="4411599"/>
                  </a:lnTo>
                  <a:cubicBezTo>
                    <a:pt x="157988" y="4411599"/>
                    <a:pt x="0" y="4253611"/>
                    <a:pt x="0" y="4058666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69446"/>
            <a:ext cx="641503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START → STOP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78741"/>
            <a:ext cx="6469894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for k in range(1, 11):</a:t>
            </a: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print(k)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# 1 2 3 4 5 6 7 8 9 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052" y="2051856"/>
            <a:ext cx="7632630" cy="4200954"/>
            <a:chOff x="0" y="0"/>
            <a:chExt cx="10176840" cy="5601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6764" cy="5601208"/>
            </a:xfrm>
            <a:custGeom>
              <a:avLst/>
              <a:gdLst/>
              <a:ahLst/>
              <a:cxnLst/>
              <a:rect r="r" b="b" t="t" l="l"/>
              <a:pathLst>
                <a:path h="5601208" w="10176764">
                  <a:moveTo>
                    <a:pt x="0" y="448056"/>
                  </a:moveTo>
                  <a:cubicBezTo>
                    <a:pt x="0" y="200660"/>
                    <a:pt x="200660" y="0"/>
                    <a:pt x="448056" y="0"/>
                  </a:cubicBezTo>
                  <a:lnTo>
                    <a:pt x="9728708" y="0"/>
                  </a:lnTo>
                  <a:cubicBezTo>
                    <a:pt x="9976231" y="0"/>
                    <a:pt x="10176764" y="200660"/>
                    <a:pt x="10176764" y="448056"/>
                  </a:cubicBezTo>
                  <a:lnTo>
                    <a:pt x="10176764" y="5153152"/>
                  </a:lnTo>
                  <a:cubicBezTo>
                    <a:pt x="10176764" y="5400675"/>
                    <a:pt x="9976103" y="5601208"/>
                    <a:pt x="9728708" y="5601208"/>
                  </a:cubicBezTo>
                  <a:lnTo>
                    <a:pt x="448056" y="5601208"/>
                  </a:lnTo>
                  <a:cubicBezTo>
                    <a:pt x="200660" y="5601208"/>
                    <a:pt x="0" y="5400675"/>
                    <a:pt x="0" y="5153152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872004" y="2269446"/>
            <a:ext cx="703272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STEP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4572" y="2569216"/>
            <a:ext cx="7087591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range(0, 11, 2)</a:t>
            </a:r>
          </a:p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# 0, 2, 4, 6, 8, 10</a:t>
            </a:r>
          </a:p>
          <a:p>
            <a:pPr algn="l">
              <a:lnSpc>
                <a:spcPts val="2701"/>
              </a:lnSpc>
            </a:pPr>
          </a:p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range(10, 0, -1)</a:t>
            </a:r>
          </a:p>
          <a:p>
            <a:pPr algn="l">
              <a:lnSpc>
                <a:spcPts val="2701"/>
              </a:lnSpc>
            </a:pPr>
            <a:r>
              <a:rPr lang="en-US" sz="22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# 10, 9, 8, ... 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1170" y="6608112"/>
            <a:ext cx="15223512" cy="2004670"/>
            <a:chOff x="0" y="0"/>
            <a:chExt cx="20298016" cy="26728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98029" cy="2672969"/>
            </a:xfrm>
            <a:custGeom>
              <a:avLst/>
              <a:gdLst/>
              <a:ahLst/>
              <a:cxnLst/>
              <a:rect r="r" b="b" t="t" l="l"/>
              <a:pathLst>
                <a:path h="2672969" w="20298029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lnTo>
                    <a:pt x="20084162" y="0"/>
                  </a:lnTo>
                  <a:cubicBezTo>
                    <a:pt x="20202272" y="0"/>
                    <a:pt x="20298029" y="95758"/>
                    <a:pt x="20298029" y="213868"/>
                  </a:cubicBezTo>
                  <a:lnTo>
                    <a:pt x="20298029" y="2459101"/>
                  </a:lnTo>
                  <a:cubicBezTo>
                    <a:pt x="20298029" y="2577211"/>
                    <a:pt x="20202272" y="2672969"/>
                    <a:pt x="20084162" y="2672969"/>
                  </a:cubicBezTo>
                  <a:lnTo>
                    <a:pt x="213868" y="2672969"/>
                  </a:lnTo>
                  <a:cubicBezTo>
                    <a:pt x="95758" y="2672842"/>
                    <a:pt x="0" y="2577211"/>
                    <a:pt x="0" y="2459101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90936" y="7031603"/>
            <a:ext cx="155576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Important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6965" y="6889013"/>
            <a:ext cx="1212534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3102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range(start, stop, step) includes start, excludes stop.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0936" y="7717936"/>
            <a:ext cx="1336074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Modern Python note: range() returns a range object; it produces values lazily when iterated.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LOOP VARIABLE CHOICES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Two ways to loop: elements vs indexes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51856"/>
            <a:ext cx="7220826" cy="3651885"/>
            <a:chOff x="0" y="0"/>
            <a:chExt cx="9627768" cy="48691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27743" cy="4869180"/>
            </a:xfrm>
            <a:custGeom>
              <a:avLst/>
              <a:gdLst/>
              <a:ahLst/>
              <a:cxnLst/>
              <a:rect r="r" b="b" t="t" l="l"/>
              <a:pathLst>
                <a:path h="4869180" w="9627743">
                  <a:moveTo>
                    <a:pt x="0" y="389509"/>
                  </a:moveTo>
                  <a:cubicBezTo>
                    <a:pt x="0" y="174371"/>
                    <a:pt x="174371" y="0"/>
                    <a:pt x="389509" y="0"/>
                  </a:cubicBezTo>
                  <a:lnTo>
                    <a:pt x="9238234" y="0"/>
                  </a:lnTo>
                  <a:cubicBezTo>
                    <a:pt x="9453372" y="0"/>
                    <a:pt x="9627743" y="174371"/>
                    <a:pt x="9627743" y="389509"/>
                  </a:cubicBezTo>
                  <a:lnTo>
                    <a:pt x="9627743" y="4479671"/>
                  </a:lnTo>
                  <a:cubicBezTo>
                    <a:pt x="9627743" y="4694809"/>
                    <a:pt x="9453372" y="4869180"/>
                    <a:pt x="9238234" y="4869180"/>
                  </a:cubicBezTo>
                  <a:lnTo>
                    <a:pt x="389509" y="4869180"/>
                  </a:lnTo>
                  <a:cubicBezTo>
                    <a:pt x="174371" y="4869180"/>
                    <a:pt x="0" y="4694809"/>
                    <a:pt x="0" y="4479671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269446"/>
            <a:ext cx="662093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ELEMENTS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69216"/>
            <a:ext cx="667579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n = [10, 20, 30, 40, 50]</a:t>
            </a:r>
          </a:p>
          <a:p>
            <a:pPr algn="l">
              <a:lnSpc>
                <a:spcPts val="3001"/>
              </a:lnSpc>
            </a:pP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for k in n: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print(k)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1170" y="6101239"/>
            <a:ext cx="7220826" cy="1661503"/>
            <a:chOff x="0" y="0"/>
            <a:chExt cx="9627768" cy="22153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27743" cy="2215261"/>
            </a:xfrm>
            <a:custGeom>
              <a:avLst/>
              <a:gdLst/>
              <a:ahLst/>
              <a:cxnLst/>
              <a:rect r="r" b="b" t="t" l="l"/>
              <a:pathLst>
                <a:path h="2215261" w="9627743">
                  <a:moveTo>
                    <a:pt x="0" y="177165"/>
                  </a:moveTo>
                  <a:cubicBezTo>
                    <a:pt x="0" y="79375"/>
                    <a:pt x="79375" y="0"/>
                    <a:pt x="177165" y="0"/>
                  </a:cubicBezTo>
                  <a:lnTo>
                    <a:pt x="9450578" y="0"/>
                  </a:lnTo>
                  <a:cubicBezTo>
                    <a:pt x="9548495" y="0"/>
                    <a:pt x="9627743" y="79375"/>
                    <a:pt x="9627743" y="177165"/>
                  </a:cubicBezTo>
                  <a:lnTo>
                    <a:pt x="9627743" y="2038096"/>
                  </a:lnTo>
                  <a:cubicBezTo>
                    <a:pt x="9627743" y="2136013"/>
                    <a:pt x="9548368" y="2215261"/>
                    <a:pt x="9450578" y="2215261"/>
                  </a:cubicBezTo>
                  <a:lnTo>
                    <a:pt x="177165" y="2215261"/>
                  </a:lnTo>
                  <a:cubicBezTo>
                    <a:pt x="79375" y="2215388"/>
                    <a:pt x="0" y="2136013"/>
                    <a:pt x="0" y="2038096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90936" y="6634544"/>
            <a:ext cx="47461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3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Use when you just need the values.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9317" y="2051856"/>
            <a:ext cx="7358101" cy="3034179"/>
            <a:chOff x="0" y="0"/>
            <a:chExt cx="9810801" cy="4045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10750" cy="4045458"/>
            </a:xfrm>
            <a:custGeom>
              <a:avLst/>
              <a:gdLst/>
              <a:ahLst/>
              <a:cxnLst/>
              <a:rect r="r" b="b" t="t" l="l"/>
              <a:pathLst>
                <a:path h="4045458" w="9810750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9487154" y="0"/>
                  </a:lnTo>
                  <a:cubicBezTo>
                    <a:pt x="9665843" y="0"/>
                    <a:pt x="9810750" y="144907"/>
                    <a:pt x="9810750" y="323596"/>
                  </a:cubicBezTo>
                  <a:lnTo>
                    <a:pt x="9810750" y="3721862"/>
                  </a:lnTo>
                  <a:cubicBezTo>
                    <a:pt x="9810750" y="3900551"/>
                    <a:pt x="9665843" y="4045458"/>
                    <a:pt x="9487154" y="4045458"/>
                  </a:cubicBezTo>
                  <a:lnTo>
                    <a:pt x="323596" y="4045458"/>
                  </a:lnTo>
                  <a:cubicBezTo>
                    <a:pt x="144907" y="4045585"/>
                    <a:pt x="0" y="3900678"/>
                    <a:pt x="0" y="3721862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09269" y="2269446"/>
            <a:ext cx="675819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6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INDEXES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81837" y="2569216"/>
            <a:ext cx="681306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for k in range(len(n)):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print(n[k])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709317" y="5689444"/>
            <a:ext cx="7358101" cy="2073307"/>
            <a:chOff x="0" y="0"/>
            <a:chExt cx="9810801" cy="27644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10750" cy="2764409"/>
            </a:xfrm>
            <a:custGeom>
              <a:avLst/>
              <a:gdLst/>
              <a:ahLst/>
              <a:cxnLst/>
              <a:rect r="r" b="b" t="t" l="l"/>
              <a:pathLst>
                <a:path h="2764409" w="981075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9589643" y="0"/>
                  </a:lnTo>
                  <a:cubicBezTo>
                    <a:pt x="9711817" y="0"/>
                    <a:pt x="9810750" y="99060"/>
                    <a:pt x="9810750" y="221107"/>
                  </a:cubicBezTo>
                  <a:lnTo>
                    <a:pt x="9810750" y="2543302"/>
                  </a:lnTo>
                  <a:cubicBezTo>
                    <a:pt x="9810750" y="2665476"/>
                    <a:pt x="9711690" y="2764409"/>
                    <a:pt x="9589643" y="2764409"/>
                  </a:cubicBezTo>
                  <a:lnTo>
                    <a:pt x="221107" y="2764409"/>
                  </a:lnTo>
                  <a:cubicBezTo>
                    <a:pt x="99060" y="2764409"/>
                    <a:pt x="0" y="2665349"/>
                    <a:pt x="0" y="254330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132808" y="6195289"/>
            <a:ext cx="48448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3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Use indexes when position matters.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32808" y="6744357"/>
            <a:ext cx="615421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Both styles can produce the same total; the choice depends on what the algorithm needs.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2.2.1 DICTIONARY TYPE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Dictionaries: lookup by key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4044" y="2004441"/>
            <a:ext cx="14733422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9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dictionary stores key → value pairs. Instead of asking “what is at index 3?”, you ask “what is the value for this key?”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170" y="3493170"/>
            <a:ext cx="7975797" cy="4681385"/>
            <a:chOff x="0" y="0"/>
            <a:chExt cx="10634396" cy="6241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472" cy="6241923"/>
            </a:xfrm>
            <a:custGeom>
              <a:avLst/>
              <a:gdLst/>
              <a:ahLst/>
              <a:cxnLst/>
              <a:rect r="r" b="b" t="t" l="l"/>
              <a:pathLst>
                <a:path h="6241923" w="10634472">
                  <a:moveTo>
                    <a:pt x="0" y="499364"/>
                  </a:moveTo>
                  <a:cubicBezTo>
                    <a:pt x="0" y="223520"/>
                    <a:pt x="223520" y="0"/>
                    <a:pt x="499364" y="0"/>
                  </a:cubicBezTo>
                  <a:lnTo>
                    <a:pt x="10135108" y="0"/>
                  </a:lnTo>
                  <a:cubicBezTo>
                    <a:pt x="10410951" y="0"/>
                    <a:pt x="10634472" y="223520"/>
                    <a:pt x="10634472" y="499364"/>
                  </a:cubicBezTo>
                  <a:lnTo>
                    <a:pt x="10634472" y="5742559"/>
                  </a:lnTo>
                  <a:cubicBezTo>
                    <a:pt x="10634472" y="6018403"/>
                    <a:pt x="10410951" y="6241923"/>
                    <a:pt x="10135108" y="6241923"/>
                  </a:cubicBezTo>
                  <a:lnTo>
                    <a:pt x="499364" y="6241923"/>
                  </a:lnTo>
                  <a:cubicBezTo>
                    <a:pt x="223520" y="6241796"/>
                    <a:pt x="0" y="6018276"/>
                    <a:pt x="0" y="574255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81122" y="3701234"/>
            <a:ext cx="73758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KEY → VALUE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690" y="4020045"/>
            <a:ext cx="743075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daily_temps = {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'sun': 68.8,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'mon': 70.2,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'tue': 67.2</a:t>
            </a: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941"/>
              </a:lnSpc>
            </a:pPr>
          </a:p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print(daily_temps['sun'])  # 68.8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01562" y="3493170"/>
            <a:ext cx="6671758" cy="1661503"/>
            <a:chOff x="0" y="0"/>
            <a:chExt cx="8895677" cy="2215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95588" cy="2215261"/>
            </a:xfrm>
            <a:custGeom>
              <a:avLst/>
              <a:gdLst/>
              <a:ahLst/>
              <a:cxnLst/>
              <a:rect r="r" b="b" t="t" l="l"/>
              <a:pathLst>
                <a:path h="2215261" w="8895588">
                  <a:moveTo>
                    <a:pt x="0" y="177165"/>
                  </a:moveTo>
                  <a:cubicBezTo>
                    <a:pt x="0" y="79375"/>
                    <a:pt x="79375" y="0"/>
                    <a:pt x="177165" y="0"/>
                  </a:cubicBezTo>
                  <a:lnTo>
                    <a:pt x="8718423" y="0"/>
                  </a:lnTo>
                  <a:cubicBezTo>
                    <a:pt x="8816340" y="0"/>
                    <a:pt x="8895588" y="79375"/>
                    <a:pt x="8895588" y="177165"/>
                  </a:cubicBezTo>
                  <a:lnTo>
                    <a:pt x="8895588" y="2038096"/>
                  </a:lnTo>
                  <a:cubicBezTo>
                    <a:pt x="8895588" y="2136013"/>
                    <a:pt x="8816213" y="2215261"/>
                    <a:pt x="8718423" y="2215261"/>
                  </a:cubicBezTo>
                  <a:lnTo>
                    <a:pt x="177165" y="2215261"/>
                  </a:lnTo>
                  <a:cubicBezTo>
                    <a:pt x="79375" y="2215388"/>
                    <a:pt x="0" y="2136013"/>
                    <a:pt x="0" y="203809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066230" y="3879675"/>
            <a:ext cx="71898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901" b="true">
                <a:solidFill>
                  <a:srgbClr val="E26F39"/>
                </a:solidFill>
                <a:latin typeface="Georgia Bold"/>
                <a:ea typeface="Georgia Bold"/>
                <a:cs typeface="Georgia Bold"/>
                <a:sym typeface="Georgia Bold"/>
              </a:rPr>
              <a:t>Key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26558" y="3790874"/>
            <a:ext cx="36147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'sun'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01562" y="5483542"/>
            <a:ext cx="6671758" cy="1661503"/>
            <a:chOff x="0" y="0"/>
            <a:chExt cx="8895677" cy="22153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5588" cy="2215261"/>
            </a:xfrm>
            <a:custGeom>
              <a:avLst/>
              <a:gdLst/>
              <a:ahLst/>
              <a:cxnLst/>
              <a:rect r="r" b="b" t="t" l="l"/>
              <a:pathLst>
                <a:path h="2215261" w="8895588">
                  <a:moveTo>
                    <a:pt x="0" y="177165"/>
                  </a:moveTo>
                  <a:cubicBezTo>
                    <a:pt x="0" y="79375"/>
                    <a:pt x="79375" y="0"/>
                    <a:pt x="177165" y="0"/>
                  </a:cubicBezTo>
                  <a:lnTo>
                    <a:pt x="8718423" y="0"/>
                  </a:lnTo>
                  <a:cubicBezTo>
                    <a:pt x="8816340" y="0"/>
                    <a:pt x="8895588" y="79375"/>
                    <a:pt x="8895588" y="177165"/>
                  </a:cubicBezTo>
                  <a:lnTo>
                    <a:pt x="8895588" y="2038096"/>
                  </a:lnTo>
                  <a:cubicBezTo>
                    <a:pt x="8895588" y="2136013"/>
                    <a:pt x="8816213" y="2215261"/>
                    <a:pt x="8718423" y="2215261"/>
                  </a:cubicBezTo>
                  <a:lnTo>
                    <a:pt x="177165" y="2215261"/>
                  </a:lnTo>
                  <a:cubicBezTo>
                    <a:pt x="79375" y="2215388"/>
                    <a:pt x="0" y="2136013"/>
                    <a:pt x="0" y="2038096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066230" y="5870048"/>
            <a:ext cx="108748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901" b="true">
                <a:solidFill>
                  <a:srgbClr val="3D7D85"/>
                </a:solidFill>
                <a:latin typeface="Georgia Bold"/>
                <a:ea typeface="Georgia Bold"/>
                <a:cs typeface="Georgia Bold"/>
                <a:sym typeface="Georgia Bold"/>
              </a:rPr>
              <a:t>Value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07534" y="5781246"/>
            <a:ext cx="361477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68.8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4426" y="7705230"/>
            <a:ext cx="224209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Modern Python note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5426" y="7632392"/>
            <a:ext cx="402657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Dictionaries preserve insertion order in Python 3.7+.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COPY • GET • UPDATE • KEYS • VALUES • 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Dictionary operations: the everyday 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24405"/>
            <a:ext cx="7632630" cy="1730140"/>
            <a:chOff x="0" y="0"/>
            <a:chExt cx="10176840" cy="2306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301107"/>
            <a:ext cx="110460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copy()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34278" y="2175396"/>
            <a:ext cx="2965542" cy="769268"/>
            <a:chOff x="0" y="0"/>
            <a:chExt cx="3954056" cy="1025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106798" y="2400290"/>
            <a:ext cx="2420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bikes.copy()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44298" y="2342283"/>
            <a:ext cx="203620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Make a shallow copy.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17209" y="2024405"/>
            <a:ext cx="7632630" cy="1730140"/>
            <a:chOff x="0" y="0"/>
            <a:chExt cx="10176840" cy="23068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17161" y="2301107"/>
            <a:ext cx="82153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get()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70317" y="2175396"/>
            <a:ext cx="2965542" cy="769268"/>
            <a:chOff x="0" y="0"/>
            <a:chExt cx="3954056" cy="10256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342837" y="2400290"/>
            <a:ext cx="2420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bikes.get('B2')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80337" y="2342283"/>
            <a:ext cx="20362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Read a value by key.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1170" y="4152052"/>
            <a:ext cx="7632630" cy="1730140"/>
            <a:chOff x="0" y="0"/>
            <a:chExt cx="10176840" cy="2306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1122" y="4428744"/>
            <a:ext cx="150048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update()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34278" y="4303043"/>
            <a:ext cx="2965542" cy="769268"/>
            <a:chOff x="0" y="0"/>
            <a:chExt cx="3954056" cy="1025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3106798" y="4527937"/>
            <a:ext cx="242051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bikes.update({'B4':'TVS'})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44298" y="4469930"/>
            <a:ext cx="20362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Add or revise entries.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17209" y="4152052"/>
            <a:ext cx="7632630" cy="1730140"/>
            <a:chOff x="0" y="0"/>
            <a:chExt cx="10176840" cy="23068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517161" y="4428744"/>
            <a:ext cx="106813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keys()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070317" y="4303043"/>
            <a:ext cx="2965542" cy="769268"/>
            <a:chOff x="0" y="0"/>
            <a:chExt cx="3954056" cy="1025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342837" y="4527937"/>
            <a:ext cx="2420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bikes.keys()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0337" y="4469930"/>
            <a:ext cx="20362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View the keys.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1170" y="6279690"/>
            <a:ext cx="7632630" cy="1730140"/>
            <a:chOff x="0" y="0"/>
            <a:chExt cx="10176840" cy="23068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81122" y="6556391"/>
            <a:ext cx="140136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values()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834278" y="6430680"/>
            <a:ext cx="2965542" cy="769268"/>
            <a:chOff x="0" y="0"/>
            <a:chExt cx="3954056" cy="10256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3106798" y="6655575"/>
            <a:ext cx="2420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bikes.values()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044298" y="6597567"/>
            <a:ext cx="20362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View the values.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17209" y="6279690"/>
            <a:ext cx="7632630" cy="1730140"/>
            <a:chOff x="0" y="0"/>
            <a:chExt cx="10176840" cy="23068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76764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17676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9992233" y="0"/>
                  </a:lnTo>
                  <a:cubicBezTo>
                    <a:pt x="10094214" y="0"/>
                    <a:pt x="10176764" y="82677"/>
                    <a:pt x="10176764" y="184531"/>
                  </a:cubicBezTo>
                  <a:lnTo>
                    <a:pt x="10176764" y="2122297"/>
                  </a:lnTo>
                  <a:cubicBezTo>
                    <a:pt x="10176764" y="2224278"/>
                    <a:pt x="10094087" y="2306828"/>
                    <a:pt x="9992233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517161" y="6556391"/>
            <a:ext cx="5317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6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del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070317" y="6430680"/>
            <a:ext cx="2965542" cy="769268"/>
            <a:chOff x="0" y="0"/>
            <a:chExt cx="3954056" cy="1025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5401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954018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3871976" y="0"/>
                  </a:lnTo>
                  <a:cubicBezTo>
                    <a:pt x="3917315" y="0"/>
                    <a:pt x="3954018" y="36703"/>
                    <a:pt x="3954018" y="82042"/>
                  </a:cubicBezTo>
                  <a:lnTo>
                    <a:pt x="3954018" y="943610"/>
                  </a:lnTo>
                  <a:cubicBezTo>
                    <a:pt x="3954018" y="988949"/>
                    <a:pt x="3917315" y="1025652"/>
                    <a:pt x="3871976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1342837" y="6655575"/>
            <a:ext cx="24205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del bikes['B2']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80337" y="6597567"/>
            <a:ext cx="203620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Remove a key/value pair.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81170" y="8572052"/>
            <a:ext cx="15868669" cy="769268"/>
            <a:chOff x="0" y="0"/>
            <a:chExt cx="21158225" cy="1025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158200" cy="1025652"/>
            </a:xfrm>
            <a:custGeom>
              <a:avLst/>
              <a:gdLst/>
              <a:ahLst/>
              <a:cxnLst/>
              <a:rect r="r" b="b" t="t" l="l"/>
              <a:pathLst>
                <a:path h="1025652" w="2115820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21076158" y="0"/>
                  </a:lnTo>
                  <a:cubicBezTo>
                    <a:pt x="21121497" y="0"/>
                    <a:pt x="21158200" y="36703"/>
                    <a:pt x="21158200" y="82042"/>
                  </a:cubicBezTo>
                  <a:lnTo>
                    <a:pt x="21158200" y="943610"/>
                  </a:lnTo>
                  <a:cubicBezTo>
                    <a:pt x="21158200" y="988949"/>
                    <a:pt x="21121497" y="1025652"/>
                    <a:pt x="21076158" y="1025652"/>
                  </a:cubicBezTo>
                  <a:lnTo>
                    <a:pt x="82042" y="1025652"/>
                  </a:lnTo>
                  <a:cubicBezTo>
                    <a:pt x="36703" y="1025652"/>
                    <a:pt x="0" y="988949"/>
                    <a:pt x="0" y="943610"/>
                  </a:cubicBezTo>
                  <a:close/>
                </a:path>
              </a:pathLst>
            </a:custGeom>
            <a:solidFill>
              <a:srgbClr val="E4EBF4"/>
            </a:solidFill>
            <a:ln w="14299" cap="sq">
              <a:solidFill>
                <a:srgbClr val="E4EBF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349759" y="8817092"/>
            <a:ext cx="976208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Also useful: d[key] = value adds a new pair or replaces the value for an existing key.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BUILD → READ → CHANGE → ADD → DELETE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Dictionary mini-demo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83229"/>
            <a:ext cx="8387601" cy="6809022"/>
            <a:chOff x="0" y="0"/>
            <a:chExt cx="11183468" cy="9078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83493" cy="9078722"/>
            </a:xfrm>
            <a:custGeom>
              <a:avLst/>
              <a:gdLst/>
              <a:ahLst/>
              <a:cxnLst/>
              <a:rect r="r" b="b" t="t" l="l"/>
              <a:pathLst>
                <a:path h="9078722" w="11183493">
                  <a:moveTo>
                    <a:pt x="0" y="726313"/>
                  </a:moveTo>
                  <a:cubicBezTo>
                    <a:pt x="0" y="325120"/>
                    <a:pt x="325120" y="0"/>
                    <a:pt x="726313" y="0"/>
                  </a:cubicBezTo>
                  <a:lnTo>
                    <a:pt x="10457180" y="0"/>
                  </a:lnTo>
                  <a:cubicBezTo>
                    <a:pt x="10858247" y="0"/>
                    <a:pt x="11183493" y="325120"/>
                    <a:pt x="11183493" y="726313"/>
                  </a:cubicBezTo>
                  <a:lnTo>
                    <a:pt x="11183493" y="8352409"/>
                  </a:lnTo>
                  <a:cubicBezTo>
                    <a:pt x="11183493" y="8753475"/>
                    <a:pt x="10858374" y="9078722"/>
                    <a:pt x="10457180" y="9078722"/>
                  </a:cubicBezTo>
                  <a:lnTo>
                    <a:pt x="726313" y="9078722"/>
                  </a:lnTo>
                  <a:cubicBezTo>
                    <a:pt x="325120" y="9078722"/>
                    <a:pt x="0" y="8753475"/>
                    <a:pt x="0" y="835240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191293"/>
            <a:ext cx="77876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WORKED 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3690" y="2510104"/>
            <a:ext cx="7842561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thisdict = {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"brand": "Ford",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"model": "Mustang",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    "year": 1964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761"/>
              </a:lnSpc>
            </a:pP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print(thisdict["model"])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thisdict["year"] = 2018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thisdict["color"] = "red"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del thisdict["model"]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6092" y="2120494"/>
            <a:ext cx="1181071" cy="481003"/>
            <a:chOff x="0" y="0"/>
            <a:chExt cx="1574762" cy="6413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4800" cy="641350"/>
            </a:xfrm>
            <a:custGeom>
              <a:avLst/>
              <a:gdLst/>
              <a:ahLst/>
              <a:cxnLst/>
              <a:rect r="r" b="b" t="t" l="l"/>
              <a:pathLst>
                <a:path h="641350" w="157480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1523492" y="0"/>
                  </a:lnTo>
                  <a:cubicBezTo>
                    <a:pt x="1551813" y="0"/>
                    <a:pt x="1574800" y="22987"/>
                    <a:pt x="1574800" y="51308"/>
                  </a:cubicBezTo>
                  <a:lnTo>
                    <a:pt x="1574800" y="590042"/>
                  </a:lnTo>
                  <a:cubicBezTo>
                    <a:pt x="1574800" y="618363"/>
                    <a:pt x="1551813" y="641350"/>
                    <a:pt x="1523492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038778" y="2228269"/>
            <a:ext cx="8557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READ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01632" y="2139467"/>
            <a:ext cx="43697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thisdict['model']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01632" y="2694975"/>
            <a:ext cx="37520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Mustang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76092" y="3836337"/>
            <a:ext cx="1181071" cy="481003"/>
            <a:chOff x="0" y="0"/>
            <a:chExt cx="1574762" cy="6413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4800" cy="641350"/>
            </a:xfrm>
            <a:custGeom>
              <a:avLst/>
              <a:gdLst/>
              <a:ahLst/>
              <a:cxnLst/>
              <a:rect r="r" b="b" t="t" l="l"/>
              <a:pathLst>
                <a:path h="641350" w="157480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1523492" y="0"/>
                  </a:lnTo>
                  <a:cubicBezTo>
                    <a:pt x="1551813" y="0"/>
                    <a:pt x="1574800" y="22987"/>
                    <a:pt x="1574800" y="51308"/>
                  </a:cubicBezTo>
                  <a:lnTo>
                    <a:pt x="1574800" y="590042"/>
                  </a:lnTo>
                  <a:cubicBezTo>
                    <a:pt x="1574800" y="618363"/>
                    <a:pt x="1551813" y="641350"/>
                    <a:pt x="1523492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038778" y="3944112"/>
            <a:ext cx="85570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CHANGE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01632" y="3855301"/>
            <a:ext cx="43697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thisdict['year'] = 2018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01632" y="4410818"/>
            <a:ext cx="37520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year updated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6092" y="5552170"/>
            <a:ext cx="1181071" cy="481003"/>
            <a:chOff x="0" y="0"/>
            <a:chExt cx="1574762" cy="6413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74800" cy="641350"/>
            </a:xfrm>
            <a:custGeom>
              <a:avLst/>
              <a:gdLst/>
              <a:ahLst/>
              <a:cxnLst/>
              <a:rect r="r" b="b" t="t" l="l"/>
              <a:pathLst>
                <a:path h="641350" w="157480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1523492" y="0"/>
                  </a:lnTo>
                  <a:cubicBezTo>
                    <a:pt x="1551813" y="0"/>
                    <a:pt x="1574800" y="22987"/>
                    <a:pt x="1574800" y="51308"/>
                  </a:cubicBezTo>
                  <a:lnTo>
                    <a:pt x="1574800" y="590042"/>
                  </a:lnTo>
                  <a:cubicBezTo>
                    <a:pt x="1574800" y="618363"/>
                    <a:pt x="1551813" y="641350"/>
                    <a:pt x="1523492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038778" y="5659946"/>
            <a:ext cx="8557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ADD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01632" y="5571144"/>
            <a:ext cx="43697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thisdict['color'] = 'red'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1632" y="6126661"/>
            <a:ext cx="37520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new pair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76092" y="7268013"/>
            <a:ext cx="1181071" cy="481003"/>
            <a:chOff x="0" y="0"/>
            <a:chExt cx="1574762" cy="6413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74800" cy="641350"/>
            </a:xfrm>
            <a:custGeom>
              <a:avLst/>
              <a:gdLst/>
              <a:ahLst/>
              <a:cxnLst/>
              <a:rect r="r" b="b" t="t" l="l"/>
              <a:pathLst>
                <a:path h="641350" w="157480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1523492" y="0"/>
                  </a:lnTo>
                  <a:cubicBezTo>
                    <a:pt x="1551813" y="0"/>
                    <a:pt x="1574800" y="22987"/>
                    <a:pt x="1574800" y="51308"/>
                  </a:cubicBezTo>
                  <a:lnTo>
                    <a:pt x="1574800" y="590042"/>
                  </a:lnTo>
                  <a:cubicBezTo>
                    <a:pt x="1574800" y="618363"/>
                    <a:pt x="1551813" y="641350"/>
                    <a:pt x="1523492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038778" y="7375789"/>
            <a:ext cx="8557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DELETE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01632" y="7286987"/>
            <a:ext cx="43697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del thisdict['model']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01632" y="7842494"/>
            <a:ext cx="37520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pair removed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2.2.2 SET DATA TYPE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Sets: unique values, no fixed positions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4044" y="1967465"/>
            <a:ext cx="1487068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6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set is a mutable collection of unique values. It is useful when duplicates should disappear and order is not the point.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170" y="3493170"/>
            <a:ext cx="7358101" cy="2965542"/>
            <a:chOff x="0" y="0"/>
            <a:chExt cx="9810801" cy="3954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10876" cy="3954145"/>
            </a:xfrm>
            <a:custGeom>
              <a:avLst/>
              <a:gdLst/>
              <a:ahLst/>
              <a:cxnLst/>
              <a:rect r="r" b="b" t="t" l="l"/>
              <a:pathLst>
                <a:path h="3954145" w="9810876">
                  <a:moveTo>
                    <a:pt x="0" y="316357"/>
                  </a:moveTo>
                  <a:cubicBezTo>
                    <a:pt x="0" y="141605"/>
                    <a:pt x="141605" y="0"/>
                    <a:pt x="316357" y="0"/>
                  </a:cubicBezTo>
                  <a:lnTo>
                    <a:pt x="9494520" y="0"/>
                  </a:lnTo>
                  <a:cubicBezTo>
                    <a:pt x="9669272" y="0"/>
                    <a:pt x="9810876" y="141605"/>
                    <a:pt x="9810876" y="316357"/>
                  </a:cubicBezTo>
                  <a:lnTo>
                    <a:pt x="9810876" y="3637788"/>
                  </a:lnTo>
                  <a:cubicBezTo>
                    <a:pt x="9810876" y="3812540"/>
                    <a:pt x="9669272" y="3954145"/>
                    <a:pt x="9494520" y="3954145"/>
                  </a:cubicBezTo>
                  <a:lnTo>
                    <a:pt x="316357" y="3954145"/>
                  </a:lnTo>
                  <a:cubicBezTo>
                    <a:pt x="141605" y="3954018"/>
                    <a:pt x="0" y="3812413"/>
                    <a:pt x="0" y="3637788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81122" y="3710759"/>
            <a:ext cx="675819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DUPLICATES COLLAPSE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690" y="4020045"/>
            <a:ext cx="68130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sample = {1, 2, 3, 4, 5, 5}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print(sample)</a:t>
            </a:r>
          </a:p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# {1, 2, 3, 4, 5}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46591" y="3493170"/>
            <a:ext cx="7358101" cy="1592875"/>
            <a:chOff x="0" y="0"/>
            <a:chExt cx="9810801" cy="2123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108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9810877">
                  <a:moveTo>
                    <a:pt x="0" y="169926"/>
                  </a:moveTo>
                  <a:cubicBezTo>
                    <a:pt x="0" y="76073"/>
                    <a:pt x="76073" y="0"/>
                    <a:pt x="169926" y="0"/>
                  </a:cubicBezTo>
                  <a:lnTo>
                    <a:pt x="9640951" y="0"/>
                  </a:lnTo>
                  <a:cubicBezTo>
                    <a:pt x="9734804" y="0"/>
                    <a:pt x="9810877" y="76073"/>
                    <a:pt x="9810877" y="169926"/>
                  </a:cubicBezTo>
                  <a:lnTo>
                    <a:pt x="9810877" y="1953895"/>
                  </a:lnTo>
                  <a:cubicBezTo>
                    <a:pt x="9810877" y="2047748"/>
                    <a:pt x="9734804" y="2123821"/>
                    <a:pt x="9640951" y="2123821"/>
                  </a:cubicBezTo>
                  <a:lnTo>
                    <a:pt x="169926" y="2123821"/>
                  </a:lnTo>
                  <a:cubicBezTo>
                    <a:pt x="76073" y="2123821"/>
                    <a:pt x="0" y="2047748"/>
                    <a:pt x="0" y="1953895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0" y="3852805"/>
            <a:ext cx="14146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Unique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89570" y="3886695"/>
            <a:ext cx="436974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No duplicate members.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46591" y="5414905"/>
            <a:ext cx="7358101" cy="1592875"/>
            <a:chOff x="0" y="0"/>
            <a:chExt cx="9810801" cy="2123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108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9810877">
                  <a:moveTo>
                    <a:pt x="0" y="169926"/>
                  </a:moveTo>
                  <a:cubicBezTo>
                    <a:pt x="0" y="76073"/>
                    <a:pt x="76073" y="0"/>
                    <a:pt x="169926" y="0"/>
                  </a:cubicBezTo>
                  <a:lnTo>
                    <a:pt x="9640951" y="0"/>
                  </a:lnTo>
                  <a:cubicBezTo>
                    <a:pt x="9734804" y="0"/>
                    <a:pt x="9810877" y="76073"/>
                    <a:pt x="9810877" y="169926"/>
                  </a:cubicBezTo>
                  <a:lnTo>
                    <a:pt x="9810877" y="1953895"/>
                  </a:lnTo>
                  <a:cubicBezTo>
                    <a:pt x="9810877" y="2047748"/>
                    <a:pt x="9734804" y="2123821"/>
                    <a:pt x="9640951" y="2123821"/>
                  </a:cubicBezTo>
                  <a:lnTo>
                    <a:pt x="169926" y="2123821"/>
                  </a:lnTo>
                  <a:cubicBezTo>
                    <a:pt x="76073" y="2123821"/>
                    <a:pt x="0" y="2047748"/>
                    <a:pt x="0" y="1953895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0" y="5773965"/>
            <a:ext cx="21081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Unindexed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72249" y="5783490"/>
            <a:ext cx="423248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Do not use s[0] to access a set.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46591" y="7336650"/>
            <a:ext cx="7358101" cy="1112434"/>
            <a:chOff x="0" y="0"/>
            <a:chExt cx="9810801" cy="14832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10750" cy="1483106"/>
            </a:xfrm>
            <a:custGeom>
              <a:avLst/>
              <a:gdLst/>
              <a:ahLst/>
              <a:cxnLst/>
              <a:rect r="r" b="b" t="t" l="l"/>
              <a:pathLst>
                <a:path h="1483106" w="9810750">
                  <a:moveTo>
                    <a:pt x="0" y="118618"/>
                  </a:moveTo>
                  <a:cubicBezTo>
                    <a:pt x="0" y="53086"/>
                    <a:pt x="53086" y="0"/>
                    <a:pt x="118618" y="0"/>
                  </a:cubicBezTo>
                  <a:lnTo>
                    <a:pt x="9692132" y="0"/>
                  </a:lnTo>
                  <a:cubicBezTo>
                    <a:pt x="9757663" y="0"/>
                    <a:pt x="9810750" y="53086"/>
                    <a:pt x="9810750" y="118618"/>
                  </a:cubicBezTo>
                  <a:lnTo>
                    <a:pt x="9810750" y="1364488"/>
                  </a:lnTo>
                  <a:cubicBezTo>
                    <a:pt x="9810750" y="1430020"/>
                    <a:pt x="9757663" y="1483106"/>
                    <a:pt x="9692132" y="1483106"/>
                  </a:cubicBezTo>
                  <a:lnTo>
                    <a:pt x="118618" y="1483106"/>
                  </a:lnTo>
                  <a:cubicBezTo>
                    <a:pt x="53086" y="1483106"/>
                    <a:pt x="0" y="1430020"/>
                    <a:pt x="0" y="1364488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7EFD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0" y="7655481"/>
            <a:ext cx="469389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Empty set → set()   (not {})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ADD • REMOVE • DISCARD • CLEAR •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Set methods: manage membership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19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024405"/>
            <a:ext cx="4887287" cy="2238032"/>
            <a:chOff x="0" y="0"/>
            <a:chExt cx="6516383" cy="29840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342283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add(x)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122" y="3001166"/>
            <a:ext cx="42324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Add one value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8258" y="3781425"/>
            <a:ext cx="1592875" cy="481003"/>
            <a:chOff x="0" y="0"/>
            <a:chExt cx="2123834" cy="6413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90936" y="3889200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71866" y="2024405"/>
            <a:ext cx="4887287" cy="2238032"/>
            <a:chOff x="0" y="0"/>
            <a:chExt cx="6516383" cy="2984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771818" y="2342283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remove(x)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71818" y="3001166"/>
            <a:ext cx="423248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Remove x; raises an error if x is absent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18945" y="3781425"/>
            <a:ext cx="1592875" cy="481003"/>
            <a:chOff x="0" y="0"/>
            <a:chExt cx="2123834" cy="641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881632" y="3889200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62552" y="2024405"/>
            <a:ext cx="4887287" cy="2238032"/>
            <a:chOff x="0" y="0"/>
            <a:chExt cx="6516383" cy="29840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504" y="2342283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discard(x)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504" y="3001166"/>
            <a:ext cx="42324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Remove x; no error if x is absent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09631" y="3781425"/>
            <a:ext cx="1592875" cy="481003"/>
            <a:chOff x="0" y="0"/>
            <a:chExt cx="2123834" cy="6413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372318" y="3889200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1170" y="4769749"/>
            <a:ext cx="4887287" cy="2238032"/>
            <a:chOff x="0" y="0"/>
            <a:chExt cx="6516383" cy="29840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81122" y="5087626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clear()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1122" y="5746509"/>
            <a:ext cx="42324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Remove all values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8258" y="6526768"/>
            <a:ext cx="1592875" cy="481003"/>
            <a:chOff x="0" y="0"/>
            <a:chExt cx="2123834" cy="6413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390936" y="6634544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471866" y="4769749"/>
            <a:ext cx="4887287" cy="2238032"/>
            <a:chOff x="0" y="0"/>
            <a:chExt cx="6516383" cy="29840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6771818" y="5087626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copy()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71818" y="5746509"/>
            <a:ext cx="42324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Make a copy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718945" y="6526768"/>
            <a:ext cx="1592875" cy="481003"/>
            <a:chOff x="0" y="0"/>
            <a:chExt cx="2123834" cy="6413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881632" y="6634544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962552" y="4769749"/>
            <a:ext cx="4887287" cy="2238032"/>
            <a:chOff x="0" y="0"/>
            <a:chExt cx="6516383" cy="29840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16370" cy="2984119"/>
            </a:xfrm>
            <a:custGeom>
              <a:avLst/>
              <a:gdLst/>
              <a:ahLst/>
              <a:cxnLst/>
              <a:rect r="r" b="b" t="t" l="l"/>
              <a:pathLst>
                <a:path h="2984119" w="651637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6277610" y="0"/>
                  </a:lnTo>
                  <a:cubicBezTo>
                    <a:pt x="6409436" y="0"/>
                    <a:pt x="6516370" y="106934"/>
                    <a:pt x="6516370" y="238760"/>
                  </a:cubicBezTo>
                  <a:lnTo>
                    <a:pt x="6516370" y="2745359"/>
                  </a:lnTo>
                  <a:cubicBezTo>
                    <a:pt x="6516370" y="2877185"/>
                    <a:pt x="6409436" y="2984119"/>
                    <a:pt x="6277610" y="2984119"/>
                  </a:cubicBezTo>
                  <a:lnTo>
                    <a:pt x="238760" y="2984119"/>
                  </a:lnTo>
                  <a:cubicBezTo>
                    <a:pt x="106934" y="2984119"/>
                    <a:pt x="0" y="2877185"/>
                    <a:pt x="0" y="274535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262504" y="5087626"/>
            <a:ext cx="42324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update(iterable)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62504" y="5746509"/>
            <a:ext cx="42324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676662"/>
                </a:solidFill>
                <a:latin typeface="Aptos Bold"/>
                <a:ea typeface="Aptos Bold"/>
                <a:cs typeface="Aptos Bold"/>
                <a:sym typeface="Aptos Bold"/>
              </a:rPr>
              <a:t>Add multiple values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209631" y="6526768"/>
            <a:ext cx="1592875" cy="481003"/>
            <a:chOff x="0" y="0"/>
            <a:chExt cx="2123834" cy="6413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23821" cy="641350"/>
            </a:xfrm>
            <a:custGeom>
              <a:avLst/>
              <a:gdLst/>
              <a:ahLst/>
              <a:cxnLst/>
              <a:rect r="r" b="b" t="t" l="l"/>
              <a:pathLst>
                <a:path h="641350" w="2123821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072513" y="0"/>
                  </a:lnTo>
                  <a:cubicBezTo>
                    <a:pt x="2100834" y="0"/>
                    <a:pt x="2123821" y="22987"/>
                    <a:pt x="2123821" y="51308"/>
                  </a:cubicBezTo>
                  <a:lnTo>
                    <a:pt x="2123821" y="590042"/>
                  </a:lnTo>
                  <a:cubicBezTo>
                    <a:pt x="2123821" y="618363"/>
                    <a:pt x="2100834" y="641350"/>
                    <a:pt x="2072513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2372318" y="6634544"/>
            <a:ext cx="12675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set method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81170" y="7844533"/>
            <a:ext cx="15868669" cy="1084983"/>
            <a:chOff x="0" y="0"/>
            <a:chExt cx="21158225" cy="14466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158200" cy="1446657"/>
            </a:xfrm>
            <a:custGeom>
              <a:avLst/>
              <a:gdLst/>
              <a:ahLst/>
              <a:cxnLst/>
              <a:rect r="r" b="b" t="t" l="l"/>
              <a:pathLst>
                <a:path h="1446657" w="21158200">
                  <a:moveTo>
                    <a:pt x="0" y="115697"/>
                  </a:moveTo>
                  <a:cubicBezTo>
                    <a:pt x="0" y="51816"/>
                    <a:pt x="51816" y="0"/>
                    <a:pt x="115697" y="0"/>
                  </a:cubicBezTo>
                  <a:lnTo>
                    <a:pt x="21042503" y="0"/>
                  </a:lnTo>
                  <a:cubicBezTo>
                    <a:pt x="21106385" y="0"/>
                    <a:pt x="21158200" y="51816"/>
                    <a:pt x="21158200" y="115697"/>
                  </a:cubicBezTo>
                  <a:lnTo>
                    <a:pt x="21158200" y="1330960"/>
                  </a:lnTo>
                  <a:cubicBezTo>
                    <a:pt x="21158200" y="1394841"/>
                    <a:pt x="21106385" y="1446657"/>
                    <a:pt x="21042503" y="1446657"/>
                  </a:cubicBezTo>
                  <a:lnTo>
                    <a:pt x="115697" y="1446657"/>
                  </a:lnTo>
                  <a:cubicBezTo>
                    <a:pt x="51816" y="1446657"/>
                    <a:pt x="0" y="1394841"/>
                    <a:pt x="0" y="1330960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7EFD2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349759" y="8226847"/>
            <a:ext cx="1507658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Instructor note: set.pop() removes an arbitrary element — never rely on it being the “first” element.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MATHEMATICAL SET OPERATIONS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Set algebra: union, intersection, difference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53607" y="2726284"/>
            <a:ext cx="3881609" cy="3881609"/>
            <a:chOff x="0" y="0"/>
            <a:chExt cx="5175479" cy="5175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5504" cy="5175504"/>
            </a:xfrm>
            <a:custGeom>
              <a:avLst/>
              <a:gdLst/>
              <a:ahLst/>
              <a:cxnLst/>
              <a:rect r="r" b="b" t="t" l="l"/>
              <a:pathLst>
                <a:path h="5175504" w="5175504">
                  <a:moveTo>
                    <a:pt x="0" y="2587752"/>
                  </a:moveTo>
                  <a:cubicBezTo>
                    <a:pt x="0" y="1158621"/>
                    <a:pt x="1158621" y="0"/>
                    <a:pt x="2587752" y="0"/>
                  </a:cubicBezTo>
                  <a:cubicBezTo>
                    <a:pt x="4016883" y="0"/>
                    <a:pt x="5175504" y="1158621"/>
                    <a:pt x="5175504" y="2587752"/>
                  </a:cubicBezTo>
                  <a:cubicBezTo>
                    <a:pt x="5175504" y="4016883"/>
                    <a:pt x="4016883" y="5175504"/>
                    <a:pt x="2587752" y="5175504"/>
                  </a:cubicBezTo>
                  <a:cubicBezTo>
                    <a:pt x="1158621" y="5175504"/>
                    <a:pt x="0" y="4016883"/>
                    <a:pt x="0" y="2587752"/>
                  </a:cubicBezTo>
                  <a:close/>
                </a:path>
              </a:pathLst>
            </a:custGeom>
            <a:solidFill>
              <a:srgbClr val="3D7D85"/>
            </a:solidFill>
            <a:ln w="38130" cap="sq">
              <a:solidFill>
                <a:srgbClr val="3D7D8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206715" y="2726284"/>
            <a:ext cx="3881609" cy="3881609"/>
            <a:chOff x="0" y="0"/>
            <a:chExt cx="5175479" cy="51754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75504" cy="5175504"/>
            </a:xfrm>
            <a:custGeom>
              <a:avLst/>
              <a:gdLst/>
              <a:ahLst/>
              <a:cxnLst/>
              <a:rect r="r" b="b" t="t" l="l"/>
              <a:pathLst>
                <a:path h="5175504" w="5175504">
                  <a:moveTo>
                    <a:pt x="0" y="2587752"/>
                  </a:moveTo>
                  <a:cubicBezTo>
                    <a:pt x="0" y="1158621"/>
                    <a:pt x="1158621" y="0"/>
                    <a:pt x="2587752" y="0"/>
                  </a:cubicBezTo>
                  <a:cubicBezTo>
                    <a:pt x="4016883" y="0"/>
                    <a:pt x="5175504" y="1158621"/>
                    <a:pt x="5175504" y="2587752"/>
                  </a:cubicBezTo>
                  <a:cubicBezTo>
                    <a:pt x="5175504" y="4016883"/>
                    <a:pt x="4016883" y="5175504"/>
                    <a:pt x="2587752" y="5175504"/>
                  </a:cubicBezTo>
                  <a:cubicBezTo>
                    <a:pt x="1158621" y="5175504"/>
                    <a:pt x="0" y="4016883"/>
                    <a:pt x="0" y="2587752"/>
                  </a:cubicBezTo>
                  <a:close/>
                </a:path>
              </a:pathLst>
            </a:custGeom>
            <a:solidFill>
              <a:srgbClr val="E26F39"/>
            </a:solidFill>
            <a:ln w="38130" cap="sq">
              <a:solidFill>
                <a:srgbClr val="E26F39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722436" y="4163739"/>
            <a:ext cx="73216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AFAF8"/>
                </a:solidFill>
                <a:latin typeface="Georgia Bold"/>
                <a:ea typeface="Georgia Bold"/>
                <a:cs typeface="Georgia Bold"/>
                <a:sym typeface="Georgia Bold"/>
              </a:rPr>
              <a:t>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18710" y="4163739"/>
            <a:ext cx="73216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AFAF8"/>
                </a:solidFill>
                <a:latin typeface="Georgia Bold"/>
                <a:ea typeface="Georgia Bold"/>
                <a:cs typeface="Georgia Bold"/>
                <a:sym typeface="Georgia Bold"/>
              </a:rPr>
              <a:t>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87210" y="5417068"/>
            <a:ext cx="1418501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A ∩ B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11180" y="2257758"/>
            <a:ext cx="2759640" cy="6054061"/>
            <a:chOff x="0" y="0"/>
            <a:chExt cx="3679520" cy="80720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79571" cy="8072120"/>
            </a:xfrm>
            <a:custGeom>
              <a:avLst/>
              <a:gdLst/>
              <a:ahLst/>
              <a:cxnLst/>
              <a:rect r="r" b="b" t="t" l="l"/>
              <a:pathLst>
                <a:path h="8072120" w="3679571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3385185" y="0"/>
                  </a:lnTo>
                  <a:cubicBezTo>
                    <a:pt x="3547745" y="0"/>
                    <a:pt x="3679571" y="131826"/>
                    <a:pt x="3679571" y="294386"/>
                  </a:cubicBezTo>
                  <a:lnTo>
                    <a:pt x="3679571" y="7777734"/>
                  </a:lnTo>
                  <a:cubicBezTo>
                    <a:pt x="3679571" y="7940294"/>
                    <a:pt x="3547745" y="8072120"/>
                    <a:pt x="3385185" y="8072120"/>
                  </a:cubicBezTo>
                  <a:lnTo>
                    <a:pt x="294386" y="8072120"/>
                  </a:lnTo>
                  <a:cubicBezTo>
                    <a:pt x="131826" y="8072120"/>
                    <a:pt x="0" y="7940294"/>
                    <a:pt x="0" y="77777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426946" y="2644273"/>
            <a:ext cx="11281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UNION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69955" y="3361144"/>
            <a:ext cx="224209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A | 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38583" y="4360116"/>
            <a:ext cx="21048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</a:pPr>
            <a:r>
              <a:rPr lang="en-US" sz="20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All values in A or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69955" y="5969222"/>
            <a:ext cx="22420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{1,2,3,4,5,6,7,8}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01318" y="7105459"/>
            <a:ext cx="23793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17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method: union()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631062" y="2257758"/>
            <a:ext cx="2759640" cy="6054061"/>
            <a:chOff x="0" y="0"/>
            <a:chExt cx="3679520" cy="80720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79571" cy="8072120"/>
            </a:xfrm>
            <a:custGeom>
              <a:avLst/>
              <a:gdLst/>
              <a:ahLst/>
              <a:cxnLst/>
              <a:rect r="r" b="b" t="t" l="l"/>
              <a:pathLst>
                <a:path h="8072120" w="3679571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3385185" y="0"/>
                  </a:lnTo>
                  <a:cubicBezTo>
                    <a:pt x="3547745" y="0"/>
                    <a:pt x="3679571" y="131826"/>
                    <a:pt x="3679571" y="294386"/>
                  </a:cubicBezTo>
                  <a:lnTo>
                    <a:pt x="3679571" y="7777734"/>
                  </a:lnTo>
                  <a:cubicBezTo>
                    <a:pt x="3679571" y="7940294"/>
                    <a:pt x="3547745" y="8072120"/>
                    <a:pt x="3385185" y="8072120"/>
                  </a:cubicBezTo>
                  <a:lnTo>
                    <a:pt x="294386" y="8072120"/>
                  </a:lnTo>
                  <a:cubicBezTo>
                    <a:pt x="131826" y="8072120"/>
                    <a:pt x="0" y="7940294"/>
                    <a:pt x="0" y="77777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762284" y="2644273"/>
            <a:ext cx="24971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INTERSECTION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89828" y="3361144"/>
            <a:ext cx="224209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A &amp;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8465" y="4360116"/>
            <a:ext cx="210483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</a:pPr>
            <a:r>
              <a:rPr lang="en-US" sz="20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Only common values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89828" y="5969222"/>
            <a:ext cx="22420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{1,2,3}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21200" y="7105459"/>
            <a:ext cx="23793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17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method: intersection()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650944" y="2257758"/>
            <a:ext cx="2759640" cy="6054061"/>
            <a:chOff x="0" y="0"/>
            <a:chExt cx="3679520" cy="80720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79571" cy="8072120"/>
            </a:xfrm>
            <a:custGeom>
              <a:avLst/>
              <a:gdLst/>
              <a:ahLst/>
              <a:cxnLst/>
              <a:rect r="r" b="b" t="t" l="l"/>
              <a:pathLst>
                <a:path h="8072120" w="3679571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3385185" y="0"/>
                  </a:lnTo>
                  <a:cubicBezTo>
                    <a:pt x="3547745" y="0"/>
                    <a:pt x="3679571" y="131826"/>
                    <a:pt x="3679571" y="294386"/>
                  </a:cubicBezTo>
                  <a:lnTo>
                    <a:pt x="3679571" y="7777734"/>
                  </a:lnTo>
                  <a:cubicBezTo>
                    <a:pt x="3679571" y="7940294"/>
                    <a:pt x="3547745" y="8072120"/>
                    <a:pt x="3385185" y="8072120"/>
                  </a:cubicBezTo>
                  <a:lnTo>
                    <a:pt x="294386" y="8072120"/>
                  </a:lnTo>
                  <a:cubicBezTo>
                    <a:pt x="131826" y="8072120"/>
                    <a:pt x="0" y="7940294"/>
                    <a:pt x="0" y="777773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964927" y="2644273"/>
            <a:ext cx="213166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DIFFERENCE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09710" y="3361144"/>
            <a:ext cx="224209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A - 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78347" y="4360116"/>
            <a:ext cx="21048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</a:pPr>
            <a:r>
              <a:rPr lang="en-US" sz="20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In A but not in 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09710" y="5969222"/>
            <a:ext cx="22420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{1,2,3}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1073" y="7105459"/>
            <a:ext cx="23793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1"/>
              </a:lnSpc>
            </a:pPr>
            <a:r>
              <a:rPr lang="en-US" sz="17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method: difference()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2.2.3 STRINGS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Strings are sequences too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4044" y="1967465"/>
            <a:ext cx="1473342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6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 string is a sequence of characters. Python strings are immutable: you create a new string rather than changing one character in place.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170" y="3493170"/>
            <a:ext cx="7358101" cy="4269581"/>
            <a:chOff x="0" y="0"/>
            <a:chExt cx="9810801" cy="569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10750" cy="5692775"/>
            </a:xfrm>
            <a:custGeom>
              <a:avLst/>
              <a:gdLst/>
              <a:ahLst/>
              <a:cxnLst/>
              <a:rect r="r" b="b" t="t" l="l"/>
              <a:pathLst>
                <a:path h="5692775" w="9810750">
                  <a:moveTo>
                    <a:pt x="0" y="455422"/>
                  </a:moveTo>
                  <a:cubicBezTo>
                    <a:pt x="0" y="203962"/>
                    <a:pt x="203962" y="0"/>
                    <a:pt x="455422" y="0"/>
                  </a:cubicBezTo>
                  <a:lnTo>
                    <a:pt x="9355328" y="0"/>
                  </a:lnTo>
                  <a:cubicBezTo>
                    <a:pt x="9606788" y="0"/>
                    <a:pt x="9810750" y="203962"/>
                    <a:pt x="9810750" y="455422"/>
                  </a:cubicBezTo>
                  <a:lnTo>
                    <a:pt x="9810750" y="5237353"/>
                  </a:lnTo>
                  <a:cubicBezTo>
                    <a:pt x="9810750" y="5488813"/>
                    <a:pt x="9606788" y="5692775"/>
                    <a:pt x="9355328" y="5692775"/>
                  </a:cubicBezTo>
                  <a:lnTo>
                    <a:pt x="455422" y="5692775"/>
                  </a:lnTo>
                  <a:cubicBezTo>
                    <a:pt x="203962" y="5692775"/>
                    <a:pt x="0" y="5488940"/>
                    <a:pt x="0" y="5237353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81122" y="3710759"/>
            <a:ext cx="675819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00" b="true">
                <a:solidFill>
                  <a:srgbClr val="5F9C9E"/>
                </a:solidFill>
                <a:latin typeface="Aptos Bold"/>
                <a:ea typeface="Aptos Bold"/>
                <a:cs typeface="Aptos Bold"/>
                <a:sym typeface="Aptos Bold"/>
              </a:rPr>
              <a:t>SEQUENCE 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690" y="4020045"/>
            <a:ext cx="6813061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s = 'hello'</a:t>
            </a: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print(len(s))    # 5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print(s[1])      # e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print(s[0:3])    # hel</a:t>
            </a:r>
          </a:p>
          <a:p>
            <a:pPr algn="l">
              <a:lnSpc>
                <a:spcPts val="2581"/>
              </a:lnSpc>
            </a:pPr>
            <a:r>
              <a:rPr lang="en-US" sz="215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print('he' in s) # True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46591" y="3493170"/>
            <a:ext cx="7358101" cy="1592875"/>
            <a:chOff x="0" y="0"/>
            <a:chExt cx="9810801" cy="2123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108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9810877">
                  <a:moveTo>
                    <a:pt x="0" y="169926"/>
                  </a:moveTo>
                  <a:cubicBezTo>
                    <a:pt x="0" y="76073"/>
                    <a:pt x="76073" y="0"/>
                    <a:pt x="169926" y="0"/>
                  </a:cubicBezTo>
                  <a:lnTo>
                    <a:pt x="9640951" y="0"/>
                  </a:lnTo>
                  <a:cubicBezTo>
                    <a:pt x="9734804" y="0"/>
                    <a:pt x="9810877" y="76073"/>
                    <a:pt x="9810877" y="169926"/>
                  </a:cubicBezTo>
                  <a:lnTo>
                    <a:pt x="9810877" y="1953895"/>
                  </a:lnTo>
                  <a:cubicBezTo>
                    <a:pt x="9810877" y="2047748"/>
                    <a:pt x="9734804" y="2123821"/>
                    <a:pt x="9640951" y="2123821"/>
                  </a:cubicBezTo>
                  <a:lnTo>
                    <a:pt x="169926" y="2123821"/>
                  </a:lnTo>
                  <a:cubicBezTo>
                    <a:pt x="76073" y="2123821"/>
                    <a:pt x="0" y="2047748"/>
                    <a:pt x="0" y="1953895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270082" y="3879675"/>
            <a:ext cx="178787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Indexable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0133" y="3889200"/>
            <a:ext cx="388931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s[0], s[1], …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46591" y="5414905"/>
            <a:ext cx="7358101" cy="1592875"/>
            <a:chOff x="0" y="0"/>
            <a:chExt cx="9810801" cy="2123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108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9810877">
                  <a:moveTo>
                    <a:pt x="0" y="169926"/>
                  </a:moveTo>
                  <a:cubicBezTo>
                    <a:pt x="0" y="76073"/>
                    <a:pt x="76073" y="0"/>
                    <a:pt x="169926" y="0"/>
                  </a:cubicBezTo>
                  <a:lnTo>
                    <a:pt x="9640951" y="0"/>
                  </a:lnTo>
                  <a:cubicBezTo>
                    <a:pt x="9734804" y="0"/>
                    <a:pt x="9810877" y="76073"/>
                    <a:pt x="9810877" y="169926"/>
                  </a:cubicBezTo>
                  <a:lnTo>
                    <a:pt x="9810877" y="1953895"/>
                  </a:lnTo>
                  <a:cubicBezTo>
                    <a:pt x="9810877" y="2047748"/>
                    <a:pt x="9734804" y="2123821"/>
                    <a:pt x="9640951" y="2123821"/>
                  </a:cubicBezTo>
                  <a:lnTo>
                    <a:pt x="169926" y="2123821"/>
                  </a:lnTo>
                  <a:cubicBezTo>
                    <a:pt x="76073" y="2123821"/>
                    <a:pt x="0" y="2047748"/>
                    <a:pt x="0" y="1953895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270082" y="5801420"/>
            <a:ext cx="161002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7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Sliceable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10133" y="5858570"/>
            <a:ext cx="388931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15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s[start:end]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46591" y="7336650"/>
            <a:ext cx="7358101" cy="1112434"/>
            <a:chOff x="0" y="0"/>
            <a:chExt cx="9810801" cy="14832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10750" cy="1483106"/>
            </a:xfrm>
            <a:custGeom>
              <a:avLst/>
              <a:gdLst/>
              <a:ahLst/>
              <a:cxnLst/>
              <a:rect r="r" b="b" t="t" l="l"/>
              <a:pathLst>
                <a:path h="1483106" w="9810750">
                  <a:moveTo>
                    <a:pt x="0" y="118618"/>
                  </a:moveTo>
                  <a:cubicBezTo>
                    <a:pt x="0" y="53086"/>
                    <a:pt x="53086" y="0"/>
                    <a:pt x="118618" y="0"/>
                  </a:cubicBezTo>
                  <a:lnTo>
                    <a:pt x="9692132" y="0"/>
                  </a:lnTo>
                  <a:cubicBezTo>
                    <a:pt x="9757663" y="0"/>
                    <a:pt x="9810750" y="53086"/>
                    <a:pt x="9810750" y="118618"/>
                  </a:cubicBezTo>
                  <a:lnTo>
                    <a:pt x="9810750" y="1364488"/>
                  </a:lnTo>
                  <a:cubicBezTo>
                    <a:pt x="9810750" y="1430020"/>
                    <a:pt x="9757663" y="1483106"/>
                    <a:pt x="9692132" y="1483106"/>
                  </a:cubicBezTo>
                  <a:lnTo>
                    <a:pt x="118618" y="1483106"/>
                  </a:lnTo>
                  <a:cubicBezTo>
                    <a:pt x="53086" y="1483106"/>
                    <a:pt x="0" y="1430020"/>
                    <a:pt x="0" y="1364488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7EFD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242622" y="7657605"/>
            <a:ext cx="64973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Immutable → s[0] = 'H' is an error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SEQUENCE OPERATIONS ON STRINGS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String operations: inspect and combine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42043"/>
            <a:ext cx="7632630" cy="1318336"/>
            <a:chOff x="0" y="0"/>
            <a:chExt cx="10176840" cy="17577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180644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len(s)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65730" y="2180644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0632" y="2228269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length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17209" y="1942043"/>
            <a:ext cx="7632630" cy="1318336"/>
            <a:chOff x="0" y="0"/>
            <a:chExt cx="10176840" cy="17577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17161" y="2180644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s[1]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1759" y="2180644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'e'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66671" y="2228269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select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1170" y="3561798"/>
            <a:ext cx="7632630" cy="1318336"/>
            <a:chOff x="0" y="0"/>
            <a:chExt cx="10176840" cy="17577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81122" y="3800399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s[0:3]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65730" y="3800399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'hel'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30632" y="3848024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slice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17209" y="3561798"/>
            <a:ext cx="7632630" cy="1318336"/>
            <a:chOff x="0" y="0"/>
            <a:chExt cx="10176840" cy="1757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517161" y="3800399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s.count('l')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1759" y="3800399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66671" y="3848024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count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1170" y="5181552"/>
            <a:ext cx="7632630" cy="1318336"/>
            <a:chOff x="0" y="0"/>
            <a:chExt cx="10176840" cy="17577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81122" y="5420154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s.index('o')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65730" y="5420154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30632" y="5467779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first index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17209" y="5181552"/>
            <a:ext cx="7632630" cy="1318336"/>
            <a:chOff x="0" y="0"/>
            <a:chExt cx="10176840" cy="17577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517161" y="5420154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min(s) / max(s)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01759" y="5420154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e / 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66671" y="5467779"/>
            <a:ext cx="141850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Unicode order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1170" y="6801307"/>
            <a:ext cx="7632630" cy="1318336"/>
            <a:chOff x="0" y="0"/>
            <a:chExt cx="10176840" cy="17577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81122" y="7039908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'he' in 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65730" y="7039908"/>
            <a:ext cx="21734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True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11757" y="7087533"/>
            <a:ext cx="1637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membership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17209" y="6801307"/>
            <a:ext cx="7632630" cy="1318336"/>
            <a:chOff x="0" y="0"/>
            <a:chExt cx="10176840" cy="17577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76764" cy="1757807"/>
            </a:xfrm>
            <a:custGeom>
              <a:avLst/>
              <a:gdLst/>
              <a:ahLst/>
              <a:cxnLst/>
              <a:rect r="r" b="b" t="t" l="l"/>
              <a:pathLst>
                <a:path h="1757807" w="10176764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10036175" y="0"/>
                  </a:lnTo>
                  <a:cubicBezTo>
                    <a:pt x="10113899" y="0"/>
                    <a:pt x="10176764" y="62992"/>
                    <a:pt x="10176764" y="140589"/>
                  </a:cubicBezTo>
                  <a:lnTo>
                    <a:pt x="10176764" y="1617218"/>
                  </a:lnTo>
                  <a:cubicBezTo>
                    <a:pt x="10176764" y="1694942"/>
                    <a:pt x="10113772" y="1757807"/>
                    <a:pt x="10036175" y="1757807"/>
                  </a:cubicBezTo>
                  <a:lnTo>
                    <a:pt x="140589" y="1757807"/>
                  </a:lnTo>
                  <a:cubicBezTo>
                    <a:pt x="62992" y="1757807"/>
                    <a:pt x="0" y="1694815"/>
                    <a:pt x="0" y="161721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517161" y="7039908"/>
            <a:ext cx="299707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s1 + s2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01759" y="7039908"/>
            <a:ext cx="22649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1" b="true">
                <a:solidFill>
                  <a:srgbClr val="202228"/>
                </a:solidFill>
                <a:latin typeface="Consolas Bold"/>
                <a:ea typeface="Consolas Bold"/>
                <a:cs typeface="Consolas Bold"/>
                <a:sym typeface="Consolas Bold"/>
              </a:rPr>
              <a:t>→ concatenate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966671" y="7087533"/>
            <a:ext cx="141850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join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COMMON STRING METHODS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String methods: validate &amp; transform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42043"/>
            <a:ext cx="4887287" cy="1730140"/>
            <a:chOff x="0" y="0"/>
            <a:chExt cx="6516383" cy="2306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1122" y="2195493"/>
            <a:ext cx="158948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isalpha()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122" y="272243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letters only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122" y="3100330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'hello' → True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1866" y="1942043"/>
            <a:ext cx="4887287" cy="1730140"/>
            <a:chOff x="0" y="0"/>
            <a:chExt cx="6516383" cy="2306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771818" y="2195493"/>
            <a:ext cx="140806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isdigit()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1818" y="272243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digits only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1818" y="3100330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'123' → True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62552" y="1942043"/>
            <a:ext cx="4887287" cy="1730140"/>
            <a:chOff x="0" y="0"/>
            <a:chExt cx="6516383" cy="2306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262504" y="2195493"/>
            <a:ext cx="161076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islower()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62504" y="272243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all lowercase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62504" y="3100330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'hello' → True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1170" y="4028504"/>
            <a:ext cx="4887287" cy="1730140"/>
            <a:chOff x="0" y="0"/>
            <a:chExt cx="6516383" cy="23068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81122" y="4281954"/>
            <a:ext cx="166196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isupper()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1122" y="480889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all uppercase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1122" y="518680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'HELLO' → True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71866" y="4028504"/>
            <a:ext cx="4887287" cy="1730140"/>
            <a:chOff x="0" y="0"/>
            <a:chExt cx="6516383" cy="23068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6771818" y="4281954"/>
            <a:ext cx="131370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lower()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71818" y="480889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lowercase copy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71818" y="518680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'HAI' → 'hai'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62552" y="4028504"/>
            <a:ext cx="4887287" cy="1730140"/>
            <a:chOff x="0" y="0"/>
            <a:chExt cx="6516383" cy="23068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262504" y="4281954"/>
            <a:ext cx="136475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upper()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62504" y="4808896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uppercase copy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62504" y="518680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'hai' → 'HAI'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1170" y="6114974"/>
            <a:ext cx="4887287" cy="1730140"/>
            <a:chOff x="0" y="0"/>
            <a:chExt cx="6516383" cy="23068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81122" y="6368415"/>
            <a:ext cx="132323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find(w)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1122" y="6895357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first index of 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1122" y="727326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'hai'.find('a') → 1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471866" y="6114974"/>
            <a:ext cx="4887287" cy="1730140"/>
            <a:chOff x="0" y="0"/>
            <a:chExt cx="6516383" cy="23068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6771818" y="6368415"/>
            <a:ext cx="21529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replace(w,t)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71818" y="6895357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replace occurrences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71818" y="727326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E26F39"/>
                </a:solidFill>
                <a:latin typeface="Consolas Bold"/>
                <a:ea typeface="Consolas Bold"/>
                <a:cs typeface="Consolas Bold"/>
                <a:sym typeface="Consolas Bold"/>
              </a:rPr>
              <a:t>'hai'.replace('h','c') → 'cai'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962552" y="6114974"/>
            <a:ext cx="4887287" cy="1730140"/>
            <a:chOff x="0" y="0"/>
            <a:chExt cx="6516383" cy="23068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16370" cy="2306828"/>
            </a:xfrm>
            <a:custGeom>
              <a:avLst/>
              <a:gdLst/>
              <a:ahLst/>
              <a:cxnLst/>
              <a:rect r="r" b="b" t="t" l="l"/>
              <a:pathLst>
                <a:path h="2306828" w="65163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331839" y="0"/>
                  </a:lnTo>
                  <a:cubicBezTo>
                    <a:pt x="6433820" y="0"/>
                    <a:pt x="6516370" y="82677"/>
                    <a:pt x="6516370" y="184531"/>
                  </a:cubicBezTo>
                  <a:lnTo>
                    <a:pt x="6516370" y="2122297"/>
                  </a:lnTo>
                  <a:cubicBezTo>
                    <a:pt x="6516370" y="2224278"/>
                    <a:pt x="6433693" y="2306828"/>
                    <a:pt x="6331839" y="2306828"/>
                  </a:cubicBezTo>
                  <a:lnTo>
                    <a:pt x="184531" y="2306828"/>
                  </a:lnTo>
                  <a:cubicBezTo>
                    <a:pt x="82677" y="2306828"/>
                    <a:pt x="0" y="2224278"/>
                    <a:pt x="0" y="212229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2262504" y="6368415"/>
            <a:ext cx="21184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strip(chars)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62504" y="6895357"/>
            <a:ext cx="4163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trim ends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62504" y="7273261"/>
            <a:ext cx="416384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5" b="true">
                <a:solidFill>
                  <a:srgbClr val="3D7D85"/>
                </a:solidFill>
                <a:latin typeface="Consolas Bold"/>
                <a:ea typeface="Consolas Bold"/>
                <a:cs typeface="Consolas Bold"/>
                <a:sym typeface="Consolas Bold"/>
              </a:rPr>
              <a:t>' hai! '.strip(' !') → 'hai'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THREE STYLES IN THE SOURCE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String formatting: make output readable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2120494"/>
            <a:ext cx="4887287" cy="5952887"/>
            <a:chOff x="0" y="0"/>
            <a:chExt cx="6516383" cy="7937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16370" cy="7937220"/>
            </a:xfrm>
            <a:custGeom>
              <a:avLst/>
              <a:gdLst/>
              <a:ahLst/>
              <a:cxnLst/>
              <a:rect r="r" b="b" t="t" l="l"/>
              <a:pathLst>
                <a:path h="7937220" w="6516370">
                  <a:moveTo>
                    <a:pt x="0" y="634985"/>
                  </a:moveTo>
                  <a:cubicBezTo>
                    <a:pt x="0" y="284299"/>
                    <a:pt x="213741" y="0"/>
                    <a:pt x="477393" y="0"/>
                  </a:cubicBezTo>
                  <a:lnTo>
                    <a:pt x="6038977" y="0"/>
                  </a:lnTo>
                  <a:cubicBezTo>
                    <a:pt x="6302629" y="0"/>
                    <a:pt x="6516370" y="284299"/>
                    <a:pt x="6516370" y="634985"/>
                  </a:cubicBezTo>
                  <a:lnTo>
                    <a:pt x="6516370" y="7302247"/>
                  </a:lnTo>
                  <a:cubicBezTo>
                    <a:pt x="6516370" y="7652934"/>
                    <a:pt x="6302629" y="7937220"/>
                    <a:pt x="6038977" y="7937220"/>
                  </a:cubicBezTo>
                  <a:lnTo>
                    <a:pt x="477393" y="7937220"/>
                  </a:lnTo>
                  <a:cubicBezTo>
                    <a:pt x="213741" y="7937220"/>
                    <a:pt x="0" y="7652934"/>
                    <a:pt x="0" y="73022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08573" y="2548185"/>
            <a:ext cx="14326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f-string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5709" y="3259807"/>
            <a:ext cx="4338218" cy="1867405"/>
            <a:chOff x="0" y="0"/>
            <a:chExt cx="5784291" cy="24898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4215" cy="2489835"/>
            </a:xfrm>
            <a:custGeom>
              <a:avLst/>
              <a:gdLst/>
              <a:ahLst/>
              <a:cxnLst/>
              <a:rect r="r" b="b" t="t" l="l"/>
              <a:pathLst>
                <a:path h="2489835" w="5784215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5585079" y="0"/>
                  </a:lnTo>
                  <a:cubicBezTo>
                    <a:pt x="5695061" y="0"/>
                    <a:pt x="5784215" y="89154"/>
                    <a:pt x="5784215" y="199136"/>
                  </a:cubicBezTo>
                  <a:lnTo>
                    <a:pt x="5784215" y="2290699"/>
                  </a:lnTo>
                  <a:cubicBezTo>
                    <a:pt x="5784215" y="2400681"/>
                    <a:pt x="5695061" y="2489835"/>
                    <a:pt x="5585079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28229" y="3494227"/>
            <a:ext cx="37931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name = "Cathy"</a:t>
            </a:r>
          </a:p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print(f"Hai {name} !")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573" y="559551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Clear and modern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71866" y="2120494"/>
            <a:ext cx="4887287" cy="5952887"/>
            <a:chOff x="0" y="0"/>
            <a:chExt cx="6516383" cy="79371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6370" cy="7937220"/>
            </a:xfrm>
            <a:custGeom>
              <a:avLst/>
              <a:gdLst/>
              <a:ahLst/>
              <a:cxnLst/>
              <a:rect r="r" b="b" t="t" l="l"/>
              <a:pathLst>
                <a:path h="7937220" w="6516370">
                  <a:moveTo>
                    <a:pt x="0" y="634985"/>
                  </a:moveTo>
                  <a:cubicBezTo>
                    <a:pt x="0" y="284299"/>
                    <a:pt x="213741" y="0"/>
                    <a:pt x="477393" y="0"/>
                  </a:cubicBezTo>
                  <a:lnTo>
                    <a:pt x="6038977" y="0"/>
                  </a:lnTo>
                  <a:cubicBezTo>
                    <a:pt x="6302629" y="0"/>
                    <a:pt x="6516370" y="284299"/>
                    <a:pt x="6516370" y="634985"/>
                  </a:cubicBezTo>
                  <a:lnTo>
                    <a:pt x="6516370" y="7302247"/>
                  </a:lnTo>
                  <a:cubicBezTo>
                    <a:pt x="6516370" y="7652934"/>
                    <a:pt x="6302629" y="7937220"/>
                    <a:pt x="6038977" y="7937220"/>
                  </a:cubicBezTo>
                  <a:lnTo>
                    <a:pt x="477393" y="7937220"/>
                  </a:lnTo>
                  <a:cubicBezTo>
                    <a:pt x="213741" y="7937220"/>
                    <a:pt x="0" y="7652934"/>
                    <a:pt x="0" y="7302247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799269" y="2548185"/>
            <a:ext cx="166836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format()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746396" y="3259807"/>
            <a:ext cx="4338218" cy="1867405"/>
            <a:chOff x="0" y="0"/>
            <a:chExt cx="5784291" cy="24898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84215" cy="2489835"/>
            </a:xfrm>
            <a:custGeom>
              <a:avLst/>
              <a:gdLst/>
              <a:ahLst/>
              <a:cxnLst/>
              <a:rect r="r" b="b" t="t" l="l"/>
              <a:pathLst>
                <a:path h="2489835" w="5784215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5585079" y="0"/>
                  </a:lnTo>
                  <a:cubicBezTo>
                    <a:pt x="5695061" y="0"/>
                    <a:pt x="5784215" y="89154"/>
                    <a:pt x="5784215" y="199136"/>
                  </a:cubicBezTo>
                  <a:lnTo>
                    <a:pt x="5784215" y="2290699"/>
                  </a:lnTo>
                  <a:cubicBezTo>
                    <a:pt x="5784215" y="2400681"/>
                    <a:pt x="5695061" y="2489835"/>
                    <a:pt x="5585079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018915" y="3494227"/>
            <a:ext cx="379317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"{} {} {}".format("how","are","you?")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99269" y="559551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Placeholders + arguments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62552" y="2120494"/>
            <a:ext cx="4887287" cy="5952887"/>
            <a:chOff x="0" y="0"/>
            <a:chExt cx="6516383" cy="79371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6370" cy="7937220"/>
            </a:xfrm>
            <a:custGeom>
              <a:avLst/>
              <a:gdLst/>
              <a:ahLst/>
              <a:cxnLst/>
              <a:rect r="r" b="b" t="t" l="l"/>
              <a:pathLst>
                <a:path h="7937220" w="6516370">
                  <a:moveTo>
                    <a:pt x="0" y="634985"/>
                  </a:moveTo>
                  <a:cubicBezTo>
                    <a:pt x="0" y="284299"/>
                    <a:pt x="213741" y="0"/>
                    <a:pt x="477393" y="0"/>
                  </a:cubicBezTo>
                  <a:lnTo>
                    <a:pt x="6038977" y="0"/>
                  </a:lnTo>
                  <a:cubicBezTo>
                    <a:pt x="6302629" y="0"/>
                    <a:pt x="6516370" y="284299"/>
                    <a:pt x="6516370" y="634985"/>
                  </a:cubicBezTo>
                  <a:lnTo>
                    <a:pt x="6516370" y="7302247"/>
                  </a:lnTo>
                  <a:cubicBezTo>
                    <a:pt x="6516370" y="7652934"/>
                    <a:pt x="6302629" y="7937220"/>
                    <a:pt x="6038977" y="7937220"/>
                  </a:cubicBezTo>
                  <a:lnTo>
                    <a:pt x="477393" y="7937220"/>
                  </a:lnTo>
                  <a:cubicBezTo>
                    <a:pt x="213741" y="7937220"/>
                    <a:pt x="0" y="7652934"/>
                    <a:pt x="0" y="73022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89955" y="2548185"/>
            <a:ext cx="21242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% operator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237091" y="3259807"/>
            <a:ext cx="4338218" cy="1867405"/>
            <a:chOff x="0" y="0"/>
            <a:chExt cx="5784291" cy="24898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84215" cy="2489835"/>
            </a:xfrm>
            <a:custGeom>
              <a:avLst/>
              <a:gdLst/>
              <a:ahLst/>
              <a:cxnLst/>
              <a:rect r="r" b="b" t="t" l="l"/>
              <a:pathLst>
                <a:path h="2489835" w="5784215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5585079" y="0"/>
                  </a:lnTo>
                  <a:cubicBezTo>
                    <a:pt x="5695061" y="0"/>
                    <a:pt x="5784215" y="89154"/>
                    <a:pt x="5784215" y="199136"/>
                  </a:cubicBezTo>
                  <a:lnTo>
                    <a:pt x="5784215" y="2290699"/>
                  </a:lnTo>
                  <a:cubicBezTo>
                    <a:pt x="5784215" y="2400681"/>
                    <a:pt x="5695061" y="2489835"/>
                    <a:pt x="5585079" y="2489835"/>
                  </a:cubicBezTo>
                  <a:lnTo>
                    <a:pt x="199136" y="2489835"/>
                  </a:lnTo>
                  <a:cubicBezTo>
                    <a:pt x="89154" y="2489835"/>
                    <a:pt x="0" y="2400681"/>
                    <a:pt x="0" y="2290699"/>
                  </a:cubicBezTo>
                  <a:close/>
                </a:path>
              </a:pathLst>
            </a:custGeom>
            <a:solidFill>
              <a:srgbClr val="1C1F2B"/>
            </a:solidFill>
            <a:ln w="14299" cap="sq">
              <a:solidFill>
                <a:srgbClr val="1C1F2B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509611" y="3494227"/>
            <a:ext cx="37931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FAFAF8"/>
                </a:solidFill>
                <a:latin typeface="Consolas"/>
                <a:ea typeface="Consolas"/>
                <a:cs typeface="Consolas"/>
                <a:sym typeface="Consolas"/>
              </a:rPr>
              <a:t>"%s is carrying %d items" % (name, item)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9955" y="5595518"/>
            <a:ext cx="416384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Older style, still seen in code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LIST • TUPLE • DICT • 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Which collection should I choose?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1983229"/>
            <a:ext cx="3034179" cy="865356"/>
            <a:chOff x="0" y="0"/>
            <a:chExt cx="4045572" cy="115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5585" cy="1153795"/>
            </a:xfrm>
            <a:custGeom>
              <a:avLst/>
              <a:gdLst/>
              <a:ahLst/>
              <a:cxnLst/>
              <a:rect r="r" b="b" t="t" l="l"/>
              <a:pathLst>
                <a:path h="1153795" w="4045585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3953256" y="0"/>
                  </a:lnTo>
                  <a:cubicBezTo>
                    <a:pt x="4004183" y="0"/>
                    <a:pt x="4045585" y="41275"/>
                    <a:pt x="4045585" y="92329"/>
                  </a:cubicBezTo>
                  <a:lnTo>
                    <a:pt x="4045585" y="1061466"/>
                  </a:lnTo>
                  <a:cubicBezTo>
                    <a:pt x="4045585" y="1112393"/>
                    <a:pt x="4004310" y="1153795"/>
                    <a:pt x="3953256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0E2248"/>
            </a:solidFill>
            <a:ln w="14299" cap="sq">
              <a:solidFill>
                <a:srgbClr val="0E224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88955" y="2259921"/>
            <a:ext cx="276371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FAF8"/>
                </a:solidFill>
                <a:latin typeface="Aptos Bold"/>
                <a:ea typeface="Aptos Bold"/>
                <a:cs typeface="Aptos Bold"/>
                <a:sym typeface="Aptos Bold"/>
              </a:rPr>
              <a:t>Property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179503" y="1983229"/>
            <a:ext cx="2416473" cy="865356"/>
            <a:chOff x="0" y="0"/>
            <a:chExt cx="3221965" cy="1153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1990" cy="1153795"/>
            </a:xfrm>
            <a:custGeom>
              <a:avLst/>
              <a:gdLst/>
              <a:ahLst/>
              <a:cxnLst/>
              <a:rect r="r" b="b" t="t" l="l"/>
              <a:pathLst>
                <a:path h="1153795" w="3221990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3129661" y="0"/>
                  </a:lnTo>
                  <a:cubicBezTo>
                    <a:pt x="3180588" y="0"/>
                    <a:pt x="3221990" y="41275"/>
                    <a:pt x="3221990" y="92329"/>
                  </a:cubicBezTo>
                  <a:lnTo>
                    <a:pt x="3221990" y="1061466"/>
                  </a:lnTo>
                  <a:cubicBezTo>
                    <a:pt x="3221990" y="1112393"/>
                    <a:pt x="3180715" y="1153795"/>
                    <a:pt x="3129661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0E2248"/>
            </a:solidFill>
            <a:ln w="14299" cap="sq">
              <a:solidFill>
                <a:srgbClr val="0E224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314730" y="2259921"/>
            <a:ext cx="214602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FAF8"/>
                </a:solidFill>
                <a:latin typeface="Aptos Bold"/>
                <a:ea typeface="Aptos Bold"/>
                <a:cs typeface="Aptos Bold"/>
                <a:sym typeface="Aptos Bold"/>
              </a:rPr>
              <a:t>List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7582" y="1983229"/>
            <a:ext cx="2416473" cy="865356"/>
            <a:chOff x="0" y="0"/>
            <a:chExt cx="3221965" cy="1153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21990" cy="1153795"/>
            </a:xfrm>
            <a:custGeom>
              <a:avLst/>
              <a:gdLst/>
              <a:ahLst/>
              <a:cxnLst/>
              <a:rect r="r" b="b" t="t" l="l"/>
              <a:pathLst>
                <a:path h="1153795" w="3221990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3129661" y="0"/>
                  </a:lnTo>
                  <a:cubicBezTo>
                    <a:pt x="3180588" y="0"/>
                    <a:pt x="3221990" y="41275"/>
                    <a:pt x="3221990" y="92329"/>
                  </a:cubicBezTo>
                  <a:lnTo>
                    <a:pt x="3221990" y="1061466"/>
                  </a:lnTo>
                  <a:cubicBezTo>
                    <a:pt x="3221990" y="1112393"/>
                    <a:pt x="3180715" y="1153795"/>
                    <a:pt x="3129661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0E2248"/>
            </a:solidFill>
            <a:ln w="14299" cap="sq">
              <a:solidFill>
                <a:srgbClr val="0E224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22808" y="2259921"/>
            <a:ext cx="214602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FAF8"/>
                </a:solidFill>
                <a:latin typeface="Aptos Bold"/>
                <a:ea typeface="Aptos Bold"/>
                <a:cs typeface="Aptos Bold"/>
                <a:sym typeface="Aptos Bold"/>
              </a:rPr>
              <a:t>Tuple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95660" y="1983229"/>
            <a:ext cx="2691013" cy="865356"/>
            <a:chOff x="0" y="0"/>
            <a:chExt cx="3588017" cy="1153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88004" cy="1153795"/>
            </a:xfrm>
            <a:custGeom>
              <a:avLst/>
              <a:gdLst/>
              <a:ahLst/>
              <a:cxnLst/>
              <a:rect r="r" b="b" t="t" l="l"/>
              <a:pathLst>
                <a:path h="1153795" w="3588004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3495675" y="0"/>
                  </a:lnTo>
                  <a:cubicBezTo>
                    <a:pt x="3546602" y="0"/>
                    <a:pt x="3588004" y="41275"/>
                    <a:pt x="3588004" y="92329"/>
                  </a:cubicBezTo>
                  <a:lnTo>
                    <a:pt x="3588004" y="1061466"/>
                  </a:lnTo>
                  <a:cubicBezTo>
                    <a:pt x="3588004" y="1112393"/>
                    <a:pt x="3546729" y="1153795"/>
                    <a:pt x="3495675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0E2248"/>
            </a:solidFill>
            <a:ln w="14299" cap="sq">
              <a:solidFill>
                <a:srgbClr val="0E224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30886" y="2259921"/>
            <a:ext cx="24205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FAF8"/>
                </a:solidFill>
                <a:latin typeface="Aptos Bold"/>
                <a:ea typeface="Aptos Bold"/>
                <a:cs typeface="Aptos Bold"/>
                <a:sym typeface="Aptos Bold"/>
              </a:rPr>
              <a:t>Dictionary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346905" y="1983229"/>
            <a:ext cx="3445983" cy="865356"/>
            <a:chOff x="0" y="0"/>
            <a:chExt cx="4594644" cy="1153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4606" cy="1153795"/>
            </a:xfrm>
            <a:custGeom>
              <a:avLst/>
              <a:gdLst/>
              <a:ahLst/>
              <a:cxnLst/>
              <a:rect r="r" b="b" t="t" l="l"/>
              <a:pathLst>
                <a:path h="1153795" w="4594606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4502277" y="0"/>
                  </a:lnTo>
                  <a:cubicBezTo>
                    <a:pt x="4553204" y="0"/>
                    <a:pt x="4594606" y="41275"/>
                    <a:pt x="4594606" y="92329"/>
                  </a:cubicBezTo>
                  <a:lnTo>
                    <a:pt x="4594606" y="1061466"/>
                  </a:lnTo>
                  <a:cubicBezTo>
                    <a:pt x="4594606" y="1112393"/>
                    <a:pt x="4553331" y="1153795"/>
                    <a:pt x="4502277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0E2248"/>
            </a:solidFill>
            <a:ln w="14299" cap="sq">
              <a:solidFill>
                <a:srgbClr val="0E224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482132" y="2259921"/>
            <a:ext cx="317552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FAF8"/>
                </a:solidFill>
                <a:latin typeface="Aptos Bold"/>
                <a:ea typeface="Aptos Bold"/>
                <a:cs typeface="Aptos Bold"/>
                <a:sym typeface="Aptos Bold"/>
              </a:rPr>
              <a:t>Set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2985278"/>
            <a:ext cx="3034179" cy="947718"/>
            <a:chOff x="0" y="0"/>
            <a:chExt cx="4045572" cy="12636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45585" cy="1263650"/>
            </a:xfrm>
            <a:custGeom>
              <a:avLst/>
              <a:gdLst/>
              <a:ahLst/>
              <a:cxnLst/>
              <a:rect r="r" b="b" t="t" l="l"/>
              <a:pathLst>
                <a:path h="1263650" w="404558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944493" y="0"/>
                  </a:lnTo>
                  <a:cubicBezTo>
                    <a:pt x="4000373" y="0"/>
                    <a:pt x="4045585" y="45212"/>
                    <a:pt x="4045585" y="101092"/>
                  </a:cubicBezTo>
                  <a:lnTo>
                    <a:pt x="4045585" y="1162558"/>
                  </a:lnTo>
                  <a:cubicBezTo>
                    <a:pt x="4045585" y="1218438"/>
                    <a:pt x="4000373" y="1263650"/>
                    <a:pt x="3944493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02681" y="3257769"/>
            <a:ext cx="2736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Syntax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179503" y="2985278"/>
            <a:ext cx="2416473" cy="947718"/>
            <a:chOff x="0" y="0"/>
            <a:chExt cx="3221965" cy="12636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4328455" y="3257769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[ ]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787582" y="2985278"/>
            <a:ext cx="2416473" cy="947718"/>
            <a:chOff x="0" y="0"/>
            <a:chExt cx="3221965" cy="12636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936534" y="3257769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( 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95660" y="2985278"/>
            <a:ext cx="2691013" cy="947718"/>
            <a:chOff x="0" y="0"/>
            <a:chExt cx="3588017" cy="12636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88004" cy="1263650"/>
            </a:xfrm>
            <a:custGeom>
              <a:avLst/>
              <a:gdLst/>
              <a:ahLst/>
              <a:cxnLst/>
              <a:rect r="r" b="b" t="t" l="l"/>
              <a:pathLst>
                <a:path h="1263650" w="358800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486912" y="0"/>
                  </a:lnTo>
                  <a:cubicBezTo>
                    <a:pt x="3542792" y="0"/>
                    <a:pt x="3588004" y="45212"/>
                    <a:pt x="3588004" y="101092"/>
                  </a:cubicBezTo>
                  <a:lnTo>
                    <a:pt x="3588004" y="1162558"/>
                  </a:lnTo>
                  <a:cubicBezTo>
                    <a:pt x="3588004" y="1218438"/>
                    <a:pt x="3542792" y="1263650"/>
                    <a:pt x="3486912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544612" y="3257769"/>
            <a:ext cx="23930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{key: value}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346905" y="2985278"/>
            <a:ext cx="3445983" cy="947718"/>
            <a:chOff x="0" y="0"/>
            <a:chExt cx="4594644" cy="12636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94606" cy="1263650"/>
            </a:xfrm>
            <a:custGeom>
              <a:avLst/>
              <a:gdLst/>
              <a:ahLst/>
              <a:cxnLst/>
              <a:rect r="r" b="b" t="t" l="l"/>
              <a:pathLst>
                <a:path h="1263650" w="4594606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493514" y="0"/>
                  </a:lnTo>
                  <a:cubicBezTo>
                    <a:pt x="4549394" y="0"/>
                    <a:pt x="4594606" y="45212"/>
                    <a:pt x="4594606" y="101092"/>
                  </a:cubicBezTo>
                  <a:lnTo>
                    <a:pt x="4594606" y="1162558"/>
                  </a:lnTo>
                  <a:cubicBezTo>
                    <a:pt x="4594606" y="1218438"/>
                    <a:pt x="4549394" y="1263650"/>
                    <a:pt x="4493514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495857" y="3257769"/>
            <a:ext cx="31480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{ }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3719" y="4055964"/>
            <a:ext cx="3034179" cy="947718"/>
            <a:chOff x="0" y="0"/>
            <a:chExt cx="4045572" cy="12636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45585" cy="1263650"/>
            </a:xfrm>
            <a:custGeom>
              <a:avLst/>
              <a:gdLst/>
              <a:ahLst/>
              <a:cxnLst/>
              <a:rect r="r" b="b" t="t" l="l"/>
              <a:pathLst>
                <a:path h="1263650" w="404558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944493" y="0"/>
                  </a:lnTo>
                  <a:cubicBezTo>
                    <a:pt x="4000373" y="0"/>
                    <a:pt x="4045585" y="45212"/>
                    <a:pt x="4045585" y="101092"/>
                  </a:cubicBezTo>
                  <a:lnTo>
                    <a:pt x="4045585" y="1162558"/>
                  </a:lnTo>
                  <a:cubicBezTo>
                    <a:pt x="4045585" y="1218438"/>
                    <a:pt x="4000373" y="1263650"/>
                    <a:pt x="3944493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102681" y="4328455"/>
            <a:ext cx="2736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Mutable?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179503" y="4055964"/>
            <a:ext cx="2416473" cy="947718"/>
            <a:chOff x="0" y="0"/>
            <a:chExt cx="3221965" cy="12636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4328455" y="4328455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Yes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787582" y="4055964"/>
            <a:ext cx="2416473" cy="947718"/>
            <a:chOff x="0" y="0"/>
            <a:chExt cx="3221965" cy="12636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6936534" y="4328455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No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95660" y="4055964"/>
            <a:ext cx="2691013" cy="947718"/>
            <a:chOff x="0" y="0"/>
            <a:chExt cx="3588017" cy="12636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88004" cy="1263650"/>
            </a:xfrm>
            <a:custGeom>
              <a:avLst/>
              <a:gdLst/>
              <a:ahLst/>
              <a:cxnLst/>
              <a:rect r="r" b="b" t="t" l="l"/>
              <a:pathLst>
                <a:path h="1263650" w="358800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486912" y="0"/>
                  </a:lnTo>
                  <a:cubicBezTo>
                    <a:pt x="3542792" y="0"/>
                    <a:pt x="3588004" y="45212"/>
                    <a:pt x="3588004" y="101092"/>
                  </a:cubicBezTo>
                  <a:lnTo>
                    <a:pt x="3588004" y="1162558"/>
                  </a:lnTo>
                  <a:cubicBezTo>
                    <a:pt x="3588004" y="1218438"/>
                    <a:pt x="3542792" y="1263650"/>
                    <a:pt x="3486912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9544612" y="4328455"/>
            <a:ext cx="23930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Yes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46905" y="4055964"/>
            <a:ext cx="3445983" cy="947718"/>
            <a:chOff x="0" y="0"/>
            <a:chExt cx="4594644" cy="12636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94606" cy="1263650"/>
            </a:xfrm>
            <a:custGeom>
              <a:avLst/>
              <a:gdLst/>
              <a:ahLst/>
              <a:cxnLst/>
              <a:rect r="r" b="b" t="t" l="l"/>
              <a:pathLst>
                <a:path h="1263650" w="4594606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493514" y="0"/>
                  </a:lnTo>
                  <a:cubicBezTo>
                    <a:pt x="4549394" y="0"/>
                    <a:pt x="4594606" y="45212"/>
                    <a:pt x="4594606" y="101092"/>
                  </a:cubicBezTo>
                  <a:lnTo>
                    <a:pt x="4594606" y="1162558"/>
                  </a:lnTo>
                  <a:cubicBezTo>
                    <a:pt x="4594606" y="1218438"/>
                    <a:pt x="4549394" y="1263650"/>
                    <a:pt x="4493514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495857" y="4328455"/>
            <a:ext cx="31480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Yes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53719" y="5126641"/>
            <a:ext cx="3034179" cy="947718"/>
            <a:chOff x="0" y="0"/>
            <a:chExt cx="4045572" cy="12636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45585" cy="1263650"/>
            </a:xfrm>
            <a:custGeom>
              <a:avLst/>
              <a:gdLst/>
              <a:ahLst/>
              <a:cxnLst/>
              <a:rect r="r" b="b" t="t" l="l"/>
              <a:pathLst>
                <a:path h="1263650" w="404558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944493" y="0"/>
                  </a:lnTo>
                  <a:cubicBezTo>
                    <a:pt x="4000373" y="0"/>
                    <a:pt x="4045585" y="45212"/>
                    <a:pt x="4045585" y="101092"/>
                  </a:cubicBezTo>
                  <a:lnTo>
                    <a:pt x="4045585" y="1162558"/>
                  </a:lnTo>
                  <a:cubicBezTo>
                    <a:pt x="4045585" y="1218438"/>
                    <a:pt x="4000373" y="1263650"/>
                    <a:pt x="3944493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102681" y="5399141"/>
            <a:ext cx="2736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Access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179503" y="5126641"/>
            <a:ext cx="2416473" cy="947718"/>
            <a:chOff x="0" y="0"/>
            <a:chExt cx="3221965" cy="12636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4328455" y="5399141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index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787582" y="5126641"/>
            <a:ext cx="2416473" cy="947718"/>
            <a:chOff x="0" y="0"/>
            <a:chExt cx="3221965" cy="12636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6936534" y="5399141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index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395660" y="5126641"/>
            <a:ext cx="2691013" cy="947718"/>
            <a:chOff x="0" y="0"/>
            <a:chExt cx="3588017" cy="12636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588004" cy="1263650"/>
            </a:xfrm>
            <a:custGeom>
              <a:avLst/>
              <a:gdLst/>
              <a:ahLst/>
              <a:cxnLst/>
              <a:rect r="r" b="b" t="t" l="l"/>
              <a:pathLst>
                <a:path h="1263650" w="358800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486912" y="0"/>
                  </a:lnTo>
                  <a:cubicBezTo>
                    <a:pt x="3542792" y="0"/>
                    <a:pt x="3588004" y="45212"/>
                    <a:pt x="3588004" y="101092"/>
                  </a:cubicBezTo>
                  <a:lnTo>
                    <a:pt x="3588004" y="1162558"/>
                  </a:lnTo>
                  <a:cubicBezTo>
                    <a:pt x="3588004" y="1218438"/>
                    <a:pt x="3542792" y="1263650"/>
                    <a:pt x="3486912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9544612" y="5399141"/>
            <a:ext cx="23930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key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346905" y="5126641"/>
            <a:ext cx="3445983" cy="947718"/>
            <a:chOff x="0" y="0"/>
            <a:chExt cx="4594644" cy="12636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94606" cy="1263650"/>
            </a:xfrm>
            <a:custGeom>
              <a:avLst/>
              <a:gdLst/>
              <a:ahLst/>
              <a:cxnLst/>
              <a:rect r="r" b="b" t="t" l="l"/>
              <a:pathLst>
                <a:path h="1263650" w="4594606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493514" y="0"/>
                  </a:lnTo>
                  <a:cubicBezTo>
                    <a:pt x="4549394" y="0"/>
                    <a:pt x="4594606" y="45212"/>
                    <a:pt x="4594606" y="101092"/>
                  </a:cubicBezTo>
                  <a:lnTo>
                    <a:pt x="4594606" y="1162558"/>
                  </a:lnTo>
                  <a:cubicBezTo>
                    <a:pt x="4594606" y="1218438"/>
                    <a:pt x="4549394" y="1263650"/>
                    <a:pt x="4493514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2495857" y="5399141"/>
            <a:ext cx="31480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membership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53719" y="6197327"/>
            <a:ext cx="3034179" cy="947718"/>
            <a:chOff x="0" y="0"/>
            <a:chExt cx="4045572" cy="126362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45585" cy="1263650"/>
            </a:xfrm>
            <a:custGeom>
              <a:avLst/>
              <a:gdLst/>
              <a:ahLst/>
              <a:cxnLst/>
              <a:rect r="r" b="b" t="t" l="l"/>
              <a:pathLst>
                <a:path h="1263650" w="404558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944493" y="0"/>
                  </a:lnTo>
                  <a:cubicBezTo>
                    <a:pt x="4000373" y="0"/>
                    <a:pt x="4045585" y="45212"/>
                    <a:pt x="4045585" y="101092"/>
                  </a:cubicBezTo>
                  <a:lnTo>
                    <a:pt x="4045585" y="1162558"/>
                  </a:lnTo>
                  <a:cubicBezTo>
                    <a:pt x="4045585" y="1218438"/>
                    <a:pt x="4000373" y="1263650"/>
                    <a:pt x="3944493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1102681" y="6469828"/>
            <a:ext cx="2736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Duplicates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4179503" y="6197327"/>
            <a:ext cx="2416473" cy="947718"/>
            <a:chOff x="0" y="0"/>
            <a:chExt cx="3221965" cy="12636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4328455" y="6469828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Allowed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787582" y="6197327"/>
            <a:ext cx="2416473" cy="947718"/>
            <a:chOff x="0" y="0"/>
            <a:chExt cx="3221965" cy="126362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6936534" y="6469828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Allowed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395660" y="6197327"/>
            <a:ext cx="2691013" cy="947718"/>
            <a:chOff x="0" y="0"/>
            <a:chExt cx="3588017" cy="12636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88004" cy="1263650"/>
            </a:xfrm>
            <a:custGeom>
              <a:avLst/>
              <a:gdLst/>
              <a:ahLst/>
              <a:cxnLst/>
              <a:rect r="r" b="b" t="t" l="l"/>
              <a:pathLst>
                <a:path h="1263650" w="358800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486912" y="0"/>
                  </a:lnTo>
                  <a:cubicBezTo>
                    <a:pt x="3542792" y="0"/>
                    <a:pt x="3588004" y="45212"/>
                    <a:pt x="3588004" y="101092"/>
                  </a:cubicBezTo>
                  <a:lnTo>
                    <a:pt x="3588004" y="1162558"/>
                  </a:lnTo>
                  <a:cubicBezTo>
                    <a:pt x="3588004" y="1218438"/>
                    <a:pt x="3542792" y="1263650"/>
                    <a:pt x="3486912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9544612" y="6412678"/>
            <a:ext cx="239309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Values allowed; keys unique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346905" y="6197327"/>
            <a:ext cx="3445983" cy="947718"/>
            <a:chOff x="0" y="0"/>
            <a:chExt cx="4594644" cy="12636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94606" cy="1263650"/>
            </a:xfrm>
            <a:custGeom>
              <a:avLst/>
              <a:gdLst/>
              <a:ahLst/>
              <a:cxnLst/>
              <a:rect r="r" b="b" t="t" l="l"/>
              <a:pathLst>
                <a:path h="1263650" w="4594606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493514" y="0"/>
                  </a:lnTo>
                  <a:cubicBezTo>
                    <a:pt x="4549394" y="0"/>
                    <a:pt x="4594606" y="45212"/>
                    <a:pt x="4594606" y="101092"/>
                  </a:cubicBezTo>
                  <a:lnTo>
                    <a:pt x="4594606" y="1162558"/>
                  </a:lnTo>
                  <a:cubicBezTo>
                    <a:pt x="4594606" y="1218438"/>
                    <a:pt x="4549394" y="1263650"/>
                    <a:pt x="4493514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FFCF6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12495857" y="6469828"/>
            <a:ext cx="31480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No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53719" y="7268013"/>
            <a:ext cx="3034179" cy="947718"/>
            <a:chOff x="0" y="0"/>
            <a:chExt cx="4045572" cy="12636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45585" cy="1263650"/>
            </a:xfrm>
            <a:custGeom>
              <a:avLst/>
              <a:gdLst/>
              <a:ahLst/>
              <a:cxnLst/>
              <a:rect r="r" b="b" t="t" l="l"/>
              <a:pathLst>
                <a:path h="1263650" w="4045585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944493" y="0"/>
                  </a:lnTo>
                  <a:cubicBezTo>
                    <a:pt x="4000373" y="0"/>
                    <a:pt x="4045585" y="45212"/>
                    <a:pt x="4045585" y="101092"/>
                  </a:cubicBezTo>
                  <a:lnTo>
                    <a:pt x="4045585" y="1162558"/>
                  </a:lnTo>
                  <a:cubicBezTo>
                    <a:pt x="4045585" y="1218438"/>
                    <a:pt x="4000373" y="1263650"/>
                    <a:pt x="3944493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1102681" y="7540514"/>
            <a:ext cx="273626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Main idea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4179503" y="7268013"/>
            <a:ext cx="2416473" cy="947718"/>
            <a:chOff x="0" y="0"/>
            <a:chExt cx="3221965" cy="126362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4328455" y="7540514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Ordered collection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787582" y="7268013"/>
            <a:ext cx="2416473" cy="947718"/>
            <a:chOff x="0" y="0"/>
            <a:chExt cx="3221965" cy="126362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21990" cy="1263650"/>
            </a:xfrm>
            <a:custGeom>
              <a:avLst/>
              <a:gdLst/>
              <a:ahLst/>
              <a:cxnLst/>
              <a:rect r="r" b="b" t="t" l="l"/>
              <a:pathLst>
                <a:path h="1263650" w="3221990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120898" y="0"/>
                  </a:lnTo>
                  <a:cubicBezTo>
                    <a:pt x="3176778" y="0"/>
                    <a:pt x="3221990" y="45212"/>
                    <a:pt x="3221990" y="101092"/>
                  </a:cubicBezTo>
                  <a:lnTo>
                    <a:pt x="3221990" y="1162558"/>
                  </a:lnTo>
                  <a:cubicBezTo>
                    <a:pt x="3221990" y="1218438"/>
                    <a:pt x="3176778" y="1263650"/>
                    <a:pt x="3120898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88" id="88"/>
          <p:cNvSpPr txBox="true"/>
          <p:nvPr/>
        </p:nvSpPr>
        <p:spPr>
          <a:xfrm rot="0">
            <a:off x="6936534" y="7540514"/>
            <a:ext cx="21185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Fixed sequence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395660" y="7268013"/>
            <a:ext cx="2691013" cy="947718"/>
            <a:chOff x="0" y="0"/>
            <a:chExt cx="3588017" cy="126362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88004" cy="1263650"/>
            </a:xfrm>
            <a:custGeom>
              <a:avLst/>
              <a:gdLst/>
              <a:ahLst/>
              <a:cxnLst/>
              <a:rect r="r" b="b" t="t" l="l"/>
              <a:pathLst>
                <a:path h="1263650" w="3588004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3486912" y="0"/>
                  </a:lnTo>
                  <a:cubicBezTo>
                    <a:pt x="3542792" y="0"/>
                    <a:pt x="3588004" y="45212"/>
                    <a:pt x="3588004" y="101092"/>
                  </a:cubicBezTo>
                  <a:lnTo>
                    <a:pt x="3588004" y="1162558"/>
                  </a:lnTo>
                  <a:cubicBezTo>
                    <a:pt x="3588004" y="1218438"/>
                    <a:pt x="3542792" y="1263650"/>
                    <a:pt x="3486912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9544612" y="7540514"/>
            <a:ext cx="23930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Lookup by key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346905" y="7268013"/>
            <a:ext cx="3445983" cy="947718"/>
            <a:chOff x="0" y="0"/>
            <a:chExt cx="4594644" cy="126362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94606" cy="1263650"/>
            </a:xfrm>
            <a:custGeom>
              <a:avLst/>
              <a:gdLst/>
              <a:ahLst/>
              <a:cxnLst/>
              <a:rect r="r" b="b" t="t" l="l"/>
              <a:pathLst>
                <a:path h="1263650" w="4594606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493514" y="0"/>
                  </a:lnTo>
                  <a:cubicBezTo>
                    <a:pt x="4549394" y="0"/>
                    <a:pt x="4594606" y="45212"/>
                    <a:pt x="4594606" y="101092"/>
                  </a:cubicBezTo>
                  <a:lnTo>
                    <a:pt x="4594606" y="1162558"/>
                  </a:lnTo>
                  <a:cubicBezTo>
                    <a:pt x="4594606" y="1218438"/>
                    <a:pt x="4549394" y="1263650"/>
                    <a:pt x="4493514" y="1263650"/>
                  </a:cubicBezTo>
                  <a:lnTo>
                    <a:pt x="101092" y="1263650"/>
                  </a:lnTo>
                  <a:cubicBezTo>
                    <a:pt x="45212" y="1263650"/>
                    <a:pt x="0" y="1218311"/>
                    <a:pt x="0" y="1162558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94" id="94"/>
          <p:cNvSpPr txBox="true"/>
          <p:nvPr/>
        </p:nvSpPr>
        <p:spPr>
          <a:xfrm rot="0">
            <a:off x="12495857" y="7540514"/>
            <a:ext cx="314807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202228"/>
                </a:solidFill>
                <a:latin typeface="Aptos"/>
                <a:ea typeface="Aptos"/>
                <a:cs typeface="Aptos"/>
                <a:sym typeface="Aptos"/>
              </a:rPr>
              <a:t>Unique values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981170" y="8668141"/>
            <a:ext cx="15868669" cy="865356"/>
            <a:chOff x="0" y="0"/>
            <a:chExt cx="21158225" cy="11538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158200" cy="1153795"/>
            </a:xfrm>
            <a:custGeom>
              <a:avLst/>
              <a:gdLst/>
              <a:ahLst/>
              <a:cxnLst/>
              <a:rect r="r" b="b" t="t" l="l"/>
              <a:pathLst>
                <a:path h="1153795" w="21158200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21065871" y="0"/>
                  </a:lnTo>
                  <a:cubicBezTo>
                    <a:pt x="21116798" y="0"/>
                    <a:pt x="21158200" y="41275"/>
                    <a:pt x="21158200" y="92329"/>
                  </a:cubicBezTo>
                  <a:lnTo>
                    <a:pt x="21158200" y="1061466"/>
                  </a:lnTo>
                  <a:cubicBezTo>
                    <a:pt x="21158200" y="1112393"/>
                    <a:pt x="21116925" y="1153795"/>
                    <a:pt x="21065871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97" id="97"/>
          <p:cNvSpPr txBox="true"/>
          <p:nvPr/>
        </p:nvSpPr>
        <p:spPr>
          <a:xfrm rot="0">
            <a:off x="1765200" y="8968092"/>
            <a:ext cx="1417707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1976" b="true">
                <a:solidFill>
                  <a:srgbClr val="202228"/>
                </a:solidFill>
                <a:latin typeface="Aptos Bold"/>
                <a:ea typeface="Aptos Bold"/>
                <a:cs typeface="Aptos Bold"/>
                <a:sym typeface="Aptos Bold"/>
              </a:rPr>
              <a:t>Memory hook: LIST = sequence you change • TUPLE = sequence you lock • DICT = lookup by name • SET = unique membership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TRY BEFORE I SHOW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Hands-on challenge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1170" y="1983229"/>
            <a:ext cx="7632630" cy="1634052"/>
            <a:chOff x="0" y="0"/>
            <a:chExt cx="10176840" cy="2178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7676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0176763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10002520" y="0"/>
                  </a:lnTo>
                  <a:cubicBezTo>
                    <a:pt x="10098786" y="0"/>
                    <a:pt x="10176763" y="77978"/>
                    <a:pt x="10176763" y="174244"/>
                  </a:cubicBezTo>
                  <a:lnTo>
                    <a:pt x="10176763" y="2004441"/>
                  </a:lnTo>
                  <a:cubicBezTo>
                    <a:pt x="10176763" y="2100707"/>
                    <a:pt x="10098786" y="2178685"/>
                    <a:pt x="10002520" y="2178685"/>
                  </a:cubicBezTo>
                  <a:lnTo>
                    <a:pt x="174244" y="2178685"/>
                  </a:lnTo>
                  <a:cubicBezTo>
                    <a:pt x="77978" y="2178685"/>
                    <a:pt x="0" y="2100707"/>
                    <a:pt x="0" y="20044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28258" y="2230307"/>
            <a:ext cx="728091" cy="481003"/>
            <a:chOff x="0" y="0"/>
            <a:chExt cx="970788" cy="641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0788" cy="641350"/>
            </a:xfrm>
            <a:custGeom>
              <a:avLst/>
              <a:gdLst/>
              <a:ahLst/>
              <a:cxnLst/>
              <a:rect r="r" b="b" t="t" l="l"/>
              <a:pathLst>
                <a:path h="641350" w="970788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19480" y="0"/>
                  </a:lnTo>
                  <a:cubicBezTo>
                    <a:pt x="947801" y="0"/>
                    <a:pt x="970788" y="22987"/>
                    <a:pt x="970788" y="51308"/>
                  </a:cubicBezTo>
                  <a:lnTo>
                    <a:pt x="970788" y="590042"/>
                  </a:lnTo>
                  <a:cubicBezTo>
                    <a:pt x="970788" y="618363"/>
                    <a:pt x="947801" y="641350"/>
                    <a:pt x="919480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90936" y="2338083"/>
            <a:ext cx="402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69446" y="2236670"/>
            <a:ext cx="207139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List cleanup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9446" y="2791063"/>
            <a:ext cx="57424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Given [4, 2, 4, 1, 3], sort it and print its length.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17209" y="1983229"/>
            <a:ext cx="7632630" cy="1634052"/>
            <a:chOff x="0" y="0"/>
            <a:chExt cx="10176840" cy="2178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676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0176763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10002520" y="0"/>
                  </a:lnTo>
                  <a:cubicBezTo>
                    <a:pt x="10098786" y="0"/>
                    <a:pt x="10176763" y="77978"/>
                    <a:pt x="10176763" y="174244"/>
                  </a:cubicBezTo>
                  <a:lnTo>
                    <a:pt x="10176763" y="2004441"/>
                  </a:lnTo>
                  <a:cubicBezTo>
                    <a:pt x="10176763" y="2100707"/>
                    <a:pt x="10098786" y="2178685"/>
                    <a:pt x="10002520" y="2178685"/>
                  </a:cubicBezTo>
                  <a:lnTo>
                    <a:pt x="174244" y="2178685"/>
                  </a:lnTo>
                  <a:cubicBezTo>
                    <a:pt x="77978" y="2178685"/>
                    <a:pt x="0" y="2100707"/>
                    <a:pt x="0" y="20044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464288" y="2230307"/>
            <a:ext cx="728091" cy="481003"/>
            <a:chOff x="0" y="0"/>
            <a:chExt cx="970788" cy="6413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0788" cy="641350"/>
            </a:xfrm>
            <a:custGeom>
              <a:avLst/>
              <a:gdLst/>
              <a:ahLst/>
              <a:cxnLst/>
              <a:rect r="r" b="b" t="t" l="l"/>
              <a:pathLst>
                <a:path h="641350" w="970788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19480" y="0"/>
                  </a:lnTo>
                  <a:cubicBezTo>
                    <a:pt x="947801" y="0"/>
                    <a:pt x="970788" y="22987"/>
                    <a:pt x="970788" y="51308"/>
                  </a:cubicBezTo>
                  <a:lnTo>
                    <a:pt x="970788" y="590042"/>
                  </a:lnTo>
                  <a:cubicBezTo>
                    <a:pt x="970788" y="618363"/>
                    <a:pt x="947801" y="641350"/>
                    <a:pt x="919480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26975" y="2338083"/>
            <a:ext cx="402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5484" y="2236670"/>
            <a:ext cx="212868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Tuple access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05484" y="2791063"/>
            <a:ext cx="574241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Given ('red','green','blue'), print the last item and a slice.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1170" y="3973601"/>
            <a:ext cx="7632630" cy="1634052"/>
            <a:chOff x="0" y="0"/>
            <a:chExt cx="10176840" cy="2178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676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0176763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10002520" y="0"/>
                  </a:lnTo>
                  <a:cubicBezTo>
                    <a:pt x="10098786" y="0"/>
                    <a:pt x="10176763" y="77978"/>
                    <a:pt x="10176763" y="174244"/>
                  </a:cubicBezTo>
                  <a:lnTo>
                    <a:pt x="10176763" y="2004441"/>
                  </a:lnTo>
                  <a:cubicBezTo>
                    <a:pt x="10176763" y="2100707"/>
                    <a:pt x="10098786" y="2178685"/>
                    <a:pt x="10002520" y="2178685"/>
                  </a:cubicBezTo>
                  <a:lnTo>
                    <a:pt x="174244" y="2178685"/>
                  </a:lnTo>
                  <a:cubicBezTo>
                    <a:pt x="77978" y="2178685"/>
                    <a:pt x="0" y="2100707"/>
                    <a:pt x="0" y="20044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28258" y="4220680"/>
            <a:ext cx="728091" cy="481003"/>
            <a:chOff x="0" y="0"/>
            <a:chExt cx="970788" cy="6413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0788" cy="641350"/>
            </a:xfrm>
            <a:custGeom>
              <a:avLst/>
              <a:gdLst/>
              <a:ahLst/>
              <a:cxnLst/>
              <a:rect r="r" b="b" t="t" l="l"/>
              <a:pathLst>
                <a:path h="641350" w="970788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19480" y="0"/>
                  </a:lnTo>
                  <a:cubicBezTo>
                    <a:pt x="947801" y="0"/>
                    <a:pt x="970788" y="22987"/>
                    <a:pt x="970788" y="51308"/>
                  </a:cubicBezTo>
                  <a:lnTo>
                    <a:pt x="970788" y="590042"/>
                  </a:lnTo>
                  <a:cubicBezTo>
                    <a:pt x="970788" y="618363"/>
                    <a:pt x="947801" y="641350"/>
                    <a:pt x="919480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90936" y="4328455"/>
            <a:ext cx="402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9446" y="4227052"/>
            <a:ext cx="306868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Dictionary update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69446" y="4781436"/>
            <a:ext cx="57424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Add a 'branch' key and change an existing value.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17209" y="3973601"/>
            <a:ext cx="7632630" cy="1634052"/>
            <a:chOff x="0" y="0"/>
            <a:chExt cx="10176840" cy="21787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676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0176763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10002520" y="0"/>
                  </a:lnTo>
                  <a:cubicBezTo>
                    <a:pt x="10098786" y="0"/>
                    <a:pt x="10176763" y="77978"/>
                    <a:pt x="10176763" y="174244"/>
                  </a:cubicBezTo>
                  <a:lnTo>
                    <a:pt x="10176763" y="2004441"/>
                  </a:lnTo>
                  <a:cubicBezTo>
                    <a:pt x="10176763" y="2100707"/>
                    <a:pt x="10098786" y="2178685"/>
                    <a:pt x="10002520" y="2178685"/>
                  </a:cubicBezTo>
                  <a:lnTo>
                    <a:pt x="174244" y="2178685"/>
                  </a:lnTo>
                  <a:cubicBezTo>
                    <a:pt x="77978" y="2178685"/>
                    <a:pt x="0" y="2100707"/>
                    <a:pt x="0" y="20044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64288" y="4220680"/>
            <a:ext cx="728091" cy="481003"/>
            <a:chOff x="0" y="0"/>
            <a:chExt cx="970788" cy="6413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0788" cy="641350"/>
            </a:xfrm>
            <a:custGeom>
              <a:avLst/>
              <a:gdLst/>
              <a:ahLst/>
              <a:cxnLst/>
              <a:rect r="r" b="b" t="t" l="l"/>
              <a:pathLst>
                <a:path h="641350" w="970788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19480" y="0"/>
                  </a:lnTo>
                  <a:cubicBezTo>
                    <a:pt x="947801" y="0"/>
                    <a:pt x="970788" y="22987"/>
                    <a:pt x="970788" y="51308"/>
                  </a:cubicBezTo>
                  <a:lnTo>
                    <a:pt x="970788" y="590042"/>
                  </a:lnTo>
                  <a:cubicBezTo>
                    <a:pt x="970788" y="618363"/>
                    <a:pt x="947801" y="641350"/>
                    <a:pt x="919480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F9E7D9"/>
            </a:solidFill>
            <a:ln w="14299" cap="sq">
              <a:solidFill>
                <a:srgbClr val="F9E7D9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626975" y="4328455"/>
            <a:ext cx="402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05484" y="4227052"/>
            <a:ext cx="189011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Set algebra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05484" y="4781436"/>
            <a:ext cx="57424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Find the common values of {1,2,3,4} and {3,4,5,6}.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1170" y="5963974"/>
            <a:ext cx="7632630" cy="1634052"/>
            <a:chOff x="0" y="0"/>
            <a:chExt cx="10176840" cy="2178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7676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0176763">
                  <a:moveTo>
                    <a:pt x="0" y="174244"/>
                  </a:moveTo>
                  <a:cubicBezTo>
                    <a:pt x="0" y="77978"/>
                    <a:pt x="77978" y="0"/>
                    <a:pt x="174244" y="0"/>
                  </a:cubicBezTo>
                  <a:lnTo>
                    <a:pt x="10002520" y="0"/>
                  </a:lnTo>
                  <a:cubicBezTo>
                    <a:pt x="10098786" y="0"/>
                    <a:pt x="10176763" y="77978"/>
                    <a:pt x="10176763" y="174244"/>
                  </a:cubicBezTo>
                  <a:lnTo>
                    <a:pt x="10176763" y="2004441"/>
                  </a:lnTo>
                  <a:cubicBezTo>
                    <a:pt x="10176763" y="2100707"/>
                    <a:pt x="10098786" y="2178685"/>
                    <a:pt x="10002520" y="2178685"/>
                  </a:cubicBezTo>
                  <a:lnTo>
                    <a:pt x="174244" y="2178685"/>
                  </a:lnTo>
                  <a:cubicBezTo>
                    <a:pt x="77978" y="2178685"/>
                    <a:pt x="0" y="2100707"/>
                    <a:pt x="0" y="20044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28258" y="6211052"/>
            <a:ext cx="728091" cy="481003"/>
            <a:chOff x="0" y="0"/>
            <a:chExt cx="970788" cy="6413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0788" cy="641350"/>
            </a:xfrm>
            <a:custGeom>
              <a:avLst/>
              <a:gdLst/>
              <a:ahLst/>
              <a:cxnLst/>
              <a:rect r="r" b="b" t="t" l="l"/>
              <a:pathLst>
                <a:path h="641350" w="970788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19480" y="0"/>
                  </a:lnTo>
                  <a:cubicBezTo>
                    <a:pt x="947801" y="0"/>
                    <a:pt x="970788" y="22987"/>
                    <a:pt x="970788" y="51308"/>
                  </a:cubicBezTo>
                  <a:lnTo>
                    <a:pt x="970788" y="590042"/>
                  </a:lnTo>
                  <a:cubicBezTo>
                    <a:pt x="970788" y="618363"/>
                    <a:pt x="947801" y="641350"/>
                    <a:pt x="919480" y="641350"/>
                  </a:cubicBezTo>
                  <a:lnTo>
                    <a:pt x="51308" y="641350"/>
                  </a:lnTo>
                  <a:cubicBezTo>
                    <a:pt x="22987" y="641350"/>
                    <a:pt x="0" y="618363"/>
                    <a:pt x="0" y="590042"/>
                  </a:cubicBezTo>
                  <a:close/>
                </a:path>
              </a:pathLst>
            </a:custGeom>
            <a:solidFill>
              <a:srgbClr val="E2EFED"/>
            </a:solidFill>
            <a:ln w="14299" cap="sq">
              <a:solidFill>
                <a:srgbClr val="E2EF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90936" y="6318828"/>
            <a:ext cx="4027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true">
                <a:solidFill>
                  <a:srgbClr val="3D7D85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69446" y="6217425"/>
            <a:ext cx="29782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60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String formatting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69446" y="6771818"/>
            <a:ext cx="574241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Ask for a name and print: “Welcome, &lt;name&gt;!” using an f-string.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1170" y="8119072"/>
            <a:ext cx="15868669" cy="1002621"/>
            <a:chOff x="0" y="0"/>
            <a:chExt cx="21158225" cy="13368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158200" cy="1336802"/>
            </a:xfrm>
            <a:custGeom>
              <a:avLst/>
              <a:gdLst/>
              <a:ahLst/>
              <a:cxnLst/>
              <a:rect r="r" b="b" t="t" l="l"/>
              <a:pathLst>
                <a:path h="1336802" w="21158200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1051265" y="0"/>
                  </a:lnTo>
                  <a:cubicBezTo>
                    <a:pt x="21110321" y="0"/>
                    <a:pt x="21158200" y="47879"/>
                    <a:pt x="21158200" y="106934"/>
                  </a:cubicBezTo>
                  <a:lnTo>
                    <a:pt x="21158200" y="1229868"/>
                  </a:lnTo>
                  <a:cubicBezTo>
                    <a:pt x="21158200" y="1288923"/>
                    <a:pt x="21110321" y="1336802"/>
                    <a:pt x="21051265" y="1336802"/>
                  </a:cubicBezTo>
                  <a:lnTo>
                    <a:pt x="106934" y="1336802"/>
                  </a:lnTo>
                  <a:cubicBezTo>
                    <a:pt x="47879" y="1336802"/>
                    <a:pt x="0" y="1288923"/>
                    <a:pt x="0" y="1229868"/>
                  </a:cubicBezTo>
                  <a:close/>
                </a:path>
              </a:pathLst>
            </a:custGeom>
            <a:solidFill>
              <a:srgbClr val="F7EFD2"/>
            </a:solidFill>
            <a:ln w="14299" cap="sq">
              <a:solidFill>
                <a:srgbClr val="F7EFD2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349759" y="8464401"/>
            <a:ext cx="1500795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02228"/>
                </a:solidFill>
                <a:latin typeface="Georgia Bold"/>
                <a:ea typeface="Georgia Bold"/>
                <a:cs typeface="Georgia Bold"/>
                <a:sym typeface="Georgia Bold"/>
              </a:rPr>
              <a:t>Pair prompt: “Why is a set a better fit than a list when duplicates must disappear?”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7955" y="9860328"/>
            <a:ext cx="8830932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76662"/>
                </a:solidFill>
                <a:latin typeface="Aptos"/>
                <a:ea typeface="Aptos"/>
                <a:cs typeface="Aptos"/>
                <a:sym typeface="Aptos"/>
              </a:rPr>
              <a:t>PYTHON BOOTCAMP  •  SESSION 2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E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955" y="526151"/>
            <a:ext cx="787006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7955" y="1024519"/>
            <a:ext cx="15282491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AFAF8"/>
                </a:solidFill>
                <a:latin typeface="Georgia Bold"/>
                <a:ea typeface="Georgia Bold"/>
                <a:cs typeface="Georgia Bold"/>
                <a:sym typeface="Georgia Bold"/>
              </a:rPr>
              <a:t>Session 2 in one picture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0955" y="663426"/>
            <a:ext cx="66353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B4BECD"/>
                </a:solidFill>
                <a:latin typeface="Aptos"/>
                <a:ea typeface="Aptos"/>
                <a:cs typeface="Aptos"/>
                <a:sym typeface="Aptos"/>
              </a:rPr>
              <a:t>27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2356" y="2257758"/>
            <a:ext cx="3651885" cy="2141944"/>
            <a:chOff x="0" y="0"/>
            <a:chExt cx="4869180" cy="2855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228473"/>
                  </a:moveTo>
                  <a:cubicBezTo>
                    <a:pt x="0" y="102235"/>
                    <a:pt x="102235" y="0"/>
                    <a:pt x="228473" y="0"/>
                  </a:cubicBezTo>
                  <a:lnTo>
                    <a:pt x="4640707" y="0"/>
                  </a:lnTo>
                  <a:cubicBezTo>
                    <a:pt x="4766945" y="0"/>
                    <a:pt x="4869180" y="102235"/>
                    <a:pt x="4869180" y="228473"/>
                  </a:cubicBezTo>
                  <a:lnTo>
                    <a:pt x="4869180" y="2627503"/>
                  </a:lnTo>
                  <a:cubicBezTo>
                    <a:pt x="4869180" y="2753741"/>
                    <a:pt x="4766945" y="2855976"/>
                    <a:pt x="4640707" y="2855976"/>
                  </a:cubicBezTo>
                  <a:lnTo>
                    <a:pt x="228473" y="2855976"/>
                  </a:lnTo>
                  <a:cubicBezTo>
                    <a:pt x="102235" y="2855976"/>
                    <a:pt x="0" y="2753614"/>
                    <a:pt x="0" y="2627503"/>
                  </a:cubicBezTo>
                  <a:close/>
                </a:path>
              </a:pathLst>
            </a:custGeom>
            <a:solidFill>
              <a:srgbClr val="162C54"/>
            </a:solidFill>
            <a:ln w="14299" cap="sq">
              <a:solidFill>
                <a:srgbClr val="32466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387282" y="2644273"/>
            <a:ext cx="90829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01" b="true">
                <a:solidFill>
                  <a:srgbClr val="3D7D85"/>
                </a:solidFill>
                <a:latin typeface="Georgia Bold"/>
                <a:ea typeface="Georgia Bold"/>
                <a:cs typeface="Georgia Bold"/>
                <a:sym typeface="Georgia Bold"/>
              </a:rPr>
              <a:t>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122" y="3367583"/>
            <a:ext cx="313434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Aptos"/>
                <a:ea typeface="Aptos"/>
                <a:cs typeface="Aptos"/>
                <a:sym typeface="Aptos"/>
              </a:rPr>
              <a:t>ordered + mutable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40376" y="2257758"/>
            <a:ext cx="3651885" cy="2141944"/>
            <a:chOff x="0" y="0"/>
            <a:chExt cx="4869180" cy="2855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228473"/>
                  </a:moveTo>
                  <a:cubicBezTo>
                    <a:pt x="0" y="102235"/>
                    <a:pt x="102235" y="0"/>
                    <a:pt x="228473" y="0"/>
                  </a:cubicBezTo>
                  <a:lnTo>
                    <a:pt x="4640707" y="0"/>
                  </a:lnTo>
                  <a:cubicBezTo>
                    <a:pt x="4766945" y="0"/>
                    <a:pt x="4869180" y="102235"/>
                    <a:pt x="4869180" y="228473"/>
                  </a:cubicBezTo>
                  <a:lnTo>
                    <a:pt x="4869180" y="2627503"/>
                  </a:lnTo>
                  <a:cubicBezTo>
                    <a:pt x="4869180" y="2753741"/>
                    <a:pt x="4766945" y="2855976"/>
                    <a:pt x="4640707" y="2855976"/>
                  </a:cubicBezTo>
                  <a:lnTo>
                    <a:pt x="228473" y="2855976"/>
                  </a:lnTo>
                  <a:cubicBezTo>
                    <a:pt x="102235" y="2855976"/>
                    <a:pt x="0" y="2753614"/>
                    <a:pt x="0" y="2627503"/>
                  </a:cubicBezTo>
                  <a:close/>
                </a:path>
              </a:pathLst>
            </a:custGeom>
            <a:solidFill>
              <a:srgbClr val="162C54"/>
            </a:solidFill>
            <a:ln w="14299" cap="sq">
              <a:solidFill>
                <a:srgbClr val="32466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291361" y="2644273"/>
            <a:ext cx="13361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01" b="true">
                <a:solidFill>
                  <a:srgbClr val="E26F39"/>
                </a:solidFill>
                <a:latin typeface="Georgia Bold"/>
                <a:ea typeface="Georgia Bold"/>
                <a:cs typeface="Georgia Bold"/>
                <a:sym typeface="Georgia Bold"/>
              </a:rPr>
              <a:t>TUPLE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9141" y="3367583"/>
            <a:ext cx="313434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Aptos"/>
                <a:ea typeface="Aptos"/>
                <a:cs typeface="Aptos"/>
                <a:sym typeface="Aptos"/>
              </a:rPr>
              <a:t>ordered + immutable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8386" y="2257758"/>
            <a:ext cx="3651885" cy="2141944"/>
            <a:chOff x="0" y="0"/>
            <a:chExt cx="4869180" cy="2855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228473"/>
                  </a:moveTo>
                  <a:cubicBezTo>
                    <a:pt x="0" y="102235"/>
                    <a:pt x="102235" y="0"/>
                    <a:pt x="228473" y="0"/>
                  </a:cubicBezTo>
                  <a:lnTo>
                    <a:pt x="4640707" y="0"/>
                  </a:lnTo>
                  <a:cubicBezTo>
                    <a:pt x="4766945" y="0"/>
                    <a:pt x="4869180" y="102235"/>
                    <a:pt x="4869180" y="228473"/>
                  </a:cubicBezTo>
                  <a:lnTo>
                    <a:pt x="4869180" y="2627503"/>
                  </a:lnTo>
                  <a:cubicBezTo>
                    <a:pt x="4869180" y="2753741"/>
                    <a:pt x="4766945" y="2855976"/>
                    <a:pt x="4640707" y="2855976"/>
                  </a:cubicBezTo>
                  <a:lnTo>
                    <a:pt x="228473" y="2855976"/>
                  </a:lnTo>
                  <a:cubicBezTo>
                    <a:pt x="102235" y="2855976"/>
                    <a:pt x="0" y="2753614"/>
                    <a:pt x="0" y="2627503"/>
                  </a:cubicBezTo>
                  <a:close/>
                </a:path>
              </a:pathLst>
            </a:custGeom>
            <a:solidFill>
              <a:srgbClr val="162C54"/>
            </a:solidFill>
            <a:ln w="14299" cap="sq">
              <a:solidFill>
                <a:srgbClr val="32466E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583723" y="2644273"/>
            <a:ext cx="9874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01" b="true">
                <a:solidFill>
                  <a:srgbClr val="7969A5"/>
                </a:solidFill>
                <a:latin typeface="Georgia Bold"/>
                <a:ea typeface="Georgia Bold"/>
                <a:cs typeface="Georgia Bold"/>
                <a:sym typeface="Georgia Bold"/>
              </a:rPr>
              <a:t>DICT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7161" y="3367583"/>
            <a:ext cx="313434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Aptos"/>
                <a:ea typeface="Aptos"/>
                <a:cs typeface="Aptos"/>
                <a:sym typeface="Aptos"/>
              </a:rPr>
              <a:t>key → value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76405" y="2257758"/>
            <a:ext cx="3651885" cy="2141944"/>
            <a:chOff x="0" y="0"/>
            <a:chExt cx="4869180" cy="28559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228473"/>
                  </a:moveTo>
                  <a:cubicBezTo>
                    <a:pt x="0" y="102235"/>
                    <a:pt x="102235" y="0"/>
                    <a:pt x="228473" y="0"/>
                  </a:cubicBezTo>
                  <a:lnTo>
                    <a:pt x="4640707" y="0"/>
                  </a:lnTo>
                  <a:cubicBezTo>
                    <a:pt x="4766945" y="0"/>
                    <a:pt x="4869180" y="102235"/>
                    <a:pt x="4869180" y="228473"/>
                  </a:cubicBezTo>
                  <a:lnTo>
                    <a:pt x="4869180" y="2627503"/>
                  </a:lnTo>
                  <a:cubicBezTo>
                    <a:pt x="4869180" y="2753741"/>
                    <a:pt x="4766945" y="2855976"/>
                    <a:pt x="4640707" y="2855976"/>
                  </a:cubicBezTo>
                  <a:lnTo>
                    <a:pt x="228473" y="2855976"/>
                  </a:lnTo>
                  <a:cubicBezTo>
                    <a:pt x="102235" y="2855976"/>
                    <a:pt x="0" y="2753614"/>
                    <a:pt x="0" y="2627503"/>
                  </a:cubicBezTo>
                  <a:close/>
                </a:path>
              </a:pathLst>
            </a:custGeom>
            <a:solidFill>
              <a:srgbClr val="162C54"/>
            </a:solidFill>
            <a:ln w="14299" cap="sq">
              <a:solidFill>
                <a:srgbClr val="32466E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816936" y="2644273"/>
            <a:ext cx="75708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01" b="true">
                <a:solidFill>
                  <a:srgbClr val="5F9C9E"/>
                </a:solidFill>
                <a:latin typeface="Georgia Bold"/>
                <a:ea typeface="Georgia Bold"/>
                <a:cs typeface="Georgia Bold"/>
                <a:sym typeface="Georgia Bold"/>
              </a:rPr>
              <a:t>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35180" y="3367583"/>
            <a:ext cx="313434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351">
                <a:solidFill>
                  <a:srgbClr val="FAFAF8"/>
                </a:solidFill>
                <a:latin typeface="Aptos"/>
                <a:ea typeface="Aptos"/>
                <a:cs typeface="Aptos"/>
                <a:sym typeface="Aptos"/>
              </a:rPr>
              <a:t>unique + unordered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631" y="5411124"/>
            <a:ext cx="176166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 b="true">
                <a:solidFill>
                  <a:srgbClr val="E26F39"/>
                </a:solidFill>
                <a:latin typeface="Aptos Bold"/>
                <a:ea typeface="Aptos Bold"/>
                <a:cs typeface="Aptos Bold"/>
                <a:sym typeface="Aptos Bold"/>
              </a:rPr>
              <a:t>Next step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631" y="6088718"/>
            <a:ext cx="622285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2"/>
              </a:lnSpc>
            </a:pPr>
            <a:r>
              <a:rPr lang="en-US" sz="3352" b="true">
                <a:solidFill>
                  <a:srgbClr val="FAFAF8"/>
                </a:solidFill>
                <a:latin typeface="Georgia Bold"/>
                <a:ea typeface="Georgia Bold"/>
                <a:cs typeface="Georgia Bold"/>
                <a:sym typeface="Georgia Bold"/>
              </a:rPr>
              <a:t>Write small programs that choose the right data structure for the problem.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5220" y="7888943"/>
            <a:ext cx="594831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>
                <a:solidFill>
                  <a:srgbClr val="BECDE1"/>
                </a:solidFill>
                <a:latin typeface="Aptos"/>
                <a:ea typeface="Aptos"/>
                <a:cs typeface="Aptos"/>
                <a:sym typeface="Aptos"/>
              </a:rPr>
              <a:t>The goal is not memorizing methods. It is learning to model data.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220" y="9301734"/>
            <a:ext cx="5399246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AAB9CD"/>
                </a:solidFill>
                <a:latin typeface="Aptos Bold"/>
                <a:ea typeface="Aptos Bold"/>
                <a:cs typeface="Aptos Bold"/>
                <a:sym typeface="Aptos Bold"/>
              </a:rPr>
              <a:t>PYTHON BOOTCAMP  •  SESSION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DAHXE_ePOiQ</dc:identifier>
  <dcterms:modified xsi:type="dcterms:W3CDTF">2011-08-01T06:04:30Z</dcterms:modified>
  <cp:revision>1</cp:revision>
  <dc:title>Python Bootcamp — Session 2: Lists, Dictionaries &amp; Sets</dc:title>
</cp:coreProperties>
</file>