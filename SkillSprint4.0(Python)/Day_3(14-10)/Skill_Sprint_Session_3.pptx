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onsolas" charset="1" panose="020B0609020204030204"/>
      <p:regular r:id="rId16"/>
    </p:embeddedFont>
    <p:embeddedFont>
      <p:font typeface="Consolas Bold" charset="1" panose="020B07090202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7116"/>
            <a:ext cx="128016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SESSION 3  •  WHY OOP?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46404"/>
            <a:ext cx="164592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Functions to Objects: Why OOP?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904865" y="9230678"/>
            <a:ext cx="16478260" cy="0"/>
          </a:xfrm>
          <a:prstGeom prst="line">
            <a:avLst/>
          </a:prstGeom>
          <a:ln cap="rnd" w="9525">
            <a:solidFill>
              <a:srgbClr val="3341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" y="9416796"/>
            <a:ext cx="109728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AI Club KIET  •  SkillSprint4.0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0" y="9416796"/>
            <a:ext cx="3657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 b="true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1/8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2642235"/>
            <a:ext cx="6511290" cy="4956810"/>
            <a:chOff x="0" y="0"/>
            <a:chExt cx="8681720" cy="6609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81720" cy="6609080"/>
            </a:xfrm>
            <a:custGeom>
              <a:avLst/>
              <a:gdLst/>
              <a:ahLst/>
              <a:cxnLst/>
              <a:rect r="r" b="b" t="t" l="l"/>
              <a:pathLst>
                <a:path h="6609080" w="868172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485886" y="0"/>
                  </a:lnTo>
                  <a:cubicBezTo>
                    <a:pt x="8594090" y="0"/>
                    <a:pt x="8681720" y="87630"/>
                    <a:pt x="8681720" y="195834"/>
                  </a:cubicBezTo>
                  <a:lnTo>
                    <a:pt x="8681720" y="6413246"/>
                  </a:lnTo>
                  <a:cubicBezTo>
                    <a:pt x="8681720" y="6521450"/>
                    <a:pt x="8594090" y="6609080"/>
                    <a:pt x="8485886" y="6609080"/>
                  </a:cubicBezTo>
                  <a:lnTo>
                    <a:pt x="195834" y="6609080"/>
                  </a:lnTo>
                  <a:cubicBezTo>
                    <a:pt x="87630" y="6609080"/>
                    <a:pt x="0" y="6521450"/>
                    <a:pt x="0" y="6413246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2858519"/>
            <a:ext cx="116843" cy="4524251"/>
            <a:chOff x="0" y="0"/>
            <a:chExt cx="155791" cy="60323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829" cy="6032373"/>
            </a:xfrm>
            <a:custGeom>
              <a:avLst/>
              <a:gdLst/>
              <a:ahLst/>
              <a:cxnLst/>
              <a:rect r="r" b="b" t="t" l="l"/>
              <a:pathLst>
                <a:path h="60323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6032373"/>
                  </a:lnTo>
                  <a:lnTo>
                    <a:pt x="0" y="6032373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71600" y="2851404"/>
            <a:ext cx="58521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BB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PROCEDURAL PROGRAMMING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62075" y="3520059"/>
            <a:ext cx="1847850" cy="640842"/>
            <a:chOff x="0" y="0"/>
            <a:chExt cx="2463800" cy="8544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63800" cy="854456"/>
            </a:xfrm>
            <a:custGeom>
              <a:avLst/>
              <a:gdLst/>
              <a:ahLst/>
              <a:cxnLst/>
              <a:rect r="r" b="b" t="t" l="l"/>
              <a:pathLst>
                <a:path h="854456" w="2463800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lnTo>
                    <a:pt x="2313051" y="0"/>
                  </a:lnTo>
                  <a:cubicBezTo>
                    <a:pt x="2396236" y="0"/>
                    <a:pt x="2463800" y="67564"/>
                    <a:pt x="2463800" y="150749"/>
                  </a:cubicBezTo>
                  <a:lnTo>
                    <a:pt x="2463800" y="703707"/>
                  </a:lnTo>
                  <a:cubicBezTo>
                    <a:pt x="2463800" y="787019"/>
                    <a:pt x="2396236" y="854456"/>
                    <a:pt x="2313051" y="854456"/>
                  </a:cubicBezTo>
                  <a:lnTo>
                    <a:pt x="150749" y="854456"/>
                  </a:lnTo>
                  <a:cubicBezTo>
                    <a:pt x="67564" y="854456"/>
                    <a:pt x="0" y="786892"/>
                    <a:pt x="0" y="703707"/>
                  </a:cubicBezTo>
                  <a:close/>
                </a:path>
              </a:pathLst>
            </a:custGeom>
            <a:solidFill>
              <a:srgbClr val="1E3A5F"/>
            </a:solidFill>
            <a:ln w="1905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3529584"/>
            <a:ext cx="1828800" cy="621792"/>
            <a:chOff x="0" y="0"/>
            <a:chExt cx="2438400" cy="829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38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DD3FC"/>
                  </a:solidFill>
                  <a:latin typeface="Consolas"/>
                  <a:ea typeface="Consolas"/>
                  <a:cs typeface="Consolas"/>
                  <a:sym typeface="Consolas"/>
                </a:rPr>
                <a:t>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37179" y="3520059"/>
            <a:ext cx="1847850" cy="640842"/>
            <a:chOff x="0" y="0"/>
            <a:chExt cx="2463800" cy="854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63800" cy="854456"/>
            </a:xfrm>
            <a:custGeom>
              <a:avLst/>
              <a:gdLst/>
              <a:ahLst/>
              <a:cxnLst/>
              <a:rect r="r" b="b" t="t" l="l"/>
              <a:pathLst>
                <a:path h="854456" w="2463800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lnTo>
                    <a:pt x="2313051" y="0"/>
                  </a:lnTo>
                  <a:cubicBezTo>
                    <a:pt x="2396236" y="0"/>
                    <a:pt x="2463800" y="67564"/>
                    <a:pt x="2463800" y="150749"/>
                  </a:cubicBezTo>
                  <a:lnTo>
                    <a:pt x="2463800" y="703707"/>
                  </a:lnTo>
                  <a:cubicBezTo>
                    <a:pt x="2463800" y="787019"/>
                    <a:pt x="2396236" y="854456"/>
                    <a:pt x="2313051" y="854456"/>
                  </a:cubicBezTo>
                  <a:lnTo>
                    <a:pt x="150749" y="854456"/>
                  </a:lnTo>
                  <a:cubicBezTo>
                    <a:pt x="67564" y="854456"/>
                    <a:pt x="0" y="786892"/>
                    <a:pt x="0" y="703707"/>
                  </a:cubicBezTo>
                  <a:close/>
                </a:path>
              </a:pathLst>
            </a:custGeom>
            <a:solidFill>
              <a:srgbClr val="1E3A5F"/>
            </a:solidFill>
            <a:ln w="1905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346704" y="3529584"/>
            <a:ext cx="1828800" cy="621792"/>
            <a:chOff x="0" y="0"/>
            <a:chExt cx="2438400" cy="8290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438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DD3FC"/>
                  </a:solidFill>
                  <a:latin typeface="Consolas"/>
                  <a:ea typeface="Consolas"/>
                  <a:cs typeface="Consolas"/>
                  <a:sym typeface="Consolas"/>
                </a:rPr>
                <a:t>balance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12283" y="3520059"/>
            <a:ext cx="1847850" cy="640842"/>
            <a:chOff x="0" y="0"/>
            <a:chExt cx="2463800" cy="8544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63800" cy="854456"/>
            </a:xfrm>
            <a:custGeom>
              <a:avLst/>
              <a:gdLst/>
              <a:ahLst/>
              <a:cxnLst/>
              <a:rect r="r" b="b" t="t" l="l"/>
              <a:pathLst>
                <a:path h="854456" w="2463800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lnTo>
                    <a:pt x="2313051" y="0"/>
                  </a:lnTo>
                  <a:cubicBezTo>
                    <a:pt x="2396236" y="0"/>
                    <a:pt x="2463800" y="67564"/>
                    <a:pt x="2463800" y="150749"/>
                  </a:cubicBezTo>
                  <a:lnTo>
                    <a:pt x="2463800" y="703707"/>
                  </a:lnTo>
                  <a:cubicBezTo>
                    <a:pt x="2463800" y="787019"/>
                    <a:pt x="2396236" y="854456"/>
                    <a:pt x="2313051" y="854456"/>
                  </a:cubicBezTo>
                  <a:lnTo>
                    <a:pt x="150749" y="854456"/>
                  </a:lnTo>
                  <a:cubicBezTo>
                    <a:pt x="67564" y="854456"/>
                    <a:pt x="0" y="786892"/>
                    <a:pt x="0" y="703707"/>
                  </a:cubicBezTo>
                  <a:close/>
                </a:path>
              </a:pathLst>
            </a:custGeom>
            <a:solidFill>
              <a:srgbClr val="1E3A5F"/>
            </a:solidFill>
            <a:ln w="1905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321808" y="3529584"/>
            <a:ext cx="1828800" cy="621792"/>
            <a:chOff x="0" y="0"/>
            <a:chExt cx="2438400" cy="829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400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438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DD3FC"/>
                  </a:solidFill>
                  <a:latin typeface="Consolas"/>
                  <a:ea typeface="Consolas"/>
                  <a:cs typeface="Consolas"/>
                  <a:sym typeface="Consolas"/>
                </a:rPr>
                <a:t>speed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62075" y="4471035"/>
            <a:ext cx="1847850" cy="640842"/>
            <a:chOff x="0" y="0"/>
            <a:chExt cx="2463800" cy="8544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63800" cy="854456"/>
            </a:xfrm>
            <a:custGeom>
              <a:avLst/>
              <a:gdLst/>
              <a:ahLst/>
              <a:cxnLst/>
              <a:rect r="r" b="b" t="t" l="l"/>
              <a:pathLst>
                <a:path h="854456" w="2463800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lnTo>
                    <a:pt x="2313051" y="0"/>
                  </a:lnTo>
                  <a:cubicBezTo>
                    <a:pt x="2396236" y="0"/>
                    <a:pt x="2463800" y="67564"/>
                    <a:pt x="2463800" y="150749"/>
                  </a:cubicBezTo>
                  <a:lnTo>
                    <a:pt x="2463800" y="703707"/>
                  </a:lnTo>
                  <a:cubicBezTo>
                    <a:pt x="2463800" y="787019"/>
                    <a:pt x="2396236" y="854456"/>
                    <a:pt x="2313051" y="854456"/>
                  </a:cubicBezTo>
                  <a:lnTo>
                    <a:pt x="150749" y="854456"/>
                  </a:lnTo>
                  <a:cubicBezTo>
                    <a:pt x="67564" y="854456"/>
                    <a:pt x="0" y="786892"/>
                    <a:pt x="0" y="703707"/>
                  </a:cubicBezTo>
                  <a:close/>
                </a:path>
              </a:pathLst>
            </a:custGeom>
            <a:solidFill>
              <a:srgbClr val="431407"/>
            </a:solidFill>
            <a:ln w="19050" cap="sq">
              <a:solidFill>
                <a:srgbClr val="43140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71600" y="4480560"/>
            <a:ext cx="1828800" cy="621792"/>
            <a:chOff x="0" y="0"/>
            <a:chExt cx="243840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438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DBA74"/>
                  </a:solidFill>
                  <a:latin typeface="Consolas"/>
                  <a:ea typeface="Consolas"/>
                  <a:cs typeface="Consolas"/>
                  <a:sym typeface="Consolas"/>
                </a:rPr>
                <a:t>def drive()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37179" y="4471035"/>
            <a:ext cx="1847850" cy="640842"/>
            <a:chOff x="0" y="0"/>
            <a:chExt cx="2463800" cy="8544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63800" cy="854456"/>
            </a:xfrm>
            <a:custGeom>
              <a:avLst/>
              <a:gdLst/>
              <a:ahLst/>
              <a:cxnLst/>
              <a:rect r="r" b="b" t="t" l="l"/>
              <a:pathLst>
                <a:path h="854456" w="2463800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lnTo>
                    <a:pt x="2313051" y="0"/>
                  </a:lnTo>
                  <a:cubicBezTo>
                    <a:pt x="2396236" y="0"/>
                    <a:pt x="2463800" y="67564"/>
                    <a:pt x="2463800" y="150749"/>
                  </a:cubicBezTo>
                  <a:lnTo>
                    <a:pt x="2463800" y="703707"/>
                  </a:lnTo>
                  <a:cubicBezTo>
                    <a:pt x="2463800" y="787019"/>
                    <a:pt x="2396236" y="854456"/>
                    <a:pt x="2313051" y="854456"/>
                  </a:cubicBezTo>
                  <a:lnTo>
                    <a:pt x="150749" y="854456"/>
                  </a:lnTo>
                  <a:cubicBezTo>
                    <a:pt x="67564" y="854456"/>
                    <a:pt x="0" y="786892"/>
                    <a:pt x="0" y="703707"/>
                  </a:cubicBezTo>
                  <a:close/>
                </a:path>
              </a:pathLst>
            </a:custGeom>
            <a:solidFill>
              <a:srgbClr val="431407"/>
            </a:solidFill>
            <a:ln w="19050" cap="sq">
              <a:solidFill>
                <a:srgbClr val="43140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3346704" y="4480560"/>
            <a:ext cx="1828800" cy="621792"/>
            <a:chOff x="0" y="0"/>
            <a:chExt cx="2438400" cy="8290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438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DBA74"/>
                  </a:solidFill>
                  <a:latin typeface="Consolas"/>
                  <a:ea typeface="Consolas"/>
                  <a:cs typeface="Consolas"/>
                  <a:sym typeface="Consolas"/>
                </a:rPr>
                <a:t>def deposit()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312283" y="4471035"/>
            <a:ext cx="1847850" cy="640842"/>
            <a:chOff x="0" y="0"/>
            <a:chExt cx="2463800" cy="8544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63800" cy="854456"/>
            </a:xfrm>
            <a:custGeom>
              <a:avLst/>
              <a:gdLst/>
              <a:ahLst/>
              <a:cxnLst/>
              <a:rect r="r" b="b" t="t" l="l"/>
              <a:pathLst>
                <a:path h="854456" w="2463800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lnTo>
                    <a:pt x="2313051" y="0"/>
                  </a:lnTo>
                  <a:cubicBezTo>
                    <a:pt x="2396236" y="0"/>
                    <a:pt x="2463800" y="67564"/>
                    <a:pt x="2463800" y="150749"/>
                  </a:cubicBezTo>
                  <a:lnTo>
                    <a:pt x="2463800" y="703707"/>
                  </a:lnTo>
                  <a:cubicBezTo>
                    <a:pt x="2463800" y="787019"/>
                    <a:pt x="2396236" y="854456"/>
                    <a:pt x="2313051" y="854456"/>
                  </a:cubicBezTo>
                  <a:lnTo>
                    <a:pt x="150749" y="854456"/>
                  </a:lnTo>
                  <a:cubicBezTo>
                    <a:pt x="67564" y="854456"/>
                    <a:pt x="0" y="786892"/>
                    <a:pt x="0" y="703707"/>
                  </a:cubicBezTo>
                  <a:close/>
                </a:path>
              </a:pathLst>
            </a:custGeom>
            <a:solidFill>
              <a:srgbClr val="431407"/>
            </a:solidFill>
            <a:ln w="19050" cap="sq">
              <a:solidFill>
                <a:srgbClr val="431407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321808" y="4480560"/>
            <a:ext cx="1828800" cy="621792"/>
            <a:chOff x="0" y="0"/>
            <a:chExt cx="243840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438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DBA74"/>
                  </a:solidFill>
                  <a:latin typeface="Consolas"/>
                  <a:ea typeface="Consolas"/>
                  <a:cs typeface="Consolas"/>
                  <a:sym typeface="Consolas"/>
                </a:rPr>
                <a:t>def brake()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71600" y="5530215"/>
            <a:ext cx="585216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Variables scatter everywhere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Functions multiply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Nothing says what belongs together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406640" y="4625340"/>
            <a:ext cx="14630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bundle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406640" y="4023360"/>
            <a:ext cx="1463040" cy="731520"/>
            <a:chOff x="0" y="0"/>
            <a:chExt cx="195072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0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14300"/>
              <a:ext cx="1950720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sz="56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60155" y="2642235"/>
            <a:ext cx="8522970" cy="4956810"/>
            <a:chOff x="0" y="0"/>
            <a:chExt cx="11363960" cy="6609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363960" cy="6609080"/>
            </a:xfrm>
            <a:custGeom>
              <a:avLst/>
              <a:gdLst/>
              <a:ahLst/>
              <a:cxnLst/>
              <a:rect r="r" b="b" t="t" l="l"/>
              <a:pathLst>
                <a:path h="6609080" w="1136396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11168126" y="0"/>
                  </a:lnTo>
                  <a:cubicBezTo>
                    <a:pt x="11276330" y="0"/>
                    <a:pt x="11363960" y="87630"/>
                    <a:pt x="11363960" y="195834"/>
                  </a:cubicBezTo>
                  <a:lnTo>
                    <a:pt x="11363960" y="6413246"/>
                  </a:lnTo>
                  <a:cubicBezTo>
                    <a:pt x="11363960" y="6521450"/>
                    <a:pt x="11276330" y="6609080"/>
                    <a:pt x="11168126" y="6609080"/>
                  </a:cubicBezTo>
                  <a:lnTo>
                    <a:pt x="195834" y="6609080"/>
                  </a:lnTo>
                  <a:cubicBezTo>
                    <a:pt x="87630" y="6609080"/>
                    <a:pt x="0" y="6521450"/>
                    <a:pt x="0" y="6413246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856983" y="2858519"/>
            <a:ext cx="116843" cy="4524251"/>
            <a:chOff x="0" y="0"/>
            <a:chExt cx="155791" cy="603233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5829" cy="6032373"/>
            </a:xfrm>
            <a:custGeom>
              <a:avLst/>
              <a:gdLst/>
              <a:ahLst/>
              <a:cxnLst/>
              <a:rect r="r" b="b" t="t" l="l"/>
              <a:pathLst>
                <a:path h="60323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6032373"/>
                  </a:lnTo>
                  <a:lnTo>
                    <a:pt x="0" y="6032373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9326880" y="2851404"/>
            <a:ext cx="73152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67E8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OBJECT-ORIENTED PROGRAMMING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317355" y="3501771"/>
            <a:ext cx="7608570" cy="677418"/>
            <a:chOff x="0" y="0"/>
            <a:chExt cx="10144760" cy="9032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44760" cy="903224"/>
            </a:xfrm>
            <a:custGeom>
              <a:avLst/>
              <a:gdLst/>
              <a:ahLst/>
              <a:cxnLst/>
              <a:rect r="r" b="b" t="t" l="l"/>
              <a:pathLst>
                <a:path h="903224" w="1014476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9994265" y="0"/>
                  </a:lnTo>
                  <a:cubicBezTo>
                    <a:pt x="10077450" y="0"/>
                    <a:pt x="10144760" y="67437"/>
                    <a:pt x="10144760" y="150495"/>
                  </a:cubicBezTo>
                  <a:lnTo>
                    <a:pt x="10144760" y="752729"/>
                  </a:lnTo>
                  <a:cubicBezTo>
                    <a:pt x="10144760" y="835914"/>
                    <a:pt x="10077323" y="903224"/>
                    <a:pt x="9994265" y="903224"/>
                  </a:cubicBezTo>
                  <a:lnTo>
                    <a:pt x="150495" y="903224"/>
                  </a:lnTo>
                  <a:cubicBezTo>
                    <a:pt x="67437" y="903224"/>
                    <a:pt x="0" y="835787"/>
                    <a:pt x="0" y="752729"/>
                  </a:cubicBezTo>
                  <a:close/>
                </a:path>
              </a:pathLst>
            </a:custGeom>
            <a:solidFill>
              <a:srgbClr val="3B0764"/>
            </a:solidFill>
            <a:ln w="19050" cap="sq">
              <a:solidFill>
                <a:srgbClr val="7E22CE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326880" y="3511296"/>
            <a:ext cx="7589520" cy="658368"/>
            <a:chOff x="0" y="0"/>
            <a:chExt cx="10119360" cy="8778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19360" cy="877824"/>
            </a:xfrm>
            <a:custGeom>
              <a:avLst/>
              <a:gdLst/>
              <a:ahLst/>
              <a:cxnLst/>
              <a:rect r="r" b="b" t="t" l="l"/>
              <a:pathLst>
                <a:path h="87782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619" r="0" b="-17461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1193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9D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  (an object)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17355" y="4343019"/>
            <a:ext cx="3676650" cy="1847850"/>
            <a:chOff x="0" y="0"/>
            <a:chExt cx="4902200" cy="2463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902200" cy="2463800"/>
            </a:xfrm>
            <a:custGeom>
              <a:avLst/>
              <a:gdLst/>
              <a:ahLst/>
              <a:cxnLst/>
              <a:rect r="r" b="b" t="t" l="l"/>
              <a:pathLst>
                <a:path h="2463800" w="4902200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4705096" y="0"/>
                  </a:lnTo>
                  <a:cubicBezTo>
                    <a:pt x="4813935" y="0"/>
                    <a:pt x="4902200" y="88265"/>
                    <a:pt x="4902200" y="197104"/>
                  </a:cubicBezTo>
                  <a:lnTo>
                    <a:pt x="4902200" y="2266696"/>
                  </a:lnTo>
                  <a:cubicBezTo>
                    <a:pt x="4902200" y="2375535"/>
                    <a:pt x="4813935" y="2463800"/>
                    <a:pt x="4705096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0E3A4A"/>
            </a:solidFill>
            <a:ln w="19050" cap="sq">
              <a:solidFill>
                <a:srgbClr val="0E7490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9546336" y="4442460"/>
            <a:ext cx="3291840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67E8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/ STATE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speed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fuel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3249275" y="4343019"/>
            <a:ext cx="3676650" cy="1847850"/>
            <a:chOff x="0" y="0"/>
            <a:chExt cx="4902200" cy="2463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02200" cy="2463800"/>
            </a:xfrm>
            <a:custGeom>
              <a:avLst/>
              <a:gdLst/>
              <a:ahLst/>
              <a:cxnLst/>
              <a:rect r="r" b="b" t="t" l="l"/>
              <a:pathLst>
                <a:path h="2463800" w="4902200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4705096" y="0"/>
                  </a:lnTo>
                  <a:cubicBezTo>
                    <a:pt x="4813935" y="0"/>
                    <a:pt x="4902200" y="88265"/>
                    <a:pt x="4902200" y="197104"/>
                  </a:cubicBezTo>
                  <a:lnTo>
                    <a:pt x="4902200" y="2266696"/>
                  </a:lnTo>
                  <a:cubicBezTo>
                    <a:pt x="4902200" y="2375535"/>
                    <a:pt x="4813935" y="2463800"/>
                    <a:pt x="4705096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14532D"/>
            </a:solidFill>
            <a:ln w="19050" cap="sq">
              <a:solidFill>
                <a:srgbClr val="15803D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13478256" y="4442460"/>
            <a:ext cx="3291840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86EF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BEHAVIOR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start()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accelerate()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brake()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326880" y="6517005"/>
            <a:ext cx="758952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  =  state  +  behavior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04875" y="8037195"/>
            <a:ext cx="16478250" cy="787146"/>
            <a:chOff x="0" y="0"/>
            <a:chExt cx="21971000" cy="10495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7100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197100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21771102" y="0"/>
                  </a:lnTo>
                  <a:cubicBezTo>
                    <a:pt x="21881464" y="0"/>
                    <a:pt x="21971000" y="89535"/>
                    <a:pt x="21971000" y="199898"/>
                  </a:cubicBezTo>
                  <a:lnTo>
                    <a:pt x="21971000" y="849630"/>
                  </a:lnTo>
                  <a:cubicBezTo>
                    <a:pt x="21971000" y="959993"/>
                    <a:pt x="21881464" y="1049528"/>
                    <a:pt x="2177110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0C4A6E"/>
            </a:solidFill>
            <a:ln w="1905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80160" y="8046720"/>
            <a:ext cx="15727680" cy="768096"/>
            <a:chOff x="0" y="0"/>
            <a:chExt cx="2097024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9702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979" r="0" b="-34897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097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OOP organizes data and the behavior that works on that data.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7116"/>
            <a:ext cx="128016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01  •  FUNCTIONS &amp; METHODS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46404"/>
            <a:ext cx="164592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Functions &amp; Methods: What's the Difference?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904865" y="9230678"/>
            <a:ext cx="1647826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" y="9416796"/>
            <a:ext cx="109728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AI Club KIET  •  SkillSprint4.0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0" y="9416796"/>
            <a:ext cx="3657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2/8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2367915"/>
            <a:ext cx="8065770" cy="4316730"/>
            <a:chOff x="0" y="0"/>
            <a:chExt cx="10754360" cy="5755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54360" cy="5755640"/>
            </a:xfrm>
            <a:custGeom>
              <a:avLst/>
              <a:gdLst/>
              <a:ahLst/>
              <a:cxnLst/>
              <a:rect r="r" b="b" t="t" l="l"/>
              <a:pathLst>
                <a:path h="5755640" w="10754360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10558399" y="0"/>
                  </a:lnTo>
                  <a:cubicBezTo>
                    <a:pt x="10666603" y="0"/>
                    <a:pt x="10754360" y="87757"/>
                    <a:pt x="10754360" y="195961"/>
                  </a:cubicBezTo>
                  <a:lnTo>
                    <a:pt x="10754360" y="5559679"/>
                  </a:lnTo>
                  <a:cubicBezTo>
                    <a:pt x="10754360" y="5667883"/>
                    <a:pt x="10666603" y="5755640"/>
                    <a:pt x="10558399" y="5755640"/>
                  </a:cubicBezTo>
                  <a:lnTo>
                    <a:pt x="195961" y="5755640"/>
                  </a:lnTo>
                  <a:cubicBezTo>
                    <a:pt x="87757" y="5755640"/>
                    <a:pt x="0" y="5667883"/>
                    <a:pt x="0" y="555967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2584199"/>
            <a:ext cx="116843" cy="3884171"/>
            <a:chOff x="0" y="0"/>
            <a:chExt cx="155791" cy="51788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829" cy="5178933"/>
            </a:xfrm>
            <a:custGeom>
              <a:avLst/>
              <a:gdLst/>
              <a:ahLst/>
              <a:cxnLst/>
              <a:rect r="r" b="b" t="t" l="l"/>
              <a:pathLst>
                <a:path h="517893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5178933"/>
                  </a:lnTo>
                  <a:lnTo>
                    <a:pt x="0" y="5178933"/>
                  </a:lnTo>
                  <a:close/>
                </a:path>
              </a:pathLst>
            </a:custGeom>
            <a:solidFill>
              <a:srgbClr val="0284C7"/>
            </a:solidFill>
            <a:ln w="2540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317355" y="2367915"/>
            <a:ext cx="8065770" cy="4316730"/>
            <a:chOff x="0" y="0"/>
            <a:chExt cx="10754360" cy="5755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54360" cy="5755640"/>
            </a:xfrm>
            <a:custGeom>
              <a:avLst/>
              <a:gdLst/>
              <a:ahLst/>
              <a:cxnLst/>
              <a:rect r="r" b="b" t="t" l="l"/>
              <a:pathLst>
                <a:path h="5755640" w="10754360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10558399" y="0"/>
                  </a:lnTo>
                  <a:cubicBezTo>
                    <a:pt x="10666603" y="0"/>
                    <a:pt x="10754360" y="87757"/>
                    <a:pt x="10754360" y="195961"/>
                  </a:cubicBezTo>
                  <a:lnTo>
                    <a:pt x="10754360" y="5559679"/>
                  </a:lnTo>
                  <a:cubicBezTo>
                    <a:pt x="10754360" y="5667883"/>
                    <a:pt x="10666603" y="5755640"/>
                    <a:pt x="10558399" y="5755640"/>
                  </a:cubicBezTo>
                  <a:lnTo>
                    <a:pt x="195961" y="5755640"/>
                  </a:lnTo>
                  <a:cubicBezTo>
                    <a:pt x="87757" y="5755640"/>
                    <a:pt x="0" y="5667883"/>
                    <a:pt x="0" y="555967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14183" y="2584199"/>
            <a:ext cx="116843" cy="3884171"/>
            <a:chOff x="0" y="0"/>
            <a:chExt cx="155791" cy="5178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829" cy="5178933"/>
            </a:xfrm>
            <a:custGeom>
              <a:avLst/>
              <a:gdLst/>
              <a:ahLst/>
              <a:cxnLst/>
              <a:rect r="r" b="b" t="t" l="l"/>
              <a:pathLst>
                <a:path h="517893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5178933"/>
                  </a:lnTo>
                  <a:lnTo>
                    <a:pt x="0" y="5178933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71600" y="2549271"/>
            <a:ext cx="36576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00" y="3034284"/>
            <a:ext cx="73152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Independent  •  called directly  •  len(list)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62075" y="3648075"/>
            <a:ext cx="7242810" cy="2579370"/>
            <a:chOff x="0" y="0"/>
            <a:chExt cx="9657080" cy="3439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57080" cy="3439160"/>
            </a:xfrm>
            <a:custGeom>
              <a:avLst/>
              <a:gdLst/>
              <a:ahLst/>
              <a:cxnLst/>
              <a:rect r="r" b="b" t="t" l="l"/>
              <a:pathLst>
                <a:path h="3439160" w="965708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9411462" y="0"/>
                  </a:lnTo>
                  <a:cubicBezTo>
                    <a:pt x="9547098" y="0"/>
                    <a:pt x="9657080" y="109982"/>
                    <a:pt x="9657080" y="245618"/>
                  </a:cubicBezTo>
                  <a:lnTo>
                    <a:pt x="9657080" y="3193542"/>
                  </a:lnTo>
                  <a:cubicBezTo>
                    <a:pt x="9657080" y="3329178"/>
                    <a:pt x="9547098" y="3439160"/>
                    <a:pt x="9411462" y="3439160"/>
                  </a:cubicBezTo>
                  <a:lnTo>
                    <a:pt x="245618" y="3439160"/>
                  </a:lnTo>
                  <a:cubicBezTo>
                    <a:pt x="109982" y="3439160"/>
                    <a:pt x="0" y="3329178"/>
                    <a:pt x="0" y="3193542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700784" y="3810381"/>
            <a:ext cx="6565392" cy="218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greet(name):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f</a:t>
            </a:r>
            <a:r>
              <a:rPr lang="en-US" sz="21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"Hello {name}"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(greet(</a:t>
            </a:r>
            <a:r>
              <a:rPr lang="en-US" sz="21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"Kunal"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4080" y="2549271"/>
            <a:ext cx="36576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4080" y="3034284"/>
            <a:ext cx="73152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Belongs to an object  •  object.method()  •  list.append()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74555" y="3648075"/>
            <a:ext cx="7242810" cy="2579370"/>
            <a:chOff x="0" y="0"/>
            <a:chExt cx="9657080" cy="3439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57080" cy="3439160"/>
            </a:xfrm>
            <a:custGeom>
              <a:avLst/>
              <a:gdLst/>
              <a:ahLst/>
              <a:cxnLst/>
              <a:rect r="r" b="b" t="t" l="l"/>
              <a:pathLst>
                <a:path h="3439160" w="965708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9411462" y="0"/>
                  </a:lnTo>
                  <a:cubicBezTo>
                    <a:pt x="9547098" y="0"/>
                    <a:pt x="9657080" y="109982"/>
                    <a:pt x="9657080" y="245618"/>
                  </a:cubicBezTo>
                  <a:lnTo>
                    <a:pt x="9657080" y="3193542"/>
                  </a:lnTo>
                  <a:cubicBezTo>
                    <a:pt x="9657080" y="3329178"/>
                    <a:pt x="9547098" y="3439160"/>
                    <a:pt x="9411462" y="3439160"/>
                  </a:cubicBezTo>
                  <a:lnTo>
                    <a:pt x="245618" y="3439160"/>
                  </a:lnTo>
                  <a:cubicBezTo>
                    <a:pt x="109982" y="3439160"/>
                    <a:pt x="0" y="3329178"/>
                    <a:pt x="0" y="3193542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113264" y="3810381"/>
            <a:ext cx="6565392" cy="218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name = </a:t>
            </a:r>
            <a:r>
              <a:rPr lang="en-US" sz="21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"Kunal"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(name.upper())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842635" y="6976491"/>
            <a:ext cx="2579370" cy="750570"/>
            <a:chOff x="0" y="0"/>
            <a:chExt cx="3439160" cy="1000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391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343916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3289046" y="0"/>
                  </a:lnTo>
                  <a:cubicBezTo>
                    <a:pt x="3371977" y="0"/>
                    <a:pt x="3439160" y="67183"/>
                    <a:pt x="3439160" y="150114"/>
                  </a:cubicBezTo>
                  <a:lnTo>
                    <a:pt x="3439160" y="850646"/>
                  </a:lnTo>
                  <a:cubicBezTo>
                    <a:pt x="3439160" y="933577"/>
                    <a:pt x="3371977" y="1000760"/>
                    <a:pt x="3289046" y="1000760"/>
                  </a:cubicBezTo>
                  <a:lnTo>
                    <a:pt x="150114" y="1000760"/>
                  </a:lnTo>
                  <a:cubicBezTo>
                    <a:pt x="67183" y="1000760"/>
                    <a:pt x="0" y="933577"/>
                    <a:pt x="0" y="850646"/>
                  </a:cubicBezTo>
                  <a:close/>
                </a:path>
              </a:pathLst>
            </a:custGeom>
            <a:solidFill>
              <a:srgbClr val="DBEAFE"/>
            </a:solidFill>
            <a:ln w="1905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852160" y="6986016"/>
            <a:ext cx="2560320" cy="731520"/>
            <a:chOff x="0" y="0"/>
            <a:chExt cx="34137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4137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284C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student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412480" y="6986016"/>
            <a:ext cx="731520" cy="731520"/>
            <a:chOff x="0" y="0"/>
            <a:chExt cx="97536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34475" y="6976491"/>
            <a:ext cx="3310890" cy="750570"/>
            <a:chOff x="0" y="0"/>
            <a:chExt cx="4414520" cy="1000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14520" cy="1000760"/>
            </a:xfrm>
            <a:custGeom>
              <a:avLst/>
              <a:gdLst/>
              <a:ahLst/>
              <a:cxnLst/>
              <a:rect r="r" b="b" t="t" l="l"/>
              <a:pathLst>
                <a:path h="1000760" w="441452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4264406" y="0"/>
                  </a:lnTo>
                  <a:cubicBezTo>
                    <a:pt x="4347337" y="0"/>
                    <a:pt x="4414520" y="67183"/>
                    <a:pt x="4414520" y="150114"/>
                  </a:cubicBezTo>
                  <a:lnTo>
                    <a:pt x="4414520" y="850646"/>
                  </a:lnTo>
                  <a:cubicBezTo>
                    <a:pt x="4414520" y="933577"/>
                    <a:pt x="4347337" y="1000760"/>
                    <a:pt x="4264406" y="1000760"/>
                  </a:cubicBezTo>
                  <a:lnTo>
                    <a:pt x="150114" y="1000760"/>
                  </a:lnTo>
                  <a:cubicBezTo>
                    <a:pt x="67183" y="1000760"/>
                    <a:pt x="0" y="933577"/>
                    <a:pt x="0" y="850646"/>
                  </a:cubicBezTo>
                  <a:close/>
                </a:path>
              </a:pathLst>
            </a:custGeom>
            <a:solidFill>
              <a:srgbClr val="DCFCE7"/>
            </a:solidFill>
            <a:ln w="19050" cap="sq">
              <a:solidFill>
                <a:srgbClr val="DCFCE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0" y="6986016"/>
            <a:ext cx="3291840" cy="731520"/>
            <a:chOff x="0" y="0"/>
            <a:chExt cx="438912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3891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6A34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append(x)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852160" y="7716012"/>
            <a:ext cx="25603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the object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35565" y="7716012"/>
            <a:ext cx="19463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dot = “belongs to”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44000" y="7716012"/>
            <a:ext cx="32918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the method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04875" y="8311515"/>
            <a:ext cx="16478250" cy="787146"/>
            <a:chOff x="0" y="0"/>
            <a:chExt cx="21971000" cy="10495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7100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197100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21771102" y="0"/>
                  </a:lnTo>
                  <a:cubicBezTo>
                    <a:pt x="21881464" y="0"/>
                    <a:pt x="21971000" y="89535"/>
                    <a:pt x="21971000" y="199898"/>
                  </a:cubicBezTo>
                  <a:lnTo>
                    <a:pt x="21971000" y="849630"/>
                  </a:lnTo>
                  <a:cubicBezTo>
                    <a:pt x="21971000" y="959993"/>
                    <a:pt x="21881464" y="1049528"/>
                    <a:pt x="2177110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EF3C7"/>
            </a:solidFill>
            <a:ln w="19050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80160" y="8321040"/>
            <a:ext cx="15727680" cy="768096"/>
            <a:chOff x="0" y="0"/>
            <a:chExt cx="20970240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9702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979" r="0" b="-3489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097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Think about it:  What is the object in  student.append()?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7116"/>
            <a:ext cx="128016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9333E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02  •  FUNCTIONAL THINKING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46404"/>
            <a:ext cx="164592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Functional Programming: Think in Functions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904865" y="9230678"/>
            <a:ext cx="1647826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" y="9416796"/>
            <a:ext cx="109728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AI Club KIET  •  SkillSprint4.0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0" y="9416796"/>
            <a:ext cx="3657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3/8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781175"/>
            <a:ext cx="164592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Solve a problem by breaking it into small, reusable functions.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04875" y="2404491"/>
            <a:ext cx="16478250" cy="1299210"/>
            <a:chOff x="0" y="0"/>
            <a:chExt cx="21971000" cy="1732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1000" cy="1732280"/>
            </a:xfrm>
            <a:custGeom>
              <a:avLst/>
              <a:gdLst/>
              <a:ahLst/>
              <a:cxnLst/>
              <a:rect r="r" b="b" t="t" l="l"/>
              <a:pathLst>
                <a:path h="1732280" w="21971000">
                  <a:moveTo>
                    <a:pt x="0" y="197993"/>
                  </a:moveTo>
                  <a:cubicBezTo>
                    <a:pt x="0" y="88646"/>
                    <a:pt x="88646" y="0"/>
                    <a:pt x="197993" y="0"/>
                  </a:cubicBezTo>
                  <a:lnTo>
                    <a:pt x="21773007" y="0"/>
                  </a:lnTo>
                  <a:cubicBezTo>
                    <a:pt x="21882354" y="0"/>
                    <a:pt x="21971000" y="88646"/>
                    <a:pt x="21971000" y="197993"/>
                  </a:cubicBezTo>
                  <a:lnTo>
                    <a:pt x="21971000" y="1534287"/>
                  </a:lnTo>
                  <a:cubicBezTo>
                    <a:pt x="21971000" y="1643634"/>
                    <a:pt x="21882354" y="1732280"/>
                    <a:pt x="21773007" y="1732280"/>
                  </a:cubicBezTo>
                  <a:lnTo>
                    <a:pt x="197993" y="1732280"/>
                  </a:lnTo>
                  <a:cubicBezTo>
                    <a:pt x="88646" y="1732280"/>
                    <a:pt x="0" y="1643634"/>
                    <a:pt x="0" y="15342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2620775"/>
            <a:ext cx="116843" cy="866651"/>
            <a:chOff x="0" y="0"/>
            <a:chExt cx="155791" cy="11555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829" cy="1155573"/>
            </a:xfrm>
            <a:custGeom>
              <a:avLst/>
              <a:gdLst/>
              <a:ahLst/>
              <a:cxnLst/>
              <a:rect r="r" b="b" t="t" l="l"/>
              <a:pathLst>
                <a:path h="11555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9333EA"/>
            </a:solidFill>
            <a:ln w="25400" cap="sq">
              <a:solidFill>
                <a:srgbClr val="9333E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53515" y="2642235"/>
            <a:ext cx="2030730" cy="823722"/>
            <a:chOff x="0" y="0"/>
            <a:chExt cx="2707640" cy="1098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7640" cy="1098296"/>
            </a:xfrm>
            <a:custGeom>
              <a:avLst/>
              <a:gdLst/>
              <a:ahLst/>
              <a:cxnLst/>
              <a:rect r="r" b="b" t="t" l="l"/>
              <a:pathLst>
                <a:path h="1098296" w="270764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557907" y="0"/>
                  </a:lnTo>
                  <a:cubicBezTo>
                    <a:pt x="2640584" y="0"/>
                    <a:pt x="2707640" y="67056"/>
                    <a:pt x="2707640" y="149733"/>
                  </a:cubicBezTo>
                  <a:lnTo>
                    <a:pt x="2707640" y="948563"/>
                  </a:lnTo>
                  <a:cubicBezTo>
                    <a:pt x="2707640" y="1031240"/>
                    <a:pt x="2640584" y="1098296"/>
                    <a:pt x="2557907" y="1098296"/>
                  </a:cubicBezTo>
                  <a:lnTo>
                    <a:pt x="149733" y="1098296"/>
                  </a:lnTo>
                  <a:cubicBezTo>
                    <a:pt x="67056" y="1098296"/>
                    <a:pt x="0" y="1031240"/>
                    <a:pt x="0" y="948563"/>
                  </a:cubicBezTo>
                  <a:close/>
                </a:path>
              </a:pathLst>
            </a:custGeom>
            <a:solidFill>
              <a:srgbClr val="DBEAFE"/>
            </a:solidFill>
            <a:ln w="1905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2651760"/>
            <a:ext cx="2011680" cy="804672"/>
            <a:chOff x="0" y="0"/>
            <a:chExt cx="2682240" cy="1072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822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822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0284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74720" y="2651760"/>
            <a:ext cx="658368" cy="731520"/>
            <a:chOff x="0" y="0"/>
            <a:chExt cx="877824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87782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23563" y="2642235"/>
            <a:ext cx="3128010" cy="823722"/>
            <a:chOff x="0" y="0"/>
            <a:chExt cx="4170680" cy="10982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0680" cy="1098296"/>
            </a:xfrm>
            <a:custGeom>
              <a:avLst/>
              <a:gdLst/>
              <a:ahLst/>
              <a:cxnLst/>
              <a:rect r="r" b="b" t="t" l="l"/>
              <a:pathLst>
                <a:path h="1098296" w="417068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020947" y="0"/>
                  </a:lnTo>
                  <a:cubicBezTo>
                    <a:pt x="4103624" y="0"/>
                    <a:pt x="4170680" y="67056"/>
                    <a:pt x="4170680" y="149733"/>
                  </a:cubicBezTo>
                  <a:lnTo>
                    <a:pt x="4170680" y="948563"/>
                  </a:lnTo>
                  <a:cubicBezTo>
                    <a:pt x="4170680" y="1031240"/>
                    <a:pt x="4103624" y="1098296"/>
                    <a:pt x="4020947" y="1098296"/>
                  </a:cubicBezTo>
                  <a:lnTo>
                    <a:pt x="149733" y="1098296"/>
                  </a:lnTo>
                  <a:cubicBezTo>
                    <a:pt x="67056" y="1098296"/>
                    <a:pt x="0" y="1031240"/>
                    <a:pt x="0" y="948563"/>
                  </a:cubicBezTo>
                  <a:close/>
                </a:path>
              </a:pathLst>
            </a:custGeom>
            <a:solidFill>
              <a:srgbClr val="FEF3C7"/>
            </a:solidFill>
            <a:ln w="19050" cap="sq">
              <a:solidFill>
                <a:srgbClr val="FEF3C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33088" y="2651760"/>
            <a:ext cx="3108960" cy="804672"/>
            <a:chOff x="0" y="0"/>
            <a:chExt cx="4145280" cy="1072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45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14528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Break into smaller tasks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42048" y="2651760"/>
            <a:ext cx="658368" cy="731520"/>
            <a:chOff x="0" y="0"/>
            <a:chExt cx="877824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87782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90891" y="2642235"/>
            <a:ext cx="1847850" cy="823722"/>
            <a:chOff x="0" y="0"/>
            <a:chExt cx="2463800" cy="10982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63800" cy="1098296"/>
            </a:xfrm>
            <a:custGeom>
              <a:avLst/>
              <a:gdLst/>
              <a:ahLst/>
              <a:cxnLst/>
              <a:rect r="r" b="b" t="t" l="l"/>
              <a:pathLst>
                <a:path h="1098296" w="246380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314067" y="0"/>
                  </a:lnTo>
                  <a:cubicBezTo>
                    <a:pt x="2396744" y="0"/>
                    <a:pt x="2463800" y="67056"/>
                    <a:pt x="2463800" y="149733"/>
                  </a:cubicBezTo>
                  <a:lnTo>
                    <a:pt x="2463800" y="948563"/>
                  </a:lnTo>
                  <a:cubicBezTo>
                    <a:pt x="2463800" y="1031240"/>
                    <a:pt x="2396744" y="1098296"/>
                    <a:pt x="2314067" y="1098296"/>
                  </a:cubicBezTo>
                  <a:lnTo>
                    <a:pt x="149733" y="1098296"/>
                  </a:lnTo>
                  <a:cubicBezTo>
                    <a:pt x="67056" y="1098296"/>
                    <a:pt x="0" y="1031240"/>
                    <a:pt x="0" y="948563"/>
                  </a:cubicBezTo>
                  <a:close/>
                </a:path>
              </a:pathLst>
            </a:custGeom>
            <a:solidFill>
              <a:srgbClr val="F3E8FF"/>
            </a:solidFill>
            <a:ln w="19050" cap="sq">
              <a:solidFill>
                <a:srgbClr val="F3E8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900416" y="2651760"/>
            <a:ext cx="1828800" cy="804672"/>
            <a:chOff x="0" y="0"/>
            <a:chExt cx="2438400" cy="1072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4384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 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29216" y="2651760"/>
            <a:ext cx="658368" cy="731520"/>
            <a:chOff x="0" y="0"/>
            <a:chExt cx="877824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7782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78059" y="2642235"/>
            <a:ext cx="1847850" cy="823722"/>
            <a:chOff x="0" y="0"/>
            <a:chExt cx="2463800" cy="10982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63800" cy="1098296"/>
            </a:xfrm>
            <a:custGeom>
              <a:avLst/>
              <a:gdLst/>
              <a:ahLst/>
              <a:cxnLst/>
              <a:rect r="r" b="b" t="t" l="l"/>
              <a:pathLst>
                <a:path h="1098296" w="246380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314067" y="0"/>
                  </a:lnTo>
                  <a:cubicBezTo>
                    <a:pt x="2396744" y="0"/>
                    <a:pt x="2463800" y="67056"/>
                    <a:pt x="2463800" y="149733"/>
                  </a:cubicBezTo>
                  <a:lnTo>
                    <a:pt x="2463800" y="948563"/>
                  </a:lnTo>
                  <a:cubicBezTo>
                    <a:pt x="2463800" y="1031240"/>
                    <a:pt x="2396744" y="1098296"/>
                    <a:pt x="2314067" y="1098296"/>
                  </a:cubicBezTo>
                  <a:lnTo>
                    <a:pt x="149733" y="1098296"/>
                  </a:lnTo>
                  <a:cubicBezTo>
                    <a:pt x="67056" y="1098296"/>
                    <a:pt x="0" y="1031240"/>
                    <a:pt x="0" y="948563"/>
                  </a:cubicBezTo>
                  <a:close/>
                </a:path>
              </a:pathLst>
            </a:custGeom>
            <a:solidFill>
              <a:srgbClr val="F3E8FF"/>
            </a:solidFill>
            <a:ln w="19050" cap="sq">
              <a:solidFill>
                <a:srgbClr val="F3E8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387584" y="2651760"/>
            <a:ext cx="1828800" cy="804672"/>
            <a:chOff x="0" y="0"/>
            <a:chExt cx="2438400" cy="10728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4384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 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16384" y="2651760"/>
            <a:ext cx="658368" cy="731520"/>
            <a:chOff x="0" y="0"/>
            <a:chExt cx="877824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87782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65227" y="2642235"/>
            <a:ext cx="1847850" cy="823722"/>
            <a:chOff x="0" y="0"/>
            <a:chExt cx="2463800" cy="10982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63800" cy="1098296"/>
            </a:xfrm>
            <a:custGeom>
              <a:avLst/>
              <a:gdLst/>
              <a:ahLst/>
              <a:cxnLst/>
              <a:rect r="r" b="b" t="t" l="l"/>
              <a:pathLst>
                <a:path h="1098296" w="246380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314067" y="0"/>
                  </a:lnTo>
                  <a:cubicBezTo>
                    <a:pt x="2396744" y="0"/>
                    <a:pt x="2463800" y="67056"/>
                    <a:pt x="2463800" y="149733"/>
                  </a:cubicBezTo>
                  <a:lnTo>
                    <a:pt x="2463800" y="948563"/>
                  </a:lnTo>
                  <a:cubicBezTo>
                    <a:pt x="2463800" y="1031240"/>
                    <a:pt x="2396744" y="1098296"/>
                    <a:pt x="2314067" y="1098296"/>
                  </a:cubicBezTo>
                  <a:lnTo>
                    <a:pt x="149733" y="1098296"/>
                  </a:lnTo>
                  <a:cubicBezTo>
                    <a:pt x="67056" y="1098296"/>
                    <a:pt x="0" y="1031240"/>
                    <a:pt x="0" y="948563"/>
                  </a:cubicBezTo>
                  <a:close/>
                </a:path>
              </a:pathLst>
            </a:custGeom>
            <a:solidFill>
              <a:srgbClr val="F3E8FF"/>
            </a:solidFill>
            <a:ln w="19050" cap="sq">
              <a:solidFill>
                <a:srgbClr val="F3E8F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874752" y="2651760"/>
            <a:ext cx="1828800" cy="804672"/>
            <a:chOff x="0" y="0"/>
            <a:chExt cx="2438400" cy="10728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4384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 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703552" y="2651760"/>
            <a:ext cx="658368" cy="731520"/>
            <a:chOff x="0" y="0"/>
            <a:chExt cx="877824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87782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352395" y="2642235"/>
            <a:ext cx="2396490" cy="823722"/>
            <a:chOff x="0" y="0"/>
            <a:chExt cx="3195320" cy="10982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95320" cy="1098296"/>
            </a:xfrm>
            <a:custGeom>
              <a:avLst/>
              <a:gdLst/>
              <a:ahLst/>
              <a:cxnLst/>
              <a:rect r="r" b="b" t="t" l="l"/>
              <a:pathLst>
                <a:path h="1098296" w="319532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3045587" y="0"/>
                  </a:lnTo>
                  <a:cubicBezTo>
                    <a:pt x="3128264" y="0"/>
                    <a:pt x="3195320" y="67056"/>
                    <a:pt x="3195320" y="149733"/>
                  </a:cubicBezTo>
                  <a:lnTo>
                    <a:pt x="3195320" y="948563"/>
                  </a:lnTo>
                  <a:cubicBezTo>
                    <a:pt x="3195320" y="1031240"/>
                    <a:pt x="3128264" y="1098296"/>
                    <a:pt x="3045587" y="1098296"/>
                  </a:cubicBezTo>
                  <a:lnTo>
                    <a:pt x="149733" y="1098296"/>
                  </a:lnTo>
                  <a:cubicBezTo>
                    <a:pt x="67056" y="1098296"/>
                    <a:pt x="0" y="1031240"/>
                    <a:pt x="0" y="948563"/>
                  </a:cubicBezTo>
                  <a:close/>
                </a:path>
              </a:pathLst>
            </a:custGeom>
            <a:solidFill>
              <a:srgbClr val="DCFCE7"/>
            </a:solidFill>
            <a:ln w="19050" cap="sq">
              <a:solidFill>
                <a:srgbClr val="DCFCE7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361920" y="2651760"/>
            <a:ext cx="2377440" cy="804672"/>
            <a:chOff x="0" y="0"/>
            <a:chExt cx="3169920" cy="10728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69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69" r="0" b="-756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1699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RESULT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04875" y="3867531"/>
            <a:ext cx="6785610" cy="3402330"/>
            <a:chOff x="0" y="0"/>
            <a:chExt cx="9047480" cy="45364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047480" cy="4536440"/>
            </a:xfrm>
            <a:custGeom>
              <a:avLst/>
              <a:gdLst/>
              <a:ahLst/>
              <a:cxnLst/>
              <a:rect r="r" b="b" t="t" l="l"/>
              <a:pathLst>
                <a:path h="4536440" w="9047480">
                  <a:moveTo>
                    <a:pt x="0" y="245237"/>
                  </a:moveTo>
                  <a:cubicBezTo>
                    <a:pt x="0" y="109728"/>
                    <a:pt x="109728" y="0"/>
                    <a:pt x="245237" y="0"/>
                  </a:cubicBezTo>
                  <a:lnTo>
                    <a:pt x="8802243" y="0"/>
                  </a:lnTo>
                  <a:cubicBezTo>
                    <a:pt x="8937625" y="0"/>
                    <a:pt x="9047480" y="109728"/>
                    <a:pt x="9047480" y="245237"/>
                  </a:cubicBezTo>
                  <a:lnTo>
                    <a:pt x="9047480" y="4291203"/>
                  </a:lnTo>
                  <a:cubicBezTo>
                    <a:pt x="9047480" y="4426585"/>
                    <a:pt x="8937752" y="4536440"/>
                    <a:pt x="8802243" y="4536440"/>
                  </a:cubicBezTo>
                  <a:lnTo>
                    <a:pt x="245237" y="4536440"/>
                  </a:lnTo>
                  <a:cubicBezTo>
                    <a:pt x="109728" y="4536440"/>
                    <a:pt x="0" y="4426712"/>
                    <a:pt x="0" y="4291203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243584" y="4029837"/>
            <a:ext cx="6108192" cy="301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add(a, b):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a + b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multiply(a, b):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a * b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x = add(</a:t>
            </a:r>
            <a:r>
              <a:rPr lang="en-US" sz="2100">
                <a:solidFill>
                  <a:srgbClr val="FDBA74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100">
                <a:solidFill>
                  <a:srgbClr val="FDBA74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result = multiply(x, </a:t>
            </a:r>
            <a:r>
              <a:rPr lang="en-US" sz="2100">
                <a:solidFill>
                  <a:srgbClr val="FDBA74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128635" y="3867531"/>
            <a:ext cx="2762250" cy="512826"/>
            <a:chOff x="0" y="0"/>
            <a:chExt cx="3683000" cy="6837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83000" cy="683768"/>
            </a:xfrm>
            <a:custGeom>
              <a:avLst/>
              <a:gdLst/>
              <a:ahLst/>
              <a:cxnLst/>
              <a:rect r="r" b="b" t="t" l="l"/>
              <a:pathLst>
                <a:path h="683768" w="368300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531108" y="0"/>
                  </a:lnTo>
                  <a:cubicBezTo>
                    <a:pt x="3614928" y="0"/>
                    <a:pt x="3683000" y="68072"/>
                    <a:pt x="3683000" y="151892"/>
                  </a:cubicBezTo>
                  <a:lnTo>
                    <a:pt x="3683000" y="531876"/>
                  </a:lnTo>
                  <a:cubicBezTo>
                    <a:pt x="3683000" y="615823"/>
                    <a:pt x="3614928" y="683768"/>
                    <a:pt x="353110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DBEAFE"/>
            </a:solidFill>
            <a:ln w="1905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8138160" y="3877056"/>
            <a:ext cx="2743200" cy="493776"/>
            <a:chOff x="0" y="0"/>
            <a:chExt cx="3657600" cy="6583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65760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84C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5 + 3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38160" y="4370832"/>
            <a:ext cx="2743200" cy="219456"/>
            <a:chOff x="0" y="0"/>
            <a:chExt cx="3657600" cy="2926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657600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128635" y="4580763"/>
            <a:ext cx="2762250" cy="512826"/>
            <a:chOff x="0" y="0"/>
            <a:chExt cx="3683000" cy="6837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83000" cy="683768"/>
            </a:xfrm>
            <a:custGeom>
              <a:avLst/>
              <a:gdLst/>
              <a:ahLst/>
              <a:cxnLst/>
              <a:rect r="r" b="b" t="t" l="l"/>
              <a:pathLst>
                <a:path h="683768" w="368300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531108" y="0"/>
                  </a:lnTo>
                  <a:cubicBezTo>
                    <a:pt x="3614928" y="0"/>
                    <a:pt x="3683000" y="68072"/>
                    <a:pt x="3683000" y="151892"/>
                  </a:cubicBezTo>
                  <a:lnTo>
                    <a:pt x="3683000" y="531876"/>
                  </a:lnTo>
                  <a:cubicBezTo>
                    <a:pt x="3683000" y="615823"/>
                    <a:pt x="3614928" y="683768"/>
                    <a:pt x="353110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F3E8FF"/>
            </a:solidFill>
            <a:ln w="19050" cap="sq">
              <a:solidFill>
                <a:srgbClr val="F3E8F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8138160" y="4590288"/>
            <a:ext cx="2743200" cy="493776"/>
            <a:chOff x="0" y="0"/>
            <a:chExt cx="3657600" cy="6583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365760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9333E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add()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138160" y="5084064"/>
            <a:ext cx="2743200" cy="219456"/>
            <a:chOff x="0" y="0"/>
            <a:chExt cx="3657600" cy="29260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657600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128635" y="5293995"/>
            <a:ext cx="2762250" cy="512826"/>
            <a:chOff x="0" y="0"/>
            <a:chExt cx="3683000" cy="68376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83000" cy="683768"/>
            </a:xfrm>
            <a:custGeom>
              <a:avLst/>
              <a:gdLst/>
              <a:ahLst/>
              <a:cxnLst/>
              <a:rect r="r" b="b" t="t" l="l"/>
              <a:pathLst>
                <a:path h="683768" w="368300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531108" y="0"/>
                  </a:lnTo>
                  <a:cubicBezTo>
                    <a:pt x="3614928" y="0"/>
                    <a:pt x="3683000" y="68072"/>
                    <a:pt x="3683000" y="151892"/>
                  </a:cubicBezTo>
                  <a:lnTo>
                    <a:pt x="3683000" y="531876"/>
                  </a:lnTo>
                  <a:cubicBezTo>
                    <a:pt x="3683000" y="615823"/>
                    <a:pt x="3614928" y="683768"/>
                    <a:pt x="353110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DCFCE7"/>
            </a:solidFill>
            <a:ln w="19050" cap="sq">
              <a:solidFill>
                <a:srgbClr val="DCFCE7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8138160" y="5303520"/>
            <a:ext cx="2743200" cy="493776"/>
            <a:chOff x="0" y="0"/>
            <a:chExt cx="3657600" cy="6583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365760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8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138160" y="5797296"/>
            <a:ext cx="2743200" cy="219456"/>
            <a:chOff x="0" y="0"/>
            <a:chExt cx="3657600" cy="29260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657600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128635" y="6007227"/>
            <a:ext cx="2762250" cy="512826"/>
            <a:chOff x="0" y="0"/>
            <a:chExt cx="3683000" cy="6837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83000" cy="683768"/>
            </a:xfrm>
            <a:custGeom>
              <a:avLst/>
              <a:gdLst/>
              <a:ahLst/>
              <a:cxnLst/>
              <a:rect r="r" b="b" t="t" l="l"/>
              <a:pathLst>
                <a:path h="683768" w="368300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531108" y="0"/>
                  </a:lnTo>
                  <a:cubicBezTo>
                    <a:pt x="3614928" y="0"/>
                    <a:pt x="3683000" y="68072"/>
                    <a:pt x="3683000" y="151892"/>
                  </a:cubicBezTo>
                  <a:lnTo>
                    <a:pt x="3683000" y="531876"/>
                  </a:lnTo>
                  <a:cubicBezTo>
                    <a:pt x="3683000" y="615823"/>
                    <a:pt x="3614928" y="683768"/>
                    <a:pt x="353110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F3E8FF"/>
            </a:solidFill>
            <a:ln w="19050" cap="sq">
              <a:solidFill>
                <a:srgbClr val="F3E8FF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8138160" y="6016752"/>
            <a:ext cx="2743200" cy="493776"/>
            <a:chOff x="0" y="0"/>
            <a:chExt cx="3657600" cy="6583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365760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9333E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multiply()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138160" y="6510528"/>
            <a:ext cx="2743200" cy="219456"/>
            <a:chOff x="0" y="0"/>
            <a:chExt cx="3657600" cy="29260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657600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128635" y="6720459"/>
            <a:ext cx="2762250" cy="512826"/>
            <a:chOff x="0" y="0"/>
            <a:chExt cx="3683000" cy="6837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83000" cy="683768"/>
            </a:xfrm>
            <a:custGeom>
              <a:avLst/>
              <a:gdLst/>
              <a:ahLst/>
              <a:cxnLst/>
              <a:rect r="r" b="b" t="t" l="l"/>
              <a:pathLst>
                <a:path h="683768" w="368300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531108" y="0"/>
                  </a:lnTo>
                  <a:cubicBezTo>
                    <a:pt x="3614928" y="0"/>
                    <a:pt x="3683000" y="68072"/>
                    <a:pt x="3683000" y="151892"/>
                  </a:cubicBezTo>
                  <a:lnTo>
                    <a:pt x="3683000" y="531876"/>
                  </a:lnTo>
                  <a:cubicBezTo>
                    <a:pt x="3683000" y="615823"/>
                    <a:pt x="3614928" y="683768"/>
                    <a:pt x="353110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DCFCE7"/>
            </a:solidFill>
            <a:ln w="19050" cap="sq">
              <a:solidFill>
                <a:srgbClr val="DCFCE7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8138160" y="6729984"/>
            <a:ext cx="2743200" cy="493776"/>
            <a:chOff x="0" y="0"/>
            <a:chExt cx="3657600" cy="65836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365760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16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329035" y="3867531"/>
            <a:ext cx="6054090" cy="1628394"/>
            <a:chOff x="0" y="0"/>
            <a:chExt cx="8072120" cy="217119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072120" cy="2171192"/>
            </a:xfrm>
            <a:custGeom>
              <a:avLst/>
              <a:gdLst/>
              <a:ahLst/>
              <a:cxnLst/>
              <a:rect r="r" b="b" t="t" l="l"/>
              <a:pathLst>
                <a:path h="2171192" w="807212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7874762" y="0"/>
                  </a:lnTo>
                  <a:cubicBezTo>
                    <a:pt x="7983728" y="0"/>
                    <a:pt x="8072120" y="88392"/>
                    <a:pt x="8072120" y="197358"/>
                  </a:cubicBezTo>
                  <a:lnTo>
                    <a:pt x="8072120" y="1973834"/>
                  </a:lnTo>
                  <a:cubicBezTo>
                    <a:pt x="8072120" y="2082800"/>
                    <a:pt x="7983728" y="2171192"/>
                    <a:pt x="7874762" y="2171192"/>
                  </a:cubicBezTo>
                  <a:lnTo>
                    <a:pt x="197358" y="2171192"/>
                  </a:lnTo>
                  <a:cubicBezTo>
                    <a:pt x="88392" y="2171192"/>
                    <a:pt x="0" y="2082800"/>
                    <a:pt x="0" y="197383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1325863" y="4083815"/>
            <a:ext cx="116843" cy="1195835"/>
            <a:chOff x="0" y="0"/>
            <a:chExt cx="155791" cy="15944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5829" cy="1594485"/>
            </a:xfrm>
            <a:custGeom>
              <a:avLst/>
              <a:gdLst/>
              <a:ahLst/>
              <a:cxnLst/>
              <a:rect r="r" b="b" t="t" l="l"/>
              <a:pathLst>
                <a:path h="159448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594485"/>
                  </a:lnTo>
                  <a:lnTo>
                    <a:pt x="0" y="1594485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sp>
        <p:nvSpPr>
          <p:cNvPr name="TextBox 101" id="101"/>
          <p:cNvSpPr txBox="true"/>
          <p:nvPr/>
        </p:nvSpPr>
        <p:spPr>
          <a:xfrm rot="0">
            <a:off x="11795760" y="3948684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D9770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WITHOUT FUNCTIONS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795760" y="4331970"/>
            <a:ext cx="548640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Large block of code</a:t>
            </a:r>
          </a:p>
          <a:p>
            <a:pPr algn="l">
              <a:lnSpc>
                <a:spcPts val="2400"/>
              </a:lnSpc>
            </a:pPr>
            <a:r>
              <a:rPr lang="en-US" sz="18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↓ Harder to understand</a:t>
            </a:r>
          </a:p>
          <a:p>
            <a:pPr algn="l">
              <a:lnSpc>
                <a:spcPts val="2400"/>
              </a:lnSpc>
            </a:pPr>
            <a:r>
              <a:rPr lang="en-US" sz="18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↓ Harder to reuse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11329035" y="5641467"/>
            <a:ext cx="6054090" cy="1628394"/>
            <a:chOff x="0" y="0"/>
            <a:chExt cx="8072120" cy="21711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072120" cy="2171192"/>
            </a:xfrm>
            <a:custGeom>
              <a:avLst/>
              <a:gdLst/>
              <a:ahLst/>
              <a:cxnLst/>
              <a:rect r="r" b="b" t="t" l="l"/>
              <a:pathLst>
                <a:path h="2171192" w="807212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7874762" y="0"/>
                  </a:lnTo>
                  <a:cubicBezTo>
                    <a:pt x="7983728" y="0"/>
                    <a:pt x="8072120" y="88392"/>
                    <a:pt x="8072120" y="197358"/>
                  </a:cubicBezTo>
                  <a:lnTo>
                    <a:pt x="8072120" y="1973834"/>
                  </a:lnTo>
                  <a:cubicBezTo>
                    <a:pt x="8072120" y="2082800"/>
                    <a:pt x="7983728" y="2171192"/>
                    <a:pt x="7874762" y="2171192"/>
                  </a:cubicBezTo>
                  <a:lnTo>
                    <a:pt x="197358" y="2171192"/>
                  </a:lnTo>
                  <a:cubicBezTo>
                    <a:pt x="88392" y="2171192"/>
                    <a:pt x="0" y="2082800"/>
                    <a:pt x="0" y="197383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325863" y="5857751"/>
            <a:ext cx="116843" cy="1195835"/>
            <a:chOff x="0" y="0"/>
            <a:chExt cx="155791" cy="159444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5829" cy="1594485"/>
            </a:xfrm>
            <a:custGeom>
              <a:avLst/>
              <a:gdLst/>
              <a:ahLst/>
              <a:cxnLst/>
              <a:rect r="r" b="b" t="t" l="l"/>
              <a:pathLst>
                <a:path h="159448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594485"/>
                  </a:lnTo>
                  <a:lnTo>
                    <a:pt x="0" y="1594485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107" id="107"/>
          <p:cNvSpPr txBox="true"/>
          <p:nvPr/>
        </p:nvSpPr>
        <p:spPr>
          <a:xfrm rot="0">
            <a:off x="11795760" y="5722620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 FUNCTIONS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795760" y="6105906"/>
            <a:ext cx="548640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Small reusable functions</a:t>
            </a:r>
          </a:p>
          <a:p>
            <a:pPr algn="l">
              <a:lnSpc>
                <a:spcPts val="2400"/>
              </a:lnSpc>
            </a:pPr>
            <a:r>
              <a:rPr lang="en-US" sz="18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↓ Cleaner code</a:t>
            </a:r>
          </a:p>
          <a:p>
            <a:pPr algn="l">
              <a:lnSpc>
                <a:spcPts val="2400"/>
              </a:lnSpc>
            </a:pPr>
            <a:r>
              <a:rPr lang="en-US" sz="18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↓ Easier to maintain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904875" y="7451979"/>
            <a:ext cx="3950970" cy="567690"/>
            <a:chOff x="0" y="0"/>
            <a:chExt cx="5267960" cy="7569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267960" cy="756920"/>
            </a:xfrm>
            <a:custGeom>
              <a:avLst/>
              <a:gdLst/>
              <a:ahLst/>
              <a:cxnLst/>
              <a:rect r="r" b="b" t="t" l="l"/>
              <a:pathLst>
                <a:path h="756920" w="526796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116576" y="0"/>
                  </a:lnTo>
                  <a:cubicBezTo>
                    <a:pt x="5200142" y="0"/>
                    <a:pt x="5267960" y="67818"/>
                    <a:pt x="5267960" y="151384"/>
                  </a:cubicBezTo>
                  <a:lnTo>
                    <a:pt x="5267960" y="605536"/>
                  </a:lnTo>
                  <a:cubicBezTo>
                    <a:pt x="5267960" y="689102"/>
                    <a:pt x="5200142" y="756920"/>
                    <a:pt x="5116576" y="756920"/>
                  </a:cubicBezTo>
                  <a:lnTo>
                    <a:pt x="151384" y="756920"/>
                  </a:lnTo>
                  <a:cubicBezTo>
                    <a:pt x="67818" y="756920"/>
                    <a:pt x="0" y="689102"/>
                    <a:pt x="0" y="605536"/>
                  </a:cubicBezTo>
                  <a:close/>
                </a:path>
              </a:pathLst>
            </a:custGeom>
            <a:solidFill>
              <a:srgbClr val="EDE9FE"/>
            </a:solidFill>
            <a:ln w="19050" cap="sq">
              <a:solidFill>
                <a:srgbClr val="EDE9FE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914400" y="7461504"/>
            <a:ext cx="3931920" cy="548640"/>
            <a:chOff x="0" y="0"/>
            <a:chExt cx="524256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524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Divide big problems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074539" y="7451979"/>
            <a:ext cx="3950970" cy="567690"/>
            <a:chOff x="0" y="0"/>
            <a:chExt cx="5267960" cy="7569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267960" cy="756920"/>
            </a:xfrm>
            <a:custGeom>
              <a:avLst/>
              <a:gdLst/>
              <a:ahLst/>
              <a:cxnLst/>
              <a:rect r="r" b="b" t="t" l="l"/>
              <a:pathLst>
                <a:path h="756920" w="526796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116576" y="0"/>
                  </a:lnTo>
                  <a:cubicBezTo>
                    <a:pt x="5200142" y="0"/>
                    <a:pt x="5267960" y="67818"/>
                    <a:pt x="5267960" y="151384"/>
                  </a:cubicBezTo>
                  <a:lnTo>
                    <a:pt x="5267960" y="605536"/>
                  </a:lnTo>
                  <a:cubicBezTo>
                    <a:pt x="5267960" y="689102"/>
                    <a:pt x="5200142" y="756920"/>
                    <a:pt x="5116576" y="756920"/>
                  </a:cubicBezTo>
                  <a:lnTo>
                    <a:pt x="151384" y="756920"/>
                  </a:lnTo>
                  <a:cubicBezTo>
                    <a:pt x="67818" y="756920"/>
                    <a:pt x="0" y="689102"/>
                    <a:pt x="0" y="605536"/>
                  </a:cubicBezTo>
                  <a:close/>
                </a:path>
              </a:pathLst>
            </a:custGeom>
            <a:solidFill>
              <a:srgbClr val="EDE9FE"/>
            </a:solidFill>
            <a:ln w="19050" cap="sq">
              <a:solidFill>
                <a:srgbClr val="EDE9FE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84064" y="7461504"/>
            <a:ext cx="3931920" cy="548640"/>
            <a:chOff x="0" y="0"/>
            <a:chExt cx="524256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24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Reuse whenever needed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244203" y="7451979"/>
            <a:ext cx="3950970" cy="567690"/>
            <a:chOff x="0" y="0"/>
            <a:chExt cx="5267960" cy="7569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267960" cy="756920"/>
            </a:xfrm>
            <a:custGeom>
              <a:avLst/>
              <a:gdLst/>
              <a:ahLst/>
              <a:cxnLst/>
              <a:rect r="r" b="b" t="t" l="l"/>
              <a:pathLst>
                <a:path h="756920" w="526796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116576" y="0"/>
                  </a:lnTo>
                  <a:cubicBezTo>
                    <a:pt x="5200142" y="0"/>
                    <a:pt x="5267960" y="67818"/>
                    <a:pt x="5267960" y="151384"/>
                  </a:cubicBezTo>
                  <a:lnTo>
                    <a:pt x="5267960" y="605536"/>
                  </a:lnTo>
                  <a:cubicBezTo>
                    <a:pt x="5267960" y="689102"/>
                    <a:pt x="5200142" y="756920"/>
                    <a:pt x="5116576" y="756920"/>
                  </a:cubicBezTo>
                  <a:lnTo>
                    <a:pt x="151384" y="756920"/>
                  </a:lnTo>
                  <a:cubicBezTo>
                    <a:pt x="67818" y="756920"/>
                    <a:pt x="0" y="689102"/>
                    <a:pt x="0" y="605536"/>
                  </a:cubicBezTo>
                  <a:close/>
                </a:path>
              </a:pathLst>
            </a:custGeom>
            <a:solidFill>
              <a:srgbClr val="EDE9FE"/>
            </a:solidFill>
            <a:ln w="19050" cap="sq">
              <a:solidFill>
                <a:srgbClr val="EDE9FE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9253728" y="7461504"/>
            <a:ext cx="3931920" cy="548640"/>
            <a:chOff x="0" y="0"/>
            <a:chExt cx="5242560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524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job per function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3413867" y="7451979"/>
            <a:ext cx="3950970" cy="567690"/>
            <a:chOff x="0" y="0"/>
            <a:chExt cx="5267960" cy="7569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267960" cy="756920"/>
            </a:xfrm>
            <a:custGeom>
              <a:avLst/>
              <a:gdLst/>
              <a:ahLst/>
              <a:cxnLst/>
              <a:rect r="r" b="b" t="t" l="l"/>
              <a:pathLst>
                <a:path h="756920" w="526796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116576" y="0"/>
                  </a:lnTo>
                  <a:cubicBezTo>
                    <a:pt x="5200142" y="0"/>
                    <a:pt x="5267960" y="67818"/>
                    <a:pt x="5267960" y="151384"/>
                  </a:cubicBezTo>
                  <a:lnTo>
                    <a:pt x="5267960" y="605536"/>
                  </a:lnTo>
                  <a:cubicBezTo>
                    <a:pt x="5267960" y="689102"/>
                    <a:pt x="5200142" y="756920"/>
                    <a:pt x="5116576" y="756920"/>
                  </a:cubicBezTo>
                  <a:lnTo>
                    <a:pt x="151384" y="756920"/>
                  </a:lnTo>
                  <a:cubicBezTo>
                    <a:pt x="67818" y="756920"/>
                    <a:pt x="0" y="689102"/>
                    <a:pt x="0" y="605536"/>
                  </a:cubicBezTo>
                  <a:close/>
                </a:path>
              </a:pathLst>
            </a:custGeom>
            <a:solidFill>
              <a:srgbClr val="EDE9FE"/>
            </a:solidFill>
            <a:ln w="19050" cap="sq">
              <a:solidFill>
                <a:srgbClr val="EDE9FE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13423392" y="7461504"/>
            <a:ext cx="3931920" cy="548640"/>
            <a:chOff x="0" y="0"/>
            <a:chExt cx="5242560" cy="7315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524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Easier to maintain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04875" y="8165211"/>
            <a:ext cx="16478250" cy="933450"/>
            <a:chOff x="0" y="0"/>
            <a:chExt cx="21971000" cy="12446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9710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19710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1771863" y="0"/>
                  </a:lnTo>
                  <a:cubicBezTo>
                    <a:pt x="21881846" y="0"/>
                    <a:pt x="21971000" y="89154"/>
                    <a:pt x="21971000" y="199136"/>
                  </a:cubicBezTo>
                  <a:lnTo>
                    <a:pt x="21971000" y="1045464"/>
                  </a:lnTo>
                  <a:cubicBezTo>
                    <a:pt x="21971000" y="1155446"/>
                    <a:pt x="21881846" y="1244600"/>
                    <a:pt x="21771863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EDE9FE"/>
            </a:solidFill>
            <a:ln w="19050" cap="sq">
              <a:solidFill>
                <a:srgbClr val="DDD6FE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80160" y="8174736"/>
            <a:ext cx="15727680" cy="914400"/>
            <a:chOff x="0" y="0"/>
            <a:chExt cx="20970240" cy="12192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09702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209702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IDEA   </a:t>
              </a:r>
              <a:r>
                <a:rPr lang="en-US" sz="2199" b="true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thinking starts with one simple question: Can I break this problem into smaller functions?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7116"/>
            <a:ext cx="128016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03  •  CLASSES &amp; OBJECTS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46404"/>
            <a:ext cx="164592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Classes &amp; Objects: The Core Idea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904865" y="9230678"/>
            <a:ext cx="1647826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" y="9416796"/>
            <a:ext cx="109728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AI Club KIET  •  SkillSprint4.0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0" y="9416796"/>
            <a:ext cx="3657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4/8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2276475"/>
            <a:ext cx="4956810" cy="4865370"/>
            <a:chOff x="0" y="0"/>
            <a:chExt cx="6609080" cy="6487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9080" cy="6487160"/>
            </a:xfrm>
            <a:custGeom>
              <a:avLst/>
              <a:gdLst/>
              <a:ahLst/>
              <a:cxnLst/>
              <a:rect r="r" b="b" t="t" l="l"/>
              <a:pathLst>
                <a:path h="6487160" w="660908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6413246" y="0"/>
                  </a:lnTo>
                  <a:cubicBezTo>
                    <a:pt x="6521450" y="0"/>
                    <a:pt x="6609080" y="87630"/>
                    <a:pt x="6609080" y="195834"/>
                  </a:cubicBezTo>
                  <a:lnTo>
                    <a:pt x="6609080" y="6291326"/>
                  </a:lnTo>
                  <a:cubicBezTo>
                    <a:pt x="6609080" y="6399530"/>
                    <a:pt x="6521450" y="6487160"/>
                    <a:pt x="6413246" y="6487160"/>
                  </a:cubicBezTo>
                  <a:lnTo>
                    <a:pt x="195834" y="6487160"/>
                  </a:lnTo>
                  <a:cubicBezTo>
                    <a:pt x="87630" y="6487160"/>
                    <a:pt x="0" y="6399530"/>
                    <a:pt x="0" y="62913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2492759"/>
            <a:ext cx="116843" cy="4432811"/>
            <a:chOff x="0" y="0"/>
            <a:chExt cx="155791" cy="59104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829" cy="5910453"/>
            </a:xfrm>
            <a:custGeom>
              <a:avLst/>
              <a:gdLst/>
              <a:ahLst/>
              <a:cxnLst/>
              <a:rect r="r" b="b" t="t" l="l"/>
              <a:pathLst>
                <a:path h="591045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5910453"/>
                  </a:lnTo>
                  <a:lnTo>
                    <a:pt x="0" y="5910453"/>
                  </a:lnTo>
                  <a:close/>
                </a:path>
              </a:pathLst>
            </a:custGeom>
            <a:solidFill>
              <a:srgbClr val="0284C7"/>
            </a:solidFill>
            <a:ln w="2540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71600" y="2430780"/>
            <a:ext cx="365760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1600" y="2814066"/>
            <a:ext cx="420624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 (blueprint)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1600" y="3554349"/>
            <a:ext cx="420624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roll_no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branch</a:t>
            </a:r>
          </a:p>
        </p:txBody>
      </p:sp>
      <p:sp>
        <p:nvSpPr>
          <p:cNvPr name="AutoShape 14" id="14"/>
          <p:cNvSpPr/>
          <p:nvPr/>
        </p:nvSpPr>
        <p:spPr>
          <a:xfrm rot="21540">
            <a:off x="1358856" y="4932997"/>
            <a:ext cx="4048839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371600" y="5053965"/>
            <a:ext cx="420624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study()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attend_class()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00" y="6362700"/>
            <a:ext cx="42062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data above, behavior below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52160" y="4259580"/>
            <a:ext cx="128016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create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852160" y="3657600"/>
            <a:ext cx="1280160" cy="731520"/>
            <a:chOff x="0" y="0"/>
            <a:chExt cx="170688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706880" cy="1061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284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22795" y="2276475"/>
            <a:ext cx="4408170" cy="2305050"/>
            <a:chOff x="0" y="0"/>
            <a:chExt cx="5877560" cy="307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77560" cy="3073400"/>
            </a:xfrm>
            <a:custGeom>
              <a:avLst/>
              <a:gdLst/>
              <a:ahLst/>
              <a:cxnLst/>
              <a:rect r="r" b="b" t="t" l="l"/>
              <a:pathLst>
                <a:path h="3073400" w="5877560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5680837" y="0"/>
                  </a:lnTo>
                  <a:cubicBezTo>
                    <a:pt x="5789422" y="0"/>
                    <a:pt x="5877560" y="88011"/>
                    <a:pt x="5877560" y="196723"/>
                  </a:cubicBezTo>
                  <a:lnTo>
                    <a:pt x="5877560" y="2876677"/>
                  </a:lnTo>
                  <a:cubicBezTo>
                    <a:pt x="5877560" y="2985262"/>
                    <a:pt x="5789549" y="3073400"/>
                    <a:pt x="5680837" y="3073400"/>
                  </a:cubicBezTo>
                  <a:lnTo>
                    <a:pt x="196723" y="3073400"/>
                  </a:lnTo>
                  <a:cubicBezTo>
                    <a:pt x="88011" y="3073400"/>
                    <a:pt x="0" y="2985389"/>
                    <a:pt x="0" y="287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119623" y="2492759"/>
            <a:ext cx="116843" cy="1872491"/>
            <a:chOff x="0" y="0"/>
            <a:chExt cx="155791" cy="24966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829" cy="2496693"/>
            </a:xfrm>
            <a:custGeom>
              <a:avLst/>
              <a:gdLst/>
              <a:ahLst/>
              <a:cxnLst/>
              <a:rect r="r" b="b" t="t" l="l"/>
              <a:pathLst>
                <a:path h="249669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2496693"/>
                  </a:lnTo>
                  <a:lnTo>
                    <a:pt x="0" y="2496693"/>
                  </a:lnTo>
                  <a:close/>
                </a:path>
              </a:pathLst>
            </a:custGeom>
            <a:solidFill>
              <a:srgbClr val="9333EA"/>
            </a:solidFill>
            <a:ln w="25400" cap="sq">
              <a:solidFill>
                <a:srgbClr val="9333EA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7498080" y="2430780"/>
            <a:ext cx="384048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9333E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  student1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98080" y="2950845"/>
            <a:ext cx="384048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name = "Rahul"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roll_no = 101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122795" y="4836795"/>
            <a:ext cx="4408170" cy="2305050"/>
            <a:chOff x="0" y="0"/>
            <a:chExt cx="5877560" cy="307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77560" cy="3073400"/>
            </a:xfrm>
            <a:custGeom>
              <a:avLst/>
              <a:gdLst/>
              <a:ahLst/>
              <a:cxnLst/>
              <a:rect r="r" b="b" t="t" l="l"/>
              <a:pathLst>
                <a:path h="3073400" w="5877560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5680837" y="0"/>
                  </a:lnTo>
                  <a:cubicBezTo>
                    <a:pt x="5789422" y="0"/>
                    <a:pt x="5877560" y="88011"/>
                    <a:pt x="5877560" y="196723"/>
                  </a:cubicBezTo>
                  <a:lnTo>
                    <a:pt x="5877560" y="2876677"/>
                  </a:lnTo>
                  <a:cubicBezTo>
                    <a:pt x="5877560" y="2985262"/>
                    <a:pt x="5789549" y="3073400"/>
                    <a:pt x="5680837" y="3073400"/>
                  </a:cubicBezTo>
                  <a:lnTo>
                    <a:pt x="196723" y="3073400"/>
                  </a:lnTo>
                  <a:cubicBezTo>
                    <a:pt x="88011" y="3073400"/>
                    <a:pt x="0" y="2985389"/>
                    <a:pt x="0" y="287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119623" y="5053079"/>
            <a:ext cx="116843" cy="1872491"/>
            <a:chOff x="0" y="0"/>
            <a:chExt cx="155791" cy="24966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5829" cy="2496693"/>
            </a:xfrm>
            <a:custGeom>
              <a:avLst/>
              <a:gdLst/>
              <a:ahLst/>
              <a:cxnLst/>
              <a:rect r="r" b="b" t="t" l="l"/>
              <a:pathLst>
                <a:path h="249669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2496693"/>
                  </a:lnTo>
                  <a:lnTo>
                    <a:pt x="0" y="2496693"/>
                  </a:lnTo>
                  <a:close/>
                </a:path>
              </a:pathLst>
            </a:custGeom>
            <a:solidFill>
              <a:srgbClr val="9333EA"/>
            </a:solidFill>
            <a:ln w="25400" cap="sq">
              <a:solidFill>
                <a:srgbClr val="9333EA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7498080" y="4991100"/>
            <a:ext cx="384048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9333E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  student2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98080" y="5511165"/>
            <a:ext cx="384048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name = "Aisha"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roll_no = 102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877675" y="2276475"/>
            <a:ext cx="5505450" cy="3219450"/>
            <a:chOff x="0" y="0"/>
            <a:chExt cx="7340600" cy="4292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06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7340600">
                  <a:moveTo>
                    <a:pt x="0" y="245237"/>
                  </a:moveTo>
                  <a:cubicBezTo>
                    <a:pt x="0" y="109855"/>
                    <a:pt x="109855" y="0"/>
                    <a:pt x="245237" y="0"/>
                  </a:cubicBezTo>
                  <a:lnTo>
                    <a:pt x="7095363" y="0"/>
                  </a:lnTo>
                  <a:cubicBezTo>
                    <a:pt x="7230745" y="0"/>
                    <a:pt x="7340600" y="109855"/>
                    <a:pt x="7340600" y="245237"/>
                  </a:cubicBezTo>
                  <a:lnTo>
                    <a:pt x="7340600" y="4047363"/>
                  </a:lnTo>
                  <a:cubicBezTo>
                    <a:pt x="7340600" y="4182872"/>
                    <a:pt x="7230745" y="4292600"/>
                    <a:pt x="7095363" y="4292600"/>
                  </a:cubicBezTo>
                  <a:lnTo>
                    <a:pt x="245237" y="4292600"/>
                  </a:lnTo>
                  <a:cubicBezTo>
                    <a:pt x="109855" y="4292600"/>
                    <a:pt x="0" y="4182745"/>
                    <a:pt x="0" y="4047363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216384" y="2419731"/>
            <a:ext cx="4828032" cy="284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Student: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study(</a:t>
            </a:r>
            <a:r>
              <a:rPr lang="en-US" sz="20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0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"Studying"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student1 = Student()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student1.study()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877675" y="5751195"/>
            <a:ext cx="1299210" cy="567690"/>
            <a:chOff x="0" y="0"/>
            <a:chExt cx="1732280" cy="756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32280" cy="756920"/>
            </a:xfrm>
            <a:custGeom>
              <a:avLst/>
              <a:gdLst/>
              <a:ahLst/>
              <a:cxnLst/>
              <a:rect r="r" b="b" t="t" l="l"/>
              <a:pathLst>
                <a:path h="756920" w="173228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580896" y="0"/>
                  </a:lnTo>
                  <a:cubicBezTo>
                    <a:pt x="1664462" y="0"/>
                    <a:pt x="1732280" y="67818"/>
                    <a:pt x="1732280" y="151384"/>
                  </a:cubicBezTo>
                  <a:lnTo>
                    <a:pt x="1732280" y="605536"/>
                  </a:lnTo>
                  <a:cubicBezTo>
                    <a:pt x="1732280" y="689102"/>
                    <a:pt x="1664462" y="756920"/>
                    <a:pt x="1580896" y="756920"/>
                  </a:cubicBezTo>
                  <a:lnTo>
                    <a:pt x="151384" y="756920"/>
                  </a:lnTo>
                  <a:cubicBezTo>
                    <a:pt x="67818" y="756920"/>
                    <a:pt x="0" y="689102"/>
                    <a:pt x="0" y="605536"/>
                  </a:cubicBezTo>
                  <a:close/>
                </a:path>
              </a:pathLst>
            </a:custGeom>
            <a:solidFill>
              <a:srgbClr val="DBEAFE"/>
            </a:solidFill>
            <a:ln w="1905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0" y="5760720"/>
            <a:ext cx="1280160" cy="548640"/>
            <a:chOff x="0" y="0"/>
            <a:chExt cx="17068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0284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267563" y="5751195"/>
            <a:ext cx="1299210" cy="567690"/>
            <a:chOff x="0" y="0"/>
            <a:chExt cx="1732280" cy="756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32280" cy="756920"/>
            </a:xfrm>
            <a:custGeom>
              <a:avLst/>
              <a:gdLst/>
              <a:ahLst/>
              <a:cxnLst/>
              <a:rect r="r" b="b" t="t" l="l"/>
              <a:pathLst>
                <a:path h="756920" w="173228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580896" y="0"/>
                  </a:lnTo>
                  <a:cubicBezTo>
                    <a:pt x="1664462" y="0"/>
                    <a:pt x="1732280" y="67818"/>
                    <a:pt x="1732280" y="151384"/>
                  </a:cubicBezTo>
                  <a:lnTo>
                    <a:pt x="1732280" y="605536"/>
                  </a:lnTo>
                  <a:cubicBezTo>
                    <a:pt x="1732280" y="689102"/>
                    <a:pt x="1664462" y="756920"/>
                    <a:pt x="1580896" y="756920"/>
                  </a:cubicBezTo>
                  <a:lnTo>
                    <a:pt x="151384" y="756920"/>
                  </a:lnTo>
                  <a:cubicBezTo>
                    <a:pt x="67818" y="756920"/>
                    <a:pt x="0" y="689102"/>
                    <a:pt x="0" y="605536"/>
                  </a:cubicBezTo>
                  <a:close/>
                </a:path>
              </a:pathLst>
            </a:custGeom>
            <a:solidFill>
              <a:srgbClr val="DCFCE7"/>
            </a:solidFill>
            <a:ln w="19050" cap="sq">
              <a:solidFill>
                <a:srgbClr val="DCFCE7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277088" y="5760720"/>
            <a:ext cx="1280160" cy="548640"/>
            <a:chOff x="0" y="0"/>
            <a:chExt cx="17068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657451" y="5751195"/>
            <a:ext cx="1299210" cy="567690"/>
            <a:chOff x="0" y="0"/>
            <a:chExt cx="1732280" cy="7569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32280" cy="756920"/>
            </a:xfrm>
            <a:custGeom>
              <a:avLst/>
              <a:gdLst/>
              <a:ahLst/>
              <a:cxnLst/>
              <a:rect r="r" b="b" t="t" l="l"/>
              <a:pathLst>
                <a:path h="756920" w="173228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580896" y="0"/>
                  </a:lnTo>
                  <a:cubicBezTo>
                    <a:pt x="1664462" y="0"/>
                    <a:pt x="1732280" y="67818"/>
                    <a:pt x="1732280" y="151384"/>
                  </a:cubicBezTo>
                  <a:lnTo>
                    <a:pt x="1732280" y="605536"/>
                  </a:lnTo>
                  <a:cubicBezTo>
                    <a:pt x="1732280" y="689102"/>
                    <a:pt x="1664462" y="756920"/>
                    <a:pt x="1580896" y="756920"/>
                  </a:cubicBezTo>
                  <a:lnTo>
                    <a:pt x="151384" y="756920"/>
                  </a:lnTo>
                  <a:cubicBezTo>
                    <a:pt x="67818" y="756920"/>
                    <a:pt x="0" y="689102"/>
                    <a:pt x="0" y="605536"/>
                  </a:cubicBezTo>
                  <a:close/>
                </a:path>
              </a:pathLst>
            </a:custGeom>
            <a:solidFill>
              <a:srgbClr val="FEF3C7"/>
            </a:solidFill>
            <a:ln w="19050" cap="sq">
              <a:solidFill>
                <a:srgbClr val="FEF3C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666976" y="5760720"/>
            <a:ext cx="1280160" cy="548640"/>
            <a:chOff x="0" y="0"/>
            <a:chExt cx="17068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self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047339" y="5751195"/>
            <a:ext cx="1299210" cy="567690"/>
            <a:chOff x="0" y="0"/>
            <a:chExt cx="1732280" cy="7569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32280" cy="756920"/>
            </a:xfrm>
            <a:custGeom>
              <a:avLst/>
              <a:gdLst/>
              <a:ahLst/>
              <a:cxnLst/>
              <a:rect r="r" b="b" t="t" l="l"/>
              <a:pathLst>
                <a:path h="756920" w="173228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580896" y="0"/>
                  </a:lnTo>
                  <a:cubicBezTo>
                    <a:pt x="1664462" y="0"/>
                    <a:pt x="1732280" y="67818"/>
                    <a:pt x="1732280" y="151384"/>
                  </a:cubicBezTo>
                  <a:lnTo>
                    <a:pt x="1732280" y="605536"/>
                  </a:lnTo>
                  <a:cubicBezTo>
                    <a:pt x="1732280" y="689102"/>
                    <a:pt x="1664462" y="756920"/>
                    <a:pt x="1580896" y="756920"/>
                  </a:cubicBezTo>
                  <a:lnTo>
                    <a:pt x="151384" y="756920"/>
                  </a:lnTo>
                  <a:cubicBezTo>
                    <a:pt x="67818" y="756920"/>
                    <a:pt x="0" y="689102"/>
                    <a:pt x="0" y="605536"/>
                  </a:cubicBezTo>
                  <a:close/>
                </a:path>
              </a:pathLst>
            </a:custGeom>
            <a:solidFill>
              <a:srgbClr val="F3E8FF"/>
            </a:solidFill>
            <a:ln w="19050" cap="sq">
              <a:solidFill>
                <a:srgbClr val="F3E8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6056864" y="5760720"/>
            <a:ext cx="1280160" cy="548640"/>
            <a:chOff x="0" y="0"/>
            <a:chExt cx="170688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1887200" y="6454140"/>
            <a:ext cx="5486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self = the object calling the method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04875" y="7488555"/>
            <a:ext cx="16478250" cy="1482090"/>
            <a:chOff x="0" y="0"/>
            <a:chExt cx="21971000" cy="1976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71000" cy="1976120"/>
            </a:xfrm>
            <a:custGeom>
              <a:avLst/>
              <a:gdLst/>
              <a:ahLst/>
              <a:cxnLst/>
              <a:rect r="r" b="b" t="t" l="l"/>
              <a:pathLst>
                <a:path h="1976120" w="2197100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21773387" y="0"/>
                  </a:lnTo>
                  <a:cubicBezTo>
                    <a:pt x="21882480" y="0"/>
                    <a:pt x="21971000" y="88519"/>
                    <a:pt x="21971000" y="197612"/>
                  </a:cubicBezTo>
                  <a:lnTo>
                    <a:pt x="21971000" y="1778508"/>
                  </a:lnTo>
                  <a:cubicBezTo>
                    <a:pt x="21971000" y="1887601"/>
                    <a:pt x="21882480" y="1976120"/>
                    <a:pt x="21773387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BFDBFE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280160" y="7587996"/>
            <a:ext cx="36576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SESSION 1 RECAP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70635" y="8128635"/>
            <a:ext cx="2945130" cy="604266"/>
            <a:chOff x="0" y="0"/>
            <a:chExt cx="3926840" cy="8056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26840" cy="805688"/>
            </a:xfrm>
            <a:custGeom>
              <a:avLst/>
              <a:gdLst/>
              <a:ahLst/>
              <a:cxnLst/>
              <a:rect r="r" b="b" t="t" l="l"/>
              <a:pathLst>
                <a:path h="805688" w="3926840">
                  <a:moveTo>
                    <a:pt x="0" y="151003"/>
                  </a:moveTo>
                  <a:cubicBezTo>
                    <a:pt x="0" y="67691"/>
                    <a:pt x="67691" y="0"/>
                    <a:pt x="151003" y="0"/>
                  </a:cubicBezTo>
                  <a:lnTo>
                    <a:pt x="3775837" y="0"/>
                  </a:lnTo>
                  <a:cubicBezTo>
                    <a:pt x="3859276" y="0"/>
                    <a:pt x="3926840" y="67691"/>
                    <a:pt x="3926840" y="151003"/>
                  </a:cubicBezTo>
                  <a:lnTo>
                    <a:pt x="3926840" y="654558"/>
                  </a:lnTo>
                  <a:cubicBezTo>
                    <a:pt x="3926840" y="737997"/>
                    <a:pt x="3859149" y="805688"/>
                    <a:pt x="3775837" y="805688"/>
                  </a:cubicBezTo>
                  <a:lnTo>
                    <a:pt x="151003" y="805688"/>
                  </a:lnTo>
                  <a:cubicBezTo>
                    <a:pt x="67691" y="805688"/>
                    <a:pt x="0" y="737997"/>
                    <a:pt x="0" y="65455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80160" y="8138160"/>
            <a:ext cx="2926080" cy="585216"/>
            <a:chOff x="0" y="0"/>
            <a:chExt cx="3901440" cy="780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84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206240" y="8101584"/>
            <a:ext cx="1097280" cy="731520"/>
            <a:chOff x="0" y="0"/>
            <a:chExt cx="146304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293995" y="8128635"/>
            <a:ext cx="2945130" cy="604266"/>
            <a:chOff x="0" y="0"/>
            <a:chExt cx="3926840" cy="8056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26840" cy="805688"/>
            </a:xfrm>
            <a:custGeom>
              <a:avLst/>
              <a:gdLst/>
              <a:ahLst/>
              <a:cxnLst/>
              <a:rect r="r" b="b" t="t" l="l"/>
              <a:pathLst>
                <a:path h="805688" w="3926840">
                  <a:moveTo>
                    <a:pt x="0" y="151003"/>
                  </a:moveTo>
                  <a:cubicBezTo>
                    <a:pt x="0" y="67691"/>
                    <a:pt x="67691" y="0"/>
                    <a:pt x="151003" y="0"/>
                  </a:cubicBezTo>
                  <a:lnTo>
                    <a:pt x="3775837" y="0"/>
                  </a:lnTo>
                  <a:cubicBezTo>
                    <a:pt x="3859276" y="0"/>
                    <a:pt x="3926840" y="67691"/>
                    <a:pt x="3926840" y="151003"/>
                  </a:cubicBezTo>
                  <a:lnTo>
                    <a:pt x="3926840" y="654558"/>
                  </a:lnTo>
                  <a:cubicBezTo>
                    <a:pt x="3926840" y="737997"/>
                    <a:pt x="3859149" y="805688"/>
                    <a:pt x="3775837" y="805688"/>
                  </a:cubicBezTo>
                  <a:lnTo>
                    <a:pt x="151003" y="805688"/>
                  </a:lnTo>
                  <a:cubicBezTo>
                    <a:pt x="67691" y="805688"/>
                    <a:pt x="0" y="737997"/>
                    <a:pt x="0" y="65455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5303520" y="8138160"/>
            <a:ext cx="2926080" cy="585216"/>
            <a:chOff x="0" y="0"/>
            <a:chExt cx="3901440" cy="7802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9600" y="8101584"/>
            <a:ext cx="1097280" cy="731520"/>
            <a:chOff x="0" y="0"/>
            <a:chExt cx="1463040" cy="975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17355" y="8128635"/>
            <a:ext cx="2945130" cy="604266"/>
            <a:chOff x="0" y="0"/>
            <a:chExt cx="3926840" cy="80568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926840" cy="805688"/>
            </a:xfrm>
            <a:custGeom>
              <a:avLst/>
              <a:gdLst/>
              <a:ahLst/>
              <a:cxnLst/>
              <a:rect r="r" b="b" t="t" l="l"/>
              <a:pathLst>
                <a:path h="805688" w="3926840">
                  <a:moveTo>
                    <a:pt x="0" y="151003"/>
                  </a:moveTo>
                  <a:cubicBezTo>
                    <a:pt x="0" y="67691"/>
                    <a:pt x="67691" y="0"/>
                    <a:pt x="151003" y="0"/>
                  </a:cubicBezTo>
                  <a:lnTo>
                    <a:pt x="3775837" y="0"/>
                  </a:lnTo>
                  <a:cubicBezTo>
                    <a:pt x="3859276" y="0"/>
                    <a:pt x="3926840" y="67691"/>
                    <a:pt x="3926840" y="151003"/>
                  </a:cubicBezTo>
                  <a:lnTo>
                    <a:pt x="3926840" y="654558"/>
                  </a:lnTo>
                  <a:cubicBezTo>
                    <a:pt x="3926840" y="737997"/>
                    <a:pt x="3859149" y="805688"/>
                    <a:pt x="3775837" y="805688"/>
                  </a:cubicBezTo>
                  <a:lnTo>
                    <a:pt x="151003" y="805688"/>
                  </a:lnTo>
                  <a:cubicBezTo>
                    <a:pt x="67691" y="805688"/>
                    <a:pt x="0" y="737997"/>
                    <a:pt x="0" y="65455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326880" y="8138160"/>
            <a:ext cx="2926080" cy="585216"/>
            <a:chOff x="0" y="0"/>
            <a:chExt cx="3901440" cy="7802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252960" y="8101584"/>
            <a:ext cx="1097280" cy="731520"/>
            <a:chOff x="0" y="0"/>
            <a:chExt cx="1463040" cy="9753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340715" y="8128635"/>
            <a:ext cx="2945130" cy="604266"/>
            <a:chOff x="0" y="0"/>
            <a:chExt cx="3926840" cy="80568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926840" cy="805688"/>
            </a:xfrm>
            <a:custGeom>
              <a:avLst/>
              <a:gdLst/>
              <a:ahLst/>
              <a:cxnLst/>
              <a:rect r="r" b="b" t="t" l="l"/>
              <a:pathLst>
                <a:path h="805688" w="3926840">
                  <a:moveTo>
                    <a:pt x="0" y="151003"/>
                  </a:moveTo>
                  <a:cubicBezTo>
                    <a:pt x="0" y="67691"/>
                    <a:pt x="67691" y="0"/>
                    <a:pt x="151003" y="0"/>
                  </a:cubicBezTo>
                  <a:lnTo>
                    <a:pt x="3775837" y="0"/>
                  </a:lnTo>
                  <a:cubicBezTo>
                    <a:pt x="3859276" y="0"/>
                    <a:pt x="3926840" y="67691"/>
                    <a:pt x="3926840" y="151003"/>
                  </a:cubicBezTo>
                  <a:lnTo>
                    <a:pt x="3926840" y="654558"/>
                  </a:lnTo>
                  <a:cubicBezTo>
                    <a:pt x="3926840" y="737997"/>
                    <a:pt x="3859149" y="805688"/>
                    <a:pt x="3775837" y="805688"/>
                  </a:cubicBezTo>
                  <a:lnTo>
                    <a:pt x="151003" y="805688"/>
                  </a:lnTo>
                  <a:cubicBezTo>
                    <a:pt x="67691" y="805688"/>
                    <a:pt x="0" y="737997"/>
                    <a:pt x="0" y="65455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333E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3350240" y="8138160"/>
            <a:ext cx="2926080" cy="585216"/>
            <a:chOff x="0" y="0"/>
            <a:chExt cx="3901440" cy="780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7116"/>
            <a:ext cx="128016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04</a:t>
            </a:r>
            <a:r>
              <a:rPr lang="en-US" b="true" sz="2000" spc="200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•  ANATOMY OF A CLASS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46404"/>
            <a:ext cx="164592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Inside a Python Class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904865" y="9230678"/>
            <a:ext cx="1647826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" y="9416796"/>
            <a:ext cx="109728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AI Club KIET  •  SkillSprint4.0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0" y="9416796"/>
            <a:ext cx="3657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5/8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2276475"/>
            <a:ext cx="8980170" cy="4499610"/>
            <a:chOff x="0" y="0"/>
            <a:chExt cx="11973560" cy="5999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73561" cy="5999480"/>
            </a:xfrm>
            <a:custGeom>
              <a:avLst/>
              <a:gdLst/>
              <a:ahLst/>
              <a:cxnLst/>
              <a:rect r="r" b="b" t="t" l="l"/>
              <a:pathLst>
                <a:path h="5999480" w="11973561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11728704" y="0"/>
                  </a:lnTo>
                  <a:cubicBezTo>
                    <a:pt x="11863960" y="0"/>
                    <a:pt x="11973561" y="109601"/>
                    <a:pt x="11973561" y="244856"/>
                  </a:cubicBezTo>
                  <a:lnTo>
                    <a:pt x="11973561" y="5754624"/>
                  </a:lnTo>
                  <a:cubicBezTo>
                    <a:pt x="11973561" y="5889879"/>
                    <a:pt x="11863960" y="5999480"/>
                    <a:pt x="11728704" y="5999480"/>
                  </a:cubicBezTo>
                  <a:lnTo>
                    <a:pt x="244856" y="5999480"/>
                  </a:lnTo>
                  <a:cubicBezTo>
                    <a:pt x="109601" y="5999480"/>
                    <a:pt x="0" y="5889879"/>
                    <a:pt x="0" y="5754624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43584" y="2438781"/>
            <a:ext cx="8302752" cy="410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Student: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__init__(</a:t>
            </a:r>
            <a:r>
              <a:rPr lang="en-US" sz="21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 name, age):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1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.name = name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1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.age = age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introduce(</a:t>
            </a:r>
            <a:r>
              <a:rPr lang="en-US" sz="21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1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1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"I am"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1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.name)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799"/>
              </a:lnSpc>
            </a:pP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student1 = Student(</a:t>
            </a:r>
            <a:r>
              <a:rPr lang="en-US" sz="21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"Kunal"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100">
                <a:solidFill>
                  <a:srgbClr val="FDBA74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r>
              <a:rPr lang="en-US" sz="2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31303" y="2474471"/>
            <a:ext cx="372875" cy="372875"/>
            <a:chOff x="0" y="0"/>
            <a:chExt cx="497167" cy="4971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" cy="497205"/>
            </a:xfrm>
            <a:custGeom>
              <a:avLst/>
              <a:gdLst/>
              <a:ahLst/>
              <a:cxnLst/>
              <a:rect r="r" b="b" t="t" l="l"/>
              <a:pathLst>
                <a:path h="497205" w="497205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cubicBezTo>
                    <a:pt x="385826" y="0"/>
                    <a:pt x="497205" y="111252"/>
                    <a:pt x="497205" y="248539"/>
                  </a:cubicBezTo>
                  <a:cubicBezTo>
                    <a:pt x="497205" y="385826"/>
                    <a:pt x="385826" y="497205"/>
                    <a:pt x="248539" y="497205"/>
                  </a:cubicBezTo>
                  <a:cubicBezTo>
                    <a:pt x="111252" y="497205"/>
                    <a:pt x="0" y="385826"/>
                    <a:pt x="0" y="248539"/>
                  </a:cubicBezTo>
                  <a:close/>
                </a:path>
              </a:pathLst>
            </a:custGeom>
            <a:solidFill>
              <a:srgbClr val="0284C7"/>
            </a:solidFill>
            <a:ln w="2540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0" y="2487168"/>
            <a:ext cx="347472" cy="347472"/>
            <a:chOff x="0" y="0"/>
            <a:chExt cx="463296" cy="463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296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">
                  <a:moveTo>
                    <a:pt x="0" y="0"/>
                  </a:moveTo>
                  <a:lnTo>
                    <a:pt x="463296" y="0"/>
                  </a:lnTo>
                  <a:lnTo>
                    <a:pt x="463296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63296" cy="491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31303" y="2829982"/>
            <a:ext cx="372875" cy="372875"/>
            <a:chOff x="0" y="0"/>
            <a:chExt cx="497167" cy="4971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7205" cy="497205"/>
            </a:xfrm>
            <a:custGeom>
              <a:avLst/>
              <a:gdLst/>
              <a:ahLst/>
              <a:cxnLst/>
              <a:rect r="r" b="b" t="t" l="l"/>
              <a:pathLst>
                <a:path h="497205" w="497205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cubicBezTo>
                    <a:pt x="385826" y="0"/>
                    <a:pt x="497205" y="111252"/>
                    <a:pt x="497205" y="248539"/>
                  </a:cubicBezTo>
                  <a:cubicBezTo>
                    <a:pt x="497205" y="385826"/>
                    <a:pt x="385826" y="497205"/>
                    <a:pt x="248539" y="497205"/>
                  </a:cubicBezTo>
                  <a:cubicBezTo>
                    <a:pt x="111252" y="497205"/>
                    <a:pt x="0" y="385826"/>
                    <a:pt x="0" y="248539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0" y="2842689"/>
            <a:ext cx="347472" cy="347472"/>
            <a:chOff x="0" y="0"/>
            <a:chExt cx="463296" cy="463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3296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">
                  <a:moveTo>
                    <a:pt x="0" y="0"/>
                  </a:moveTo>
                  <a:lnTo>
                    <a:pt x="463296" y="0"/>
                  </a:lnTo>
                  <a:lnTo>
                    <a:pt x="463296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63296" cy="491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74103" y="2829982"/>
            <a:ext cx="372875" cy="372875"/>
            <a:chOff x="0" y="0"/>
            <a:chExt cx="497167" cy="4971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7205" cy="497205"/>
            </a:xfrm>
            <a:custGeom>
              <a:avLst/>
              <a:gdLst/>
              <a:ahLst/>
              <a:cxnLst/>
              <a:rect r="r" b="b" t="t" l="l"/>
              <a:pathLst>
                <a:path h="497205" w="497205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cubicBezTo>
                    <a:pt x="385826" y="0"/>
                    <a:pt x="497205" y="111252"/>
                    <a:pt x="497205" y="248539"/>
                  </a:cubicBezTo>
                  <a:cubicBezTo>
                    <a:pt x="497205" y="385826"/>
                    <a:pt x="385826" y="497205"/>
                    <a:pt x="248539" y="497205"/>
                  </a:cubicBezTo>
                  <a:cubicBezTo>
                    <a:pt x="111252" y="497205"/>
                    <a:pt x="0" y="385826"/>
                    <a:pt x="0" y="248539"/>
                  </a:cubicBez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686800" y="2842689"/>
            <a:ext cx="347472" cy="347472"/>
            <a:chOff x="0" y="0"/>
            <a:chExt cx="463296" cy="463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3296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">
                  <a:moveTo>
                    <a:pt x="0" y="0"/>
                  </a:moveTo>
                  <a:lnTo>
                    <a:pt x="463296" y="0"/>
                  </a:lnTo>
                  <a:lnTo>
                    <a:pt x="463296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63296" cy="491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31303" y="3185503"/>
            <a:ext cx="372875" cy="372875"/>
            <a:chOff x="0" y="0"/>
            <a:chExt cx="497167" cy="4971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7205" cy="497205"/>
            </a:xfrm>
            <a:custGeom>
              <a:avLst/>
              <a:gdLst/>
              <a:ahLst/>
              <a:cxnLst/>
              <a:rect r="r" b="b" t="t" l="l"/>
              <a:pathLst>
                <a:path h="497205" w="497205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cubicBezTo>
                    <a:pt x="385826" y="0"/>
                    <a:pt x="497205" y="111252"/>
                    <a:pt x="497205" y="248539"/>
                  </a:cubicBezTo>
                  <a:cubicBezTo>
                    <a:pt x="497205" y="385826"/>
                    <a:pt x="385826" y="497205"/>
                    <a:pt x="248539" y="497205"/>
                  </a:cubicBezTo>
                  <a:cubicBezTo>
                    <a:pt x="111252" y="497205"/>
                    <a:pt x="0" y="385826"/>
                    <a:pt x="0" y="24853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0" y="3198209"/>
            <a:ext cx="347472" cy="347472"/>
            <a:chOff x="0" y="0"/>
            <a:chExt cx="463296" cy="4632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">
                  <a:moveTo>
                    <a:pt x="0" y="0"/>
                  </a:moveTo>
                  <a:lnTo>
                    <a:pt x="463296" y="0"/>
                  </a:lnTo>
                  <a:lnTo>
                    <a:pt x="463296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63296" cy="491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31303" y="4252065"/>
            <a:ext cx="372875" cy="372875"/>
            <a:chOff x="0" y="0"/>
            <a:chExt cx="497167" cy="4971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7205" cy="497205"/>
            </a:xfrm>
            <a:custGeom>
              <a:avLst/>
              <a:gdLst/>
              <a:ahLst/>
              <a:cxnLst/>
              <a:rect r="r" b="b" t="t" l="l"/>
              <a:pathLst>
                <a:path h="497205" w="497205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cubicBezTo>
                    <a:pt x="385826" y="0"/>
                    <a:pt x="497205" y="111252"/>
                    <a:pt x="497205" y="248539"/>
                  </a:cubicBezTo>
                  <a:cubicBezTo>
                    <a:pt x="497205" y="385826"/>
                    <a:pt x="385826" y="497205"/>
                    <a:pt x="248539" y="497205"/>
                  </a:cubicBezTo>
                  <a:cubicBezTo>
                    <a:pt x="111252" y="497205"/>
                    <a:pt x="0" y="385826"/>
                    <a:pt x="0" y="248539"/>
                  </a:cubicBezTo>
                  <a:close/>
                </a:path>
              </a:pathLst>
            </a:custGeom>
            <a:solidFill>
              <a:srgbClr val="9333EA"/>
            </a:solidFill>
            <a:ln w="25400" cap="sq">
              <a:solidFill>
                <a:srgbClr val="9333E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0" y="4264762"/>
            <a:ext cx="347472" cy="347472"/>
            <a:chOff x="0" y="0"/>
            <a:chExt cx="463296" cy="463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3296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">
                  <a:moveTo>
                    <a:pt x="0" y="0"/>
                  </a:moveTo>
                  <a:lnTo>
                    <a:pt x="463296" y="0"/>
                  </a:lnTo>
                  <a:lnTo>
                    <a:pt x="463296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63296" cy="491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31303" y="5318617"/>
            <a:ext cx="372875" cy="372875"/>
            <a:chOff x="0" y="0"/>
            <a:chExt cx="497167" cy="4971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7205" cy="497205"/>
            </a:xfrm>
            <a:custGeom>
              <a:avLst/>
              <a:gdLst/>
              <a:ahLst/>
              <a:cxnLst/>
              <a:rect r="r" b="b" t="t" l="l"/>
              <a:pathLst>
                <a:path h="497205" w="497205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cubicBezTo>
                    <a:pt x="385826" y="0"/>
                    <a:pt x="497205" y="111252"/>
                    <a:pt x="497205" y="248539"/>
                  </a:cubicBezTo>
                  <a:cubicBezTo>
                    <a:pt x="497205" y="385826"/>
                    <a:pt x="385826" y="497205"/>
                    <a:pt x="248539" y="497205"/>
                  </a:cubicBezTo>
                  <a:cubicBezTo>
                    <a:pt x="111252" y="497205"/>
                    <a:pt x="0" y="385826"/>
                    <a:pt x="0" y="248539"/>
                  </a:cubicBez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0" y="5331314"/>
            <a:ext cx="347472" cy="347472"/>
            <a:chOff x="0" y="0"/>
            <a:chExt cx="463296" cy="4632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3296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">
                  <a:moveTo>
                    <a:pt x="0" y="0"/>
                  </a:moveTo>
                  <a:lnTo>
                    <a:pt x="463296" y="0"/>
                  </a:lnTo>
                  <a:lnTo>
                    <a:pt x="463296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463296" cy="491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320023" y="2346455"/>
            <a:ext cx="537467" cy="537467"/>
            <a:chOff x="0" y="0"/>
            <a:chExt cx="716623" cy="7166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284C7"/>
            </a:solidFill>
            <a:ln w="2540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332720" y="2359152"/>
            <a:ext cx="512064" cy="512064"/>
            <a:chOff x="0" y="0"/>
            <a:chExt cx="682752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064240" y="2286000"/>
            <a:ext cx="2743200" cy="640080"/>
            <a:chOff x="0" y="0"/>
            <a:chExt cx="365760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657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class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716000" y="2286000"/>
            <a:ext cx="3657600" cy="640080"/>
            <a:chOff x="0" y="0"/>
            <a:chExt cx="4876800" cy="853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blueprint for objects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320023" y="3114551"/>
            <a:ext cx="537467" cy="537467"/>
            <a:chOff x="0" y="0"/>
            <a:chExt cx="716623" cy="71662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332720" y="3127248"/>
            <a:ext cx="512064" cy="512064"/>
            <a:chOff x="0" y="0"/>
            <a:chExt cx="682752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064240" y="3054096"/>
            <a:ext cx="2743200" cy="640080"/>
            <a:chOff x="0" y="0"/>
            <a:chExt cx="365760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3657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__init__()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716000" y="3054096"/>
            <a:ext cx="3657600" cy="640080"/>
            <a:chOff x="0" y="0"/>
            <a:chExt cx="487680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on creation, sets up data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320023" y="3882647"/>
            <a:ext cx="537467" cy="537467"/>
            <a:chOff x="0" y="0"/>
            <a:chExt cx="716623" cy="71662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332720" y="3895344"/>
            <a:ext cx="512064" cy="512064"/>
            <a:chOff x="0" y="0"/>
            <a:chExt cx="682752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064240" y="3822192"/>
            <a:ext cx="2743200" cy="640080"/>
            <a:chOff x="0" y="0"/>
            <a:chExt cx="365760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3657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self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716000" y="3822192"/>
            <a:ext cx="3657600" cy="640080"/>
            <a:chOff x="0" y="0"/>
            <a:chExt cx="4876800" cy="8534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current object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320023" y="4650743"/>
            <a:ext cx="537467" cy="537467"/>
            <a:chOff x="0" y="0"/>
            <a:chExt cx="716623" cy="71662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0332720" y="4663440"/>
            <a:ext cx="512064" cy="512064"/>
            <a:chOff x="0" y="0"/>
            <a:chExt cx="682752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064240" y="4590288"/>
            <a:ext cx="2743200" cy="640080"/>
            <a:chOff x="0" y="0"/>
            <a:chExt cx="3657600" cy="853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3657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attributes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716000" y="4590288"/>
            <a:ext cx="3657600" cy="640080"/>
            <a:chOff x="0" y="0"/>
            <a:chExt cx="487680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/ state: name, age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320023" y="5418839"/>
            <a:ext cx="537467" cy="537467"/>
            <a:chOff x="0" y="0"/>
            <a:chExt cx="716623" cy="71662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9333EA"/>
            </a:solidFill>
            <a:ln w="25400" cap="sq">
              <a:solidFill>
                <a:srgbClr val="9333E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0332720" y="5431536"/>
            <a:ext cx="512064" cy="512064"/>
            <a:chOff x="0" y="0"/>
            <a:chExt cx="682752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064240" y="5358384"/>
            <a:ext cx="2743200" cy="640080"/>
            <a:chOff x="0" y="0"/>
            <a:chExt cx="365760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3657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methods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716000" y="5358384"/>
            <a:ext cx="3657600" cy="640080"/>
            <a:chOff x="0" y="0"/>
            <a:chExt cx="4876800" cy="8534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behavior: introduce()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320023" y="6186935"/>
            <a:ext cx="537467" cy="537467"/>
            <a:chOff x="0" y="0"/>
            <a:chExt cx="716623" cy="7166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DB2777"/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0332720" y="6199632"/>
            <a:ext cx="512064" cy="512064"/>
            <a:chOff x="0" y="0"/>
            <a:chExt cx="682752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064240" y="6126480"/>
            <a:ext cx="2743200" cy="640080"/>
            <a:chOff x="0" y="0"/>
            <a:chExt cx="3657600" cy="8534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3657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object creation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716000" y="6126480"/>
            <a:ext cx="3657600" cy="640080"/>
            <a:chOff x="0" y="0"/>
            <a:chExt cx="4876800" cy="8534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student1 = Student(...)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04875" y="7122795"/>
            <a:ext cx="16478250" cy="1024890"/>
            <a:chOff x="0" y="0"/>
            <a:chExt cx="21971000" cy="1366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971000" cy="1366520"/>
            </a:xfrm>
            <a:custGeom>
              <a:avLst/>
              <a:gdLst/>
              <a:ahLst/>
              <a:cxnLst/>
              <a:rect r="r" b="b" t="t" l="l"/>
              <a:pathLst>
                <a:path h="1366520" w="21971000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21772245" y="0"/>
                  </a:lnTo>
                  <a:cubicBezTo>
                    <a:pt x="21881973" y="0"/>
                    <a:pt x="21971000" y="89027"/>
                    <a:pt x="21971000" y="198755"/>
                  </a:cubicBezTo>
                  <a:lnTo>
                    <a:pt x="21971000" y="1167765"/>
                  </a:lnTo>
                  <a:cubicBezTo>
                    <a:pt x="21971000" y="1277493"/>
                    <a:pt x="21881973" y="1366520"/>
                    <a:pt x="21772245" y="1366520"/>
                  </a:cubicBezTo>
                  <a:lnTo>
                    <a:pt x="198755" y="1366520"/>
                  </a:lnTo>
                  <a:cubicBezTo>
                    <a:pt x="89027" y="1366520"/>
                    <a:pt x="0" y="1277493"/>
                    <a:pt x="0" y="116776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901703" y="7339079"/>
            <a:ext cx="116843" cy="592331"/>
            <a:chOff x="0" y="0"/>
            <a:chExt cx="155791" cy="78977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55829" cy="789813"/>
            </a:xfrm>
            <a:custGeom>
              <a:avLst/>
              <a:gdLst/>
              <a:ahLst/>
              <a:cxnLst/>
              <a:rect r="r" b="b" t="t" l="l"/>
              <a:pathLst>
                <a:path h="78981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789813"/>
                  </a:lnTo>
                  <a:lnTo>
                    <a:pt x="0" y="789813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71600" y="7132320"/>
            <a:ext cx="2377440" cy="1005840"/>
            <a:chOff x="0" y="0"/>
            <a:chExt cx="3169920" cy="13411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169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3169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self in action: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830955" y="7305675"/>
            <a:ext cx="2579370" cy="659130"/>
            <a:chOff x="0" y="0"/>
            <a:chExt cx="3439160" cy="8788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439160" cy="878840"/>
            </a:xfrm>
            <a:custGeom>
              <a:avLst/>
              <a:gdLst/>
              <a:ahLst/>
              <a:cxnLst/>
              <a:rect r="r" b="b" t="t" l="l"/>
              <a:pathLst>
                <a:path h="878840" w="3439160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3288538" y="0"/>
                  </a:lnTo>
                  <a:cubicBezTo>
                    <a:pt x="3371723" y="0"/>
                    <a:pt x="3439160" y="67437"/>
                    <a:pt x="3439160" y="150622"/>
                  </a:cubicBezTo>
                  <a:lnTo>
                    <a:pt x="3439160" y="728218"/>
                  </a:lnTo>
                  <a:cubicBezTo>
                    <a:pt x="3439160" y="811403"/>
                    <a:pt x="3371723" y="878840"/>
                    <a:pt x="3288538" y="878840"/>
                  </a:cubicBezTo>
                  <a:lnTo>
                    <a:pt x="150622" y="878840"/>
                  </a:lnTo>
                  <a:cubicBezTo>
                    <a:pt x="67437" y="878840"/>
                    <a:pt x="0" y="811403"/>
                    <a:pt x="0" y="728218"/>
                  </a:cubicBezTo>
                  <a:close/>
                </a:path>
              </a:pathLst>
            </a:custGeom>
            <a:solidFill>
              <a:srgbClr val="DBEAFE"/>
            </a:solidFill>
            <a:ln w="1905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3840480" y="7315200"/>
            <a:ext cx="2560320" cy="640080"/>
            <a:chOff x="0" y="0"/>
            <a:chExt cx="3413760" cy="8534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3413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84C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student1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6400800" y="7278624"/>
            <a:ext cx="1097280" cy="731520"/>
            <a:chOff x="0" y="0"/>
            <a:chExt cx="1463040" cy="97536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7488555" y="7305675"/>
            <a:ext cx="2030730" cy="659130"/>
            <a:chOff x="0" y="0"/>
            <a:chExt cx="2707640" cy="878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707640" cy="878840"/>
            </a:xfrm>
            <a:custGeom>
              <a:avLst/>
              <a:gdLst/>
              <a:ahLst/>
              <a:cxnLst/>
              <a:rect r="r" b="b" t="t" l="l"/>
              <a:pathLst>
                <a:path h="878840" w="2707640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2557018" y="0"/>
                  </a:lnTo>
                  <a:cubicBezTo>
                    <a:pt x="2640203" y="0"/>
                    <a:pt x="2707640" y="67437"/>
                    <a:pt x="2707640" y="150622"/>
                  </a:cubicBezTo>
                  <a:lnTo>
                    <a:pt x="2707640" y="728218"/>
                  </a:lnTo>
                  <a:cubicBezTo>
                    <a:pt x="2707640" y="811403"/>
                    <a:pt x="2640203" y="878840"/>
                    <a:pt x="2557018" y="878840"/>
                  </a:cubicBezTo>
                  <a:lnTo>
                    <a:pt x="150622" y="878840"/>
                  </a:lnTo>
                  <a:cubicBezTo>
                    <a:pt x="67437" y="878840"/>
                    <a:pt x="0" y="811403"/>
                    <a:pt x="0" y="728218"/>
                  </a:cubicBezTo>
                  <a:close/>
                </a:path>
              </a:pathLst>
            </a:custGeom>
            <a:solidFill>
              <a:srgbClr val="FEF3C7"/>
            </a:solidFill>
            <a:ln w="19050" cap="sq">
              <a:solidFill>
                <a:srgbClr val="FEF3C7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7498080" y="7315200"/>
            <a:ext cx="2011680" cy="640080"/>
            <a:chOff x="0" y="0"/>
            <a:chExt cx="2682240" cy="853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26822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9770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self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509760" y="7278624"/>
            <a:ext cx="1097280" cy="731520"/>
            <a:chOff x="0" y="0"/>
            <a:chExt cx="1463040" cy="97536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597515" y="7305675"/>
            <a:ext cx="4773930" cy="659130"/>
            <a:chOff x="0" y="0"/>
            <a:chExt cx="6365240" cy="8788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365240" cy="878840"/>
            </a:xfrm>
            <a:custGeom>
              <a:avLst/>
              <a:gdLst/>
              <a:ahLst/>
              <a:cxnLst/>
              <a:rect r="r" b="b" t="t" l="l"/>
              <a:pathLst>
                <a:path h="878840" w="6365240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6214618" y="0"/>
                  </a:lnTo>
                  <a:cubicBezTo>
                    <a:pt x="6297803" y="0"/>
                    <a:pt x="6365240" y="67437"/>
                    <a:pt x="6365240" y="150622"/>
                  </a:cubicBezTo>
                  <a:lnTo>
                    <a:pt x="6365240" y="728218"/>
                  </a:lnTo>
                  <a:cubicBezTo>
                    <a:pt x="6365240" y="811403"/>
                    <a:pt x="6297803" y="878840"/>
                    <a:pt x="6214618" y="878840"/>
                  </a:cubicBezTo>
                  <a:lnTo>
                    <a:pt x="150622" y="878840"/>
                  </a:lnTo>
                  <a:cubicBezTo>
                    <a:pt x="67437" y="878840"/>
                    <a:pt x="0" y="811403"/>
                    <a:pt x="0" y="728218"/>
                  </a:cubicBezTo>
                  <a:close/>
                </a:path>
              </a:pathLst>
            </a:custGeom>
            <a:solidFill>
              <a:srgbClr val="F3E8FF"/>
            </a:solidFill>
            <a:ln w="19050" cap="sq">
              <a:solidFill>
                <a:srgbClr val="F3E8FF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607040" y="7315200"/>
            <a:ext cx="4754880" cy="640080"/>
            <a:chOff x="0" y="0"/>
            <a:chExt cx="633984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6339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9333E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name = "Kunal",  age = 21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04875" y="8311515"/>
            <a:ext cx="16478250" cy="787146"/>
            <a:chOff x="0" y="0"/>
            <a:chExt cx="21971000" cy="104952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197100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197100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21771102" y="0"/>
                  </a:lnTo>
                  <a:cubicBezTo>
                    <a:pt x="21881464" y="0"/>
                    <a:pt x="21971000" y="89535"/>
                    <a:pt x="21971000" y="199898"/>
                  </a:cubicBezTo>
                  <a:lnTo>
                    <a:pt x="21971000" y="849630"/>
                  </a:lnTo>
                  <a:cubicBezTo>
                    <a:pt x="21971000" y="959993"/>
                    <a:pt x="21881464" y="1049528"/>
                    <a:pt x="2177110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EF3C7"/>
            </a:solidFill>
            <a:ln w="19050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280160" y="8321040"/>
            <a:ext cx="15727680" cy="768096"/>
            <a:chOff x="0" y="0"/>
            <a:chExt cx="20970240" cy="102412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09702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979" r="0" b="-348979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2097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 Tip:  attribute = data/state  •  method = behavior  •  __init__ = setup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7116"/>
            <a:ext cx="1280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05  •  OOP IN ACTION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46404"/>
            <a:ext cx="164592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Objects Combine Data + Behavior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904865" y="9230678"/>
            <a:ext cx="1647826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" y="9416796"/>
            <a:ext cx="109728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AI Club KIET  •  SkillSprint4.0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0" y="9416796"/>
            <a:ext cx="3657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6/8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2367915"/>
            <a:ext cx="8065770" cy="3950970"/>
            <a:chOff x="0" y="0"/>
            <a:chExt cx="10754360" cy="5267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54360" cy="5267960"/>
            </a:xfrm>
            <a:custGeom>
              <a:avLst/>
              <a:gdLst/>
              <a:ahLst/>
              <a:cxnLst/>
              <a:rect r="r" b="b" t="t" l="l"/>
              <a:pathLst>
                <a:path h="5267960" w="10754360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10509377" y="0"/>
                  </a:lnTo>
                  <a:cubicBezTo>
                    <a:pt x="10644632" y="0"/>
                    <a:pt x="10754360" y="109728"/>
                    <a:pt x="10754360" y="244983"/>
                  </a:cubicBezTo>
                  <a:lnTo>
                    <a:pt x="10754360" y="5022977"/>
                  </a:lnTo>
                  <a:cubicBezTo>
                    <a:pt x="10754360" y="5158232"/>
                    <a:pt x="10644632" y="5267960"/>
                    <a:pt x="10509377" y="5267960"/>
                  </a:cubicBezTo>
                  <a:lnTo>
                    <a:pt x="244983" y="5267960"/>
                  </a:lnTo>
                  <a:cubicBezTo>
                    <a:pt x="109728" y="5267960"/>
                    <a:pt x="0" y="5158232"/>
                    <a:pt x="0" y="5022977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43584" y="2511171"/>
            <a:ext cx="7388352" cy="357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BankAccount: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__init__(</a:t>
            </a:r>
            <a:r>
              <a:rPr lang="en-US" sz="20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 balance):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0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.balance = balance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deposit(</a:t>
            </a:r>
            <a:r>
              <a:rPr lang="en-US" sz="20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 amount):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00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.balance += amount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account = BankAccount(</a:t>
            </a:r>
            <a:r>
              <a:rPr lang="en-US" sz="2000">
                <a:solidFill>
                  <a:srgbClr val="FDBA74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account.deposit(</a:t>
            </a:r>
            <a:r>
              <a:rPr lang="en-US" sz="2000">
                <a:solidFill>
                  <a:srgbClr val="FDBA74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(account.balance)   </a:t>
            </a:r>
            <a:r>
              <a:rPr lang="en-US" sz="20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1500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00235" y="2367915"/>
            <a:ext cx="3585210" cy="1390650"/>
            <a:chOff x="0" y="0"/>
            <a:chExt cx="4780280" cy="1854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80280" cy="1854200"/>
            </a:xfrm>
            <a:custGeom>
              <a:avLst/>
              <a:gdLst/>
              <a:ahLst/>
              <a:cxnLst/>
              <a:rect r="r" b="b" t="t" l="l"/>
              <a:pathLst>
                <a:path h="1854200" w="478028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4631944" y="0"/>
                  </a:lnTo>
                  <a:cubicBezTo>
                    <a:pt x="4713859" y="0"/>
                    <a:pt x="4780280" y="66421"/>
                    <a:pt x="4780280" y="148336"/>
                  </a:cubicBezTo>
                  <a:lnTo>
                    <a:pt x="4780280" y="1705864"/>
                  </a:lnTo>
                  <a:cubicBezTo>
                    <a:pt x="4780280" y="1787779"/>
                    <a:pt x="4713859" y="1854200"/>
                    <a:pt x="463194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CFFAFE"/>
            </a:solidFill>
            <a:ln w="19050" cap="sq">
              <a:solidFill>
                <a:srgbClr val="CFFAF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09760" y="2377440"/>
            <a:ext cx="3566160" cy="1371600"/>
            <a:chOff x="0" y="0"/>
            <a:chExt cx="475488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75488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E74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/ STATE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E74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balance = 1000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75920" y="2377440"/>
            <a:ext cx="548640" cy="1371600"/>
            <a:chOff x="0" y="0"/>
            <a:chExt cx="73152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73152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15035" y="2367915"/>
            <a:ext cx="3768090" cy="1390650"/>
            <a:chOff x="0" y="0"/>
            <a:chExt cx="5024120" cy="1854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24120" cy="1854200"/>
            </a:xfrm>
            <a:custGeom>
              <a:avLst/>
              <a:gdLst/>
              <a:ahLst/>
              <a:cxnLst/>
              <a:rect r="r" b="b" t="t" l="l"/>
              <a:pathLst>
                <a:path h="1854200" w="50241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4875784" y="0"/>
                  </a:lnTo>
                  <a:cubicBezTo>
                    <a:pt x="4957699" y="0"/>
                    <a:pt x="5024120" y="66421"/>
                    <a:pt x="5024120" y="148336"/>
                  </a:cubicBezTo>
                  <a:lnTo>
                    <a:pt x="5024120" y="1705864"/>
                  </a:lnTo>
                  <a:cubicBezTo>
                    <a:pt x="5024120" y="1787779"/>
                    <a:pt x="4957699" y="1854200"/>
                    <a:pt x="487578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DCFCE7"/>
            </a:solidFill>
            <a:ln w="19050" cap="sq">
              <a:solidFill>
                <a:srgbClr val="DCFCE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624560" y="2377440"/>
            <a:ext cx="3749040" cy="1371600"/>
            <a:chOff x="0" y="0"/>
            <a:chExt cx="499872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98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59" r="0" b="-32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9987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BEHAVIOR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deposit()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09760" y="3749040"/>
            <a:ext cx="7863840" cy="731520"/>
            <a:chOff x="0" y="0"/>
            <a:chExt cx="1048512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0485120" cy="1061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00235" y="4562475"/>
            <a:ext cx="7882890" cy="1299210"/>
            <a:chOff x="0" y="0"/>
            <a:chExt cx="10510520" cy="1732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10520" cy="1732280"/>
            </a:xfrm>
            <a:custGeom>
              <a:avLst/>
              <a:gdLst/>
              <a:ahLst/>
              <a:cxnLst/>
              <a:rect r="r" b="b" t="t" l="l"/>
              <a:pathLst>
                <a:path h="1732280" w="1051052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362057" y="0"/>
                  </a:lnTo>
                  <a:cubicBezTo>
                    <a:pt x="10444099" y="0"/>
                    <a:pt x="10510520" y="66421"/>
                    <a:pt x="10510520" y="148463"/>
                  </a:cubicBezTo>
                  <a:lnTo>
                    <a:pt x="10510520" y="1583817"/>
                  </a:lnTo>
                  <a:cubicBezTo>
                    <a:pt x="10510520" y="1665859"/>
                    <a:pt x="10444099" y="1732280"/>
                    <a:pt x="10362057" y="1732280"/>
                  </a:cubicBezTo>
                  <a:lnTo>
                    <a:pt x="148463" y="1732280"/>
                  </a:lnTo>
                  <a:cubicBezTo>
                    <a:pt x="66421" y="1732280"/>
                    <a:pt x="0" y="1665859"/>
                    <a:pt x="0" y="1583817"/>
                  </a:cubicBezTo>
                  <a:close/>
                </a:path>
              </a:pathLst>
            </a:custGeom>
            <a:solidFill>
              <a:srgbClr val="F3E8FF"/>
            </a:solidFill>
            <a:ln w="1905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509760" y="4572000"/>
            <a:ext cx="7863840" cy="1280160"/>
            <a:chOff x="0" y="0"/>
            <a:chExt cx="10485120" cy="170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85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048512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   account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4875" y="6848475"/>
            <a:ext cx="3950970" cy="1756410"/>
            <a:chOff x="0" y="0"/>
            <a:chExt cx="5267960" cy="2341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679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52679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5070729" y="0"/>
                  </a:lnTo>
                  <a:cubicBezTo>
                    <a:pt x="5179695" y="0"/>
                    <a:pt x="5267960" y="88265"/>
                    <a:pt x="5267960" y="197231"/>
                  </a:cubicBezTo>
                  <a:lnTo>
                    <a:pt x="5267960" y="2144649"/>
                  </a:lnTo>
                  <a:cubicBezTo>
                    <a:pt x="5267960" y="2253615"/>
                    <a:pt x="5179695" y="2341880"/>
                    <a:pt x="50707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01703" y="7064759"/>
            <a:ext cx="116843" cy="1323851"/>
            <a:chOff x="0" y="0"/>
            <a:chExt cx="155791" cy="17651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5829" cy="1765173"/>
            </a:xfrm>
            <a:custGeom>
              <a:avLst/>
              <a:gdLst/>
              <a:ahLst/>
              <a:cxnLst/>
              <a:rect r="r" b="b" t="t" l="l"/>
              <a:pathLst>
                <a:path h="17651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765173"/>
                  </a:lnTo>
                  <a:lnTo>
                    <a:pt x="0" y="1765173"/>
                  </a:lnTo>
                  <a:close/>
                </a:path>
              </a:pathLst>
            </a:custGeom>
            <a:solidFill>
              <a:srgbClr val="0284C7"/>
            </a:solidFill>
            <a:ln w="2540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80160" y="6993255"/>
            <a:ext cx="34747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Organization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0160" y="7642860"/>
            <a:ext cx="34747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data + actions in one place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074539" y="6848475"/>
            <a:ext cx="3950970" cy="1756410"/>
            <a:chOff x="0" y="0"/>
            <a:chExt cx="5267960" cy="2341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679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52679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5070729" y="0"/>
                  </a:lnTo>
                  <a:cubicBezTo>
                    <a:pt x="5179695" y="0"/>
                    <a:pt x="5267960" y="88265"/>
                    <a:pt x="5267960" y="197231"/>
                  </a:cubicBezTo>
                  <a:lnTo>
                    <a:pt x="5267960" y="2144649"/>
                  </a:lnTo>
                  <a:cubicBezTo>
                    <a:pt x="5267960" y="2253615"/>
                    <a:pt x="5179695" y="2341880"/>
                    <a:pt x="50707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071367" y="7064759"/>
            <a:ext cx="116843" cy="1323851"/>
            <a:chOff x="0" y="0"/>
            <a:chExt cx="155791" cy="17651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5829" cy="1765173"/>
            </a:xfrm>
            <a:custGeom>
              <a:avLst/>
              <a:gdLst/>
              <a:ahLst/>
              <a:cxnLst/>
              <a:rect r="r" b="b" t="t" l="l"/>
              <a:pathLst>
                <a:path h="17651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765173"/>
                  </a:lnTo>
                  <a:lnTo>
                    <a:pt x="0" y="1765173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5449824" y="6993255"/>
            <a:ext cx="34747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Reusability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49824" y="7642860"/>
            <a:ext cx="34747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one class, many accounts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44203" y="6848475"/>
            <a:ext cx="3950970" cy="1756410"/>
            <a:chOff x="0" y="0"/>
            <a:chExt cx="5267960" cy="2341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679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52679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5070729" y="0"/>
                  </a:lnTo>
                  <a:cubicBezTo>
                    <a:pt x="5179695" y="0"/>
                    <a:pt x="5267960" y="88265"/>
                    <a:pt x="5267960" y="197231"/>
                  </a:cubicBezTo>
                  <a:lnTo>
                    <a:pt x="5267960" y="2144649"/>
                  </a:lnTo>
                  <a:cubicBezTo>
                    <a:pt x="5267960" y="2253615"/>
                    <a:pt x="5179695" y="2341880"/>
                    <a:pt x="50707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241031" y="7064759"/>
            <a:ext cx="116843" cy="1323851"/>
            <a:chOff x="0" y="0"/>
            <a:chExt cx="155791" cy="176513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829" cy="1765173"/>
            </a:xfrm>
            <a:custGeom>
              <a:avLst/>
              <a:gdLst/>
              <a:ahLst/>
              <a:cxnLst/>
              <a:rect r="r" b="b" t="t" l="l"/>
              <a:pathLst>
                <a:path h="17651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765173"/>
                  </a:lnTo>
                  <a:lnTo>
                    <a:pt x="0" y="1765173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9619488" y="6993255"/>
            <a:ext cx="34747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Easy maintenance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19488" y="7642860"/>
            <a:ext cx="34747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fix it in one spot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413867" y="6848475"/>
            <a:ext cx="3950970" cy="1756410"/>
            <a:chOff x="0" y="0"/>
            <a:chExt cx="5267960" cy="2341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679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52679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5070729" y="0"/>
                  </a:lnTo>
                  <a:cubicBezTo>
                    <a:pt x="5179695" y="0"/>
                    <a:pt x="5267960" y="88265"/>
                    <a:pt x="5267960" y="197231"/>
                  </a:cubicBezTo>
                  <a:lnTo>
                    <a:pt x="5267960" y="2144649"/>
                  </a:lnTo>
                  <a:cubicBezTo>
                    <a:pt x="5267960" y="2253615"/>
                    <a:pt x="5179695" y="2341880"/>
                    <a:pt x="50707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3410695" y="7064759"/>
            <a:ext cx="116843" cy="1323851"/>
            <a:chOff x="0" y="0"/>
            <a:chExt cx="155791" cy="17651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5829" cy="1765173"/>
            </a:xfrm>
            <a:custGeom>
              <a:avLst/>
              <a:gdLst/>
              <a:ahLst/>
              <a:cxnLst/>
              <a:rect r="r" b="b" t="t" l="l"/>
              <a:pathLst>
                <a:path h="17651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765173"/>
                  </a:lnTo>
                  <a:lnTo>
                    <a:pt x="0" y="1765173"/>
                  </a:lnTo>
                  <a:close/>
                </a:path>
              </a:pathLst>
            </a:custGeom>
            <a:solidFill>
              <a:srgbClr val="9333EA"/>
            </a:solidFill>
            <a:ln w="25400" cap="sq">
              <a:solidFill>
                <a:srgbClr val="9333EA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3789152" y="6993255"/>
            <a:ext cx="34747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Real-world modeling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789152" y="7642860"/>
            <a:ext cx="34747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code mirrors reality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7116"/>
            <a:ext cx="1280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D9770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06  •  OOP PRINCIPLES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46404"/>
            <a:ext cx="164592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4 Pillars of OOP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904865" y="9230678"/>
            <a:ext cx="1647826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" y="9416796"/>
            <a:ext cx="109728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AI Club KIET  •  SkillSprint4.0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0" y="9416796"/>
            <a:ext cx="3657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7/8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2185035"/>
            <a:ext cx="7151370" cy="2670810"/>
            <a:chOff x="0" y="0"/>
            <a:chExt cx="9535160" cy="3561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35160" cy="3561080"/>
            </a:xfrm>
            <a:custGeom>
              <a:avLst/>
              <a:gdLst/>
              <a:ahLst/>
              <a:cxnLst/>
              <a:rect r="r" b="b" t="t" l="l"/>
              <a:pathLst>
                <a:path h="3561080" w="9535160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9338691" y="0"/>
                  </a:lnTo>
                  <a:cubicBezTo>
                    <a:pt x="9447149" y="0"/>
                    <a:pt x="9535160" y="88011"/>
                    <a:pt x="9535160" y="196469"/>
                  </a:cubicBezTo>
                  <a:lnTo>
                    <a:pt x="9535160" y="3364611"/>
                  </a:lnTo>
                  <a:cubicBezTo>
                    <a:pt x="9535160" y="3473069"/>
                    <a:pt x="9447149" y="3561080"/>
                    <a:pt x="933869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2401319"/>
            <a:ext cx="116843" cy="2238251"/>
            <a:chOff x="0" y="0"/>
            <a:chExt cx="155791" cy="29843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829" cy="2984373"/>
            </a:xfrm>
            <a:custGeom>
              <a:avLst/>
              <a:gdLst/>
              <a:ahLst/>
              <a:cxnLst/>
              <a:rect r="r" b="b" t="t" l="l"/>
              <a:pathLst>
                <a:path h="29843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2984373"/>
                  </a:lnTo>
                  <a:lnTo>
                    <a:pt x="0" y="2984373"/>
                  </a:lnTo>
                  <a:close/>
                </a:path>
              </a:pathLst>
            </a:custGeom>
            <a:solidFill>
              <a:srgbClr val="0284C7"/>
            </a:solidFill>
            <a:ln w="2540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16736" y="2310765"/>
            <a:ext cx="64008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 Encapsulation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736" y="2969895"/>
            <a:ext cx="64008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Keep data + methods together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6736" y="3473196"/>
            <a:ext cx="64008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Like: Sealed medicine capsule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07211" y="4050411"/>
            <a:ext cx="4042410" cy="531114"/>
            <a:chOff x="0" y="0"/>
            <a:chExt cx="5389880" cy="7081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89880" cy="708152"/>
            </a:xfrm>
            <a:custGeom>
              <a:avLst/>
              <a:gdLst/>
              <a:ahLst/>
              <a:cxnLst/>
              <a:rect r="r" b="b" t="t" l="l"/>
              <a:pathLst>
                <a:path h="708152" w="538988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238115" y="0"/>
                  </a:lnTo>
                  <a:cubicBezTo>
                    <a:pt x="5321935" y="0"/>
                    <a:pt x="5389880" y="67945"/>
                    <a:pt x="5389880" y="151765"/>
                  </a:cubicBezTo>
                  <a:lnTo>
                    <a:pt x="5389880" y="556387"/>
                  </a:lnTo>
                  <a:cubicBezTo>
                    <a:pt x="5389880" y="640207"/>
                    <a:pt x="5321935" y="708152"/>
                    <a:pt x="5238115" y="708152"/>
                  </a:cubicBezTo>
                  <a:lnTo>
                    <a:pt x="151765" y="708152"/>
                  </a:lnTo>
                  <a:cubicBezTo>
                    <a:pt x="67945" y="708152"/>
                    <a:pt x="0" y="640207"/>
                    <a:pt x="0" y="556387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16736" y="4059936"/>
            <a:ext cx="4023360" cy="512064"/>
            <a:chOff x="0" y="0"/>
            <a:chExt cx="536448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account.deposit(500)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31755" y="2185035"/>
            <a:ext cx="7151370" cy="2670810"/>
            <a:chOff x="0" y="0"/>
            <a:chExt cx="9535160" cy="3561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35160" cy="3561080"/>
            </a:xfrm>
            <a:custGeom>
              <a:avLst/>
              <a:gdLst/>
              <a:ahLst/>
              <a:cxnLst/>
              <a:rect r="r" b="b" t="t" l="l"/>
              <a:pathLst>
                <a:path h="3561080" w="9535160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9338691" y="0"/>
                  </a:lnTo>
                  <a:cubicBezTo>
                    <a:pt x="9447149" y="0"/>
                    <a:pt x="9535160" y="88011"/>
                    <a:pt x="9535160" y="196469"/>
                  </a:cubicBezTo>
                  <a:lnTo>
                    <a:pt x="9535160" y="3364611"/>
                  </a:lnTo>
                  <a:cubicBezTo>
                    <a:pt x="9535160" y="3473069"/>
                    <a:pt x="9447149" y="3561080"/>
                    <a:pt x="933869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228583" y="2401319"/>
            <a:ext cx="116843" cy="2238251"/>
            <a:chOff x="0" y="0"/>
            <a:chExt cx="155791" cy="29843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829" cy="2984373"/>
            </a:xfrm>
            <a:custGeom>
              <a:avLst/>
              <a:gdLst/>
              <a:ahLst/>
              <a:cxnLst/>
              <a:rect r="r" b="b" t="t" l="l"/>
              <a:pathLst>
                <a:path h="29843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2984373"/>
                  </a:lnTo>
                  <a:lnTo>
                    <a:pt x="0" y="2984373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643616" y="2310765"/>
            <a:ext cx="64008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 Abstraction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43616" y="2969895"/>
            <a:ext cx="64008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Hide unnecessary details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43616" y="3473196"/>
            <a:ext cx="64008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Like: Drive with pedals, not engine parts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634091" y="4050411"/>
            <a:ext cx="4042410" cy="531114"/>
            <a:chOff x="0" y="0"/>
            <a:chExt cx="5389880" cy="7081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89880" cy="708152"/>
            </a:xfrm>
            <a:custGeom>
              <a:avLst/>
              <a:gdLst/>
              <a:ahLst/>
              <a:cxnLst/>
              <a:rect r="r" b="b" t="t" l="l"/>
              <a:pathLst>
                <a:path h="708152" w="538988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238115" y="0"/>
                  </a:lnTo>
                  <a:cubicBezTo>
                    <a:pt x="5321935" y="0"/>
                    <a:pt x="5389880" y="67945"/>
                    <a:pt x="5389880" y="151765"/>
                  </a:cubicBezTo>
                  <a:lnTo>
                    <a:pt x="5389880" y="556387"/>
                  </a:lnTo>
                  <a:cubicBezTo>
                    <a:pt x="5389880" y="640207"/>
                    <a:pt x="5321935" y="708152"/>
                    <a:pt x="5238115" y="708152"/>
                  </a:cubicBezTo>
                  <a:lnTo>
                    <a:pt x="151765" y="708152"/>
                  </a:lnTo>
                  <a:cubicBezTo>
                    <a:pt x="67945" y="708152"/>
                    <a:pt x="0" y="640207"/>
                    <a:pt x="0" y="556387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643616" y="4059936"/>
            <a:ext cx="4023360" cy="512064"/>
            <a:chOff x="0" y="0"/>
            <a:chExt cx="536448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len(items)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4875" y="5111115"/>
            <a:ext cx="7151370" cy="2670810"/>
            <a:chOff x="0" y="0"/>
            <a:chExt cx="9535160" cy="3561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35160" cy="3561080"/>
            </a:xfrm>
            <a:custGeom>
              <a:avLst/>
              <a:gdLst/>
              <a:ahLst/>
              <a:cxnLst/>
              <a:rect r="r" b="b" t="t" l="l"/>
              <a:pathLst>
                <a:path h="3561080" w="9535160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9338691" y="0"/>
                  </a:lnTo>
                  <a:cubicBezTo>
                    <a:pt x="9447149" y="0"/>
                    <a:pt x="9535160" y="88011"/>
                    <a:pt x="9535160" y="196469"/>
                  </a:cubicBezTo>
                  <a:lnTo>
                    <a:pt x="9535160" y="3364611"/>
                  </a:lnTo>
                  <a:cubicBezTo>
                    <a:pt x="9535160" y="3473069"/>
                    <a:pt x="9447149" y="3561080"/>
                    <a:pt x="933869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01703" y="5327399"/>
            <a:ext cx="116843" cy="2238251"/>
            <a:chOff x="0" y="0"/>
            <a:chExt cx="155791" cy="29843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5829" cy="2984373"/>
            </a:xfrm>
            <a:custGeom>
              <a:avLst/>
              <a:gdLst/>
              <a:ahLst/>
              <a:cxnLst/>
              <a:rect r="r" b="b" t="t" l="l"/>
              <a:pathLst>
                <a:path h="29843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2984373"/>
                  </a:lnTo>
                  <a:lnTo>
                    <a:pt x="0" y="2984373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316736" y="5236845"/>
            <a:ext cx="64008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 Inheritance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6736" y="5895975"/>
            <a:ext cx="64008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Reuse / extend an existing class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6736" y="6399276"/>
            <a:ext cx="64008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Like: Child inherits family traits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07211" y="6976491"/>
            <a:ext cx="4042410" cy="531114"/>
            <a:chOff x="0" y="0"/>
            <a:chExt cx="5389880" cy="7081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89880" cy="708152"/>
            </a:xfrm>
            <a:custGeom>
              <a:avLst/>
              <a:gdLst/>
              <a:ahLst/>
              <a:cxnLst/>
              <a:rect r="r" b="b" t="t" l="l"/>
              <a:pathLst>
                <a:path h="708152" w="538988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238115" y="0"/>
                  </a:lnTo>
                  <a:cubicBezTo>
                    <a:pt x="5321935" y="0"/>
                    <a:pt x="5389880" y="67945"/>
                    <a:pt x="5389880" y="151765"/>
                  </a:cubicBezTo>
                  <a:lnTo>
                    <a:pt x="5389880" y="556387"/>
                  </a:lnTo>
                  <a:cubicBezTo>
                    <a:pt x="5389880" y="640207"/>
                    <a:pt x="5321935" y="708152"/>
                    <a:pt x="5238115" y="708152"/>
                  </a:cubicBezTo>
                  <a:lnTo>
                    <a:pt x="151765" y="708152"/>
                  </a:lnTo>
                  <a:cubicBezTo>
                    <a:pt x="67945" y="708152"/>
                    <a:pt x="0" y="640207"/>
                    <a:pt x="0" y="556387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16736" y="6986016"/>
            <a:ext cx="4023360" cy="512064"/>
            <a:chOff x="0" y="0"/>
            <a:chExt cx="536448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class Dog(Animal):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31755" y="5111115"/>
            <a:ext cx="7151370" cy="2670810"/>
            <a:chOff x="0" y="0"/>
            <a:chExt cx="9535160" cy="3561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35160" cy="3561080"/>
            </a:xfrm>
            <a:custGeom>
              <a:avLst/>
              <a:gdLst/>
              <a:ahLst/>
              <a:cxnLst/>
              <a:rect r="r" b="b" t="t" l="l"/>
              <a:pathLst>
                <a:path h="3561080" w="9535160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9338691" y="0"/>
                  </a:lnTo>
                  <a:cubicBezTo>
                    <a:pt x="9447149" y="0"/>
                    <a:pt x="9535160" y="88011"/>
                    <a:pt x="9535160" y="196469"/>
                  </a:cubicBezTo>
                  <a:lnTo>
                    <a:pt x="9535160" y="3364611"/>
                  </a:lnTo>
                  <a:cubicBezTo>
                    <a:pt x="9535160" y="3473069"/>
                    <a:pt x="9447149" y="3561080"/>
                    <a:pt x="933869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228583" y="5327399"/>
            <a:ext cx="116843" cy="2238251"/>
            <a:chOff x="0" y="0"/>
            <a:chExt cx="155791" cy="298433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829" cy="2984373"/>
            </a:xfrm>
            <a:custGeom>
              <a:avLst/>
              <a:gdLst/>
              <a:ahLst/>
              <a:cxnLst/>
              <a:rect r="r" b="b" t="t" l="l"/>
              <a:pathLst>
                <a:path h="298437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2984373"/>
                  </a:lnTo>
                  <a:lnTo>
                    <a:pt x="0" y="2984373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0643616" y="5236845"/>
            <a:ext cx="64008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D9770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 Polymorphism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43616" y="5895975"/>
            <a:ext cx="64008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Same interface, different behavior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43616" y="6399276"/>
            <a:ext cx="64008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Like: Press play: song, video, podcast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634091" y="6976491"/>
            <a:ext cx="4042410" cy="531114"/>
            <a:chOff x="0" y="0"/>
            <a:chExt cx="5389880" cy="7081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89880" cy="708152"/>
            </a:xfrm>
            <a:custGeom>
              <a:avLst/>
              <a:gdLst/>
              <a:ahLst/>
              <a:cxnLst/>
              <a:rect r="r" b="b" t="t" l="l"/>
              <a:pathLst>
                <a:path h="708152" w="538988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238115" y="0"/>
                  </a:lnTo>
                  <a:cubicBezTo>
                    <a:pt x="5321935" y="0"/>
                    <a:pt x="5389880" y="67945"/>
                    <a:pt x="5389880" y="151765"/>
                  </a:cubicBezTo>
                  <a:lnTo>
                    <a:pt x="5389880" y="556387"/>
                  </a:lnTo>
                  <a:cubicBezTo>
                    <a:pt x="5389880" y="640207"/>
                    <a:pt x="5321935" y="708152"/>
                    <a:pt x="5238115" y="708152"/>
                  </a:cubicBezTo>
                  <a:lnTo>
                    <a:pt x="151765" y="708152"/>
                  </a:lnTo>
                  <a:cubicBezTo>
                    <a:pt x="67945" y="708152"/>
                    <a:pt x="0" y="640207"/>
                    <a:pt x="0" y="556387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643616" y="6986016"/>
            <a:ext cx="4023360" cy="512064"/>
            <a:chOff x="0" y="0"/>
            <a:chExt cx="536448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shape.draw()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82940" y="4168140"/>
            <a:ext cx="1722120" cy="1722120"/>
            <a:chOff x="0" y="0"/>
            <a:chExt cx="2296160" cy="2296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96160" cy="2296160"/>
            </a:xfrm>
            <a:custGeom>
              <a:avLst/>
              <a:gdLst/>
              <a:ahLst/>
              <a:cxnLst/>
              <a:rect r="r" b="b" t="t" l="l"/>
              <a:pathLst>
                <a:path h="2296160" w="2296160">
                  <a:moveTo>
                    <a:pt x="0" y="1148080"/>
                  </a:moveTo>
                  <a:cubicBezTo>
                    <a:pt x="0" y="513969"/>
                    <a:pt x="513969" y="0"/>
                    <a:pt x="1148080" y="0"/>
                  </a:cubicBezTo>
                  <a:cubicBezTo>
                    <a:pt x="1782191" y="0"/>
                    <a:pt x="2296160" y="513969"/>
                    <a:pt x="2296160" y="1148080"/>
                  </a:cubicBezTo>
                  <a:cubicBezTo>
                    <a:pt x="2296160" y="1782191"/>
                    <a:pt x="1782191" y="2296160"/>
                    <a:pt x="1148080" y="2296160"/>
                  </a:cubicBezTo>
                  <a:cubicBezTo>
                    <a:pt x="513969" y="2296160"/>
                    <a:pt x="0" y="1782191"/>
                    <a:pt x="0" y="1148080"/>
                  </a:cubicBezTo>
                  <a:close/>
                </a:path>
              </a:pathLst>
            </a:custGeom>
            <a:solidFill>
              <a:srgbClr val="0F172A"/>
            </a:solidFill>
            <a:ln w="76200" cap="sq">
              <a:solidFill>
                <a:srgbClr val="F8FAFC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8321040" y="4206240"/>
            <a:ext cx="1645920" cy="1645920"/>
            <a:chOff x="0" y="0"/>
            <a:chExt cx="2194560" cy="21945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21945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OOP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04875" y="8220075"/>
            <a:ext cx="16478250" cy="787146"/>
            <a:chOff x="0" y="0"/>
            <a:chExt cx="21971000" cy="10495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7100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197100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21771102" y="0"/>
                  </a:lnTo>
                  <a:cubicBezTo>
                    <a:pt x="21881464" y="0"/>
                    <a:pt x="21971000" y="89535"/>
                    <a:pt x="21971000" y="199898"/>
                  </a:cubicBezTo>
                  <a:lnTo>
                    <a:pt x="21971000" y="849630"/>
                  </a:lnTo>
                  <a:cubicBezTo>
                    <a:pt x="21971000" y="959993"/>
                    <a:pt x="21881464" y="1049528"/>
                    <a:pt x="2177110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FEDD5"/>
            </a:solidFill>
            <a:ln w="1905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80160" y="8229600"/>
            <a:ext cx="15727680" cy="768096"/>
            <a:chOff x="0" y="0"/>
            <a:chExt cx="2097024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9702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979" r="0" b="-34897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097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9A34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Today we only meet them. Each pillar gets its own deep-dive later.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7116"/>
            <a:ext cx="1280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RECAP  +  MINI 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46404"/>
            <a:ext cx="164592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You're Ready to Think in Objects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904865" y="9230678"/>
            <a:ext cx="16478260" cy="0"/>
          </a:xfrm>
          <a:prstGeom prst="line">
            <a:avLst/>
          </a:prstGeom>
          <a:ln cap="rnd" w="9525">
            <a:solidFill>
              <a:srgbClr val="3341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" y="9416796"/>
            <a:ext cx="109728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 AI Club KIET  •  SkillSprint4.0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0" y="9416796"/>
            <a:ext cx="3657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79"/>
              </a:lnSpc>
            </a:pPr>
            <a:r>
              <a:rPr lang="en-US" sz="1899" b="true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Slide 8/8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2459355"/>
            <a:ext cx="2579370" cy="842010"/>
            <a:chOff x="0" y="0"/>
            <a:chExt cx="3439160" cy="11226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9160" cy="1122680"/>
            </a:xfrm>
            <a:custGeom>
              <a:avLst/>
              <a:gdLst/>
              <a:ahLst/>
              <a:cxnLst/>
              <a:rect r="r" b="b" t="t" l="l"/>
              <a:pathLst>
                <a:path h="1122680" w="343916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3289427" y="0"/>
                  </a:lnTo>
                  <a:cubicBezTo>
                    <a:pt x="3372104" y="0"/>
                    <a:pt x="3439160" y="67056"/>
                    <a:pt x="3439160" y="149733"/>
                  </a:cubicBezTo>
                  <a:lnTo>
                    <a:pt x="3439160" y="972947"/>
                  </a:lnTo>
                  <a:cubicBezTo>
                    <a:pt x="3439160" y="1055624"/>
                    <a:pt x="3372104" y="1122680"/>
                    <a:pt x="3289427" y="1122680"/>
                  </a:cubicBezTo>
                  <a:lnTo>
                    <a:pt x="149733" y="1122680"/>
                  </a:lnTo>
                  <a:cubicBezTo>
                    <a:pt x="67056" y="1122680"/>
                    <a:pt x="0" y="1055624"/>
                    <a:pt x="0" y="972947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468880"/>
            <a:ext cx="2560320" cy="822960"/>
            <a:chOff x="0" y="0"/>
            <a:chExt cx="341376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13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74720" y="2468880"/>
            <a:ext cx="859536" cy="731520"/>
            <a:chOff x="0" y="0"/>
            <a:chExt cx="1146048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6048" cy="975360"/>
            </a:xfrm>
            <a:custGeom>
              <a:avLst/>
              <a:gdLst/>
              <a:ahLst/>
              <a:cxnLst/>
              <a:rect r="r" b="b" t="t" l="l"/>
              <a:pathLst>
                <a:path h="97536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194" t="0" r="-5919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146048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24731" y="2459355"/>
            <a:ext cx="2579370" cy="842010"/>
            <a:chOff x="0" y="0"/>
            <a:chExt cx="3439160" cy="1122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39160" cy="1122680"/>
            </a:xfrm>
            <a:custGeom>
              <a:avLst/>
              <a:gdLst/>
              <a:ahLst/>
              <a:cxnLst/>
              <a:rect r="r" b="b" t="t" l="l"/>
              <a:pathLst>
                <a:path h="1122680" w="343916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3289427" y="0"/>
                  </a:lnTo>
                  <a:cubicBezTo>
                    <a:pt x="3372104" y="0"/>
                    <a:pt x="3439160" y="67056"/>
                    <a:pt x="3439160" y="149733"/>
                  </a:cubicBezTo>
                  <a:lnTo>
                    <a:pt x="3439160" y="972947"/>
                  </a:lnTo>
                  <a:cubicBezTo>
                    <a:pt x="3439160" y="1055624"/>
                    <a:pt x="3372104" y="1122680"/>
                    <a:pt x="3289427" y="1122680"/>
                  </a:cubicBezTo>
                  <a:lnTo>
                    <a:pt x="149733" y="1122680"/>
                  </a:lnTo>
                  <a:cubicBezTo>
                    <a:pt x="67056" y="1122680"/>
                    <a:pt x="0" y="1055624"/>
                    <a:pt x="0" y="972947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334256" y="2468880"/>
            <a:ext cx="2560320" cy="822960"/>
            <a:chOff x="0" y="0"/>
            <a:chExt cx="341376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413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94576" y="2468880"/>
            <a:ext cx="859536" cy="731520"/>
            <a:chOff x="0" y="0"/>
            <a:chExt cx="1146048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6048" cy="975360"/>
            </a:xfrm>
            <a:custGeom>
              <a:avLst/>
              <a:gdLst/>
              <a:ahLst/>
              <a:cxnLst/>
              <a:rect r="r" b="b" t="t" l="l"/>
              <a:pathLst>
                <a:path h="97536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194" t="0" r="-5919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146048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744587" y="2459355"/>
            <a:ext cx="2579370" cy="842010"/>
            <a:chOff x="0" y="0"/>
            <a:chExt cx="3439160" cy="1122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39160" cy="1122680"/>
            </a:xfrm>
            <a:custGeom>
              <a:avLst/>
              <a:gdLst/>
              <a:ahLst/>
              <a:cxnLst/>
              <a:rect r="r" b="b" t="t" l="l"/>
              <a:pathLst>
                <a:path h="1122680" w="343916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3289427" y="0"/>
                  </a:lnTo>
                  <a:cubicBezTo>
                    <a:pt x="3372104" y="0"/>
                    <a:pt x="3439160" y="67056"/>
                    <a:pt x="3439160" y="149733"/>
                  </a:cubicBezTo>
                  <a:lnTo>
                    <a:pt x="3439160" y="972947"/>
                  </a:lnTo>
                  <a:cubicBezTo>
                    <a:pt x="3439160" y="1055624"/>
                    <a:pt x="3372104" y="1122680"/>
                    <a:pt x="3289427" y="1122680"/>
                  </a:cubicBezTo>
                  <a:lnTo>
                    <a:pt x="149733" y="1122680"/>
                  </a:lnTo>
                  <a:cubicBezTo>
                    <a:pt x="67056" y="1122680"/>
                    <a:pt x="0" y="1055624"/>
                    <a:pt x="0" y="972947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754112" y="2468880"/>
            <a:ext cx="2560320" cy="822960"/>
            <a:chOff x="0" y="0"/>
            <a:chExt cx="341376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13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413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314432" y="2468880"/>
            <a:ext cx="859536" cy="731520"/>
            <a:chOff x="0" y="0"/>
            <a:chExt cx="1146048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6048" cy="975360"/>
            </a:xfrm>
            <a:custGeom>
              <a:avLst/>
              <a:gdLst/>
              <a:ahLst/>
              <a:cxnLst/>
              <a:rect r="r" b="b" t="t" l="l"/>
              <a:pathLst>
                <a:path h="97536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194" t="0" r="-5919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146048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64443" y="2459355"/>
            <a:ext cx="2579370" cy="842010"/>
            <a:chOff x="0" y="0"/>
            <a:chExt cx="3439160" cy="1122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39160" cy="1122680"/>
            </a:xfrm>
            <a:custGeom>
              <a:avLst/>
              <a:gdLst/>
              <a:ahLst/>
              <a:cxnLst/>
              <a:rect r="r" b="b" t="t" l="l"/>
              <a:pathLst>
                <a:path h="1122680" w="343916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3289427" y="0"/>
                  </a:lnTo>
                  <a:cubicBezTo>
                    <a:pt x="3372104" y="0"/>
                    <a:pt x="3439160" y="67056"/>
                    <a:pt x="3439160" y="149733"/>
                  </a:cubicBezTo>
                  <a:lnTo>
                    <a:pt x="3439160" y="972947"/>
                  </a:lnTo>
                  <a:cubicBezTo>
                    <a:pt x="3439160" y="1055624"/>
                    <a:pt x="3372104" y="1122680"/>
                    <a:pt x="3289427" y="1122680"/>
                  </a:cubicBezTo>
                  <a:lnTo>
                    <a:pt x="149733" y="1122680"/>
                  </a:lnTo>
                  <a:cubicBezTo>
                    <a:pt x="67056" y="1122680"/>
                    <a:pt x="0" y="1055624"/>
                    <a:pt x="0" y="972947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9333E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173968" y="2468880"/>
            <a:ext cx="2560320" cy="822960"/>
            <a:chOff x="0" y="0"/>
            <a:chExt cx="341376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13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413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734288" y="2468880"/>
            <a:ext cx="859536" cy="731520"/>
            <a:chOff x="0" y="0"/>
            <a:chExt cx="1146048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46048" cy="975360"/>
            </a:xfrm>
            <a:custGeom>
              <a:avLst/>
              <a:gdLst/>
              <a:ahLst/>
              <a:cxnLst/>
              <a:rect r="r" b="b" t="t" l="l"/>
              <a:pathLst>
                <a:path h="97536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194" t="0" r="-5919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1146048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584299" y="2459355"/>
            <a:ext cx="2579370" cy="842010"/>
            <a:chOff x="0" y="0"/>
            <a:chExt cx="3439160" cy="1122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39160" cy="1122680"/>
            </a:xfrm>
            <a:custGeom>
              <a:avLst/>
              <a:gdLst/>
              <a:ahLst/>
              <a:cxnLst/>
              <a:rect r="r" b="b" t="t" l="l"/>
              <a:pathLst>
                <a:path h="1122680" w="343916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3289427" y="0"/>
                  </a:lnTo>
                  <a:cubicBezTo>
                    <a:pt x="3372104" y="0"/>
                    <a:pt x="3439160" y="67056"/>
                    <a:pt x="3439160" y="149733"/>
                  </a:cubicBezTo>
                  <a:lnTo>
                    <a:pt x="3439160" y="972947"/>
                  </a:lnTo>
                  <a:cubicBezTo>
                    <a:pt x="3439160" y="1055624"/>
                    <a:pt x="3372104" y="1122680"/>
                    <a:pt x="3289427" y="1122680"/>
                  </a:cubicBezTo>
                  <a:lnTo>
                    <a:pt x="149733" y="1122680"/>
                  </a:lnTo>
                  <a:cubicBezTo>
                    <a:pt x="67056" y="1122680"/>
                    <a:pt x="0" y="1055624"/>
                    <a:pt x="0" y="972947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593824" y="2468880"/>
            <a:ext cx="2560320" cy="822960"/>
            <a:chOff x="0" y="0"/>
            <a:chExt cx="341376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13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413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OOP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4875" y="3739515"/>
            <a:ext cx="8065770" cy="4225290"/>
            <a:chOff x="0" y="0"/>
            <a:chExt cx="10754360" cy="5633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54360" cy="5633720"/>
            </a:xfrm>
            <a:custGeom>
              <a:avLst/>
              <a:gdLst/>
              <a:ahLst/>
              <a:cxnLst/>
              <a:rect r="r" b="b" t="t" l="l"/>
              <a:pathLst>
                <a:path h="5633720" w="10754360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10558399" y="0"/>
                  </a:lnTo>
                  <a:cubicBezTo>
                    <a:pt x="10666603" y="0"/>
                    <a:pt x="10754360" y="87757"/>
                    <a:pt x="10754360" y="195961"/>
                  </a:cubicBezTo>
                  <a:lnTo>
                    <a:pt x="10754360" y="5437759"/>
                  </a:lnTo>
                  <a:cubicBezTo>
                    <a:pt x="10754360" y="5545963"/>
                    <a:pt x="10666603" y="5633720"/>
                    <a:pt x="10558399" y="5633720"/>
                  </a:cubicBezTo>
                  <a:lnTo>
                    <a:pt x="195961" y="5633720"/>
                  </a:lnTo>
                  <a:cubicBezTo>
                    <a:pt x="87757" y="5633720"/>
                    <a:pt x="0" y="5545963"/>
                    <a:pt x="0" y="543775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01703" y="3955799"/>
            <a:ext cx="116843" cy="3792731"/>
            <a:chOff x="0" y="0"/>
            <a:chExt cx="155791" cy="50569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5829" cy="5057013"/>
            </a:xfrm>
            <a:custGeom>
              <a:avLst/>
              <a:gdLst/>
              <a:ahLst/>
              <a:cxnLst/>
              <a:rect r="r" b="b" t="t" l="l"/>
              <a:pathLst>
                <a:path h="505701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5057013"/>
                  </a:lnTo>
                  <a:lnTo>
                    <a:pt x="0" y="5057013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371600" y="3893820"/>
            <a:ext cx="548640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6EF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MINI CHALLENGE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71600" y="4341495"/>
            <a:ext cx="7315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a Student class: name, roll_no, branch + introduce()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62075" y="5202555"/>
            <a:ext cx="7151370" cy="2487930"/>
            <a:chOff x="0" y="0"/>
            <a:chExt cx="9535160" cy="3317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35160" cy="3317240"/>
            </a:xfrm>
            <a:custGeom>
              <a:avLst/>
              <a:gdLst/>
              <a:ahLst/>
              <a:cxnLst/>
              <a:rect r="r" b="b" t="t" l="l"/>
              <a:pathLst>
                <a:path h="3317240" w="9535160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9289415" y="0"/>
                  </a:lnTo>
                  <a:cubicBezTo>
                    <a:pt x="9425178" y="0"/>
                    <a:pt x="9535160" y="109982"/>
                    <a:pt x="9535160" y="245745"/>
                  </a:cubicBezTo>
                  <a:lnTo>
                    <a:pt x="9535160" y="3071495"/>
                  </a:lnTo>
                  <a:cubicBezTo>
                    <a:pt x="9535160" y="3207258"/>
                    <a:pt x="9425178" y="3317240"/>
                    <a:pt x="9289415" y="3317240"/>
                  </a:cubicBezTo>
                  <a:lnTo>
                    <a:pt x="245745" y="3317240"/>
                  </a:lnTo>
                  <a:cubicBezTo>
                    <a:pt x="109982" y="3317240"/>
                    <a:pt x="0" y="3207258"/>
                    <a:pt x="0" y="3071495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700784" y="5345811"/>
            <a:ext cx="6473952" cy="2115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99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Student:</a:t>
            </a:r>
          </a:p>
          <a:p>
            <a:pPr algn="l">
              <a:lnSpc>
                <a:spcPts val="2799"/>
              </a:lnSpc>
            </a:pP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99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__init__(</a:t>
            </a:r>
            <a:r>
              <a:rPr lang="en-US" sz="1899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 ...):</a:t>
            </a:r>
          </a:p>
          <a:p>
            <a:pPr algn="l">
              <a:lnSpc>
                <a:spcPts val="2799"/>
              </a:lnSpc>
            </a:pP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899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store name, roll_no, branch</a:t>
            </a:r>
          </a:p>
          <a:p>
            <a:pPr algn="l">
              <a:lnSpc>
                <a:spcPts val="2799"/>
              </a:lnSpc>
            </a:pP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799"/>
              </a:lnSpc>
            </a:pP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99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introduce(</a:t>
            </a:r>
            <a:r>
              <a:rPr lang="en-US" sz="1899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</a:p>
          <a:p>
            <a:pPr algn="l">
              <a:lnSpc>
                <a:spcPts val="2799"/>
              </a:lnSpc>
            </a:pPr>
            <a:r>
              <a:rPr lang="en-US" sz="189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899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print the details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17355" y="3739515"/>
            <a:ext cx="8065770" cy="4225290"/>
            <a:chOff x="0" y="0"/>
            <a:chExt cx="10754360" cy="5633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54360" cy="5633720"/>
            </a:xfrm>
            <a:custGeom>
              <a:avLst/>
              <a:gdLst/>
              <a:ahLst/>
              <a:cxnLst/>
              <a:rect r="r" b="b" t="t" l="l"/>
              <a:pathLst>
                <a:path h="5633720" w="10754360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10558399" y="0"/>
                  </a:lnTo>
                  <a:cubicBezTo>
                    <a:pt x="10666603" y="0"/>
                    <a:pt x="10754360" y="87757"/>
                    <a:pt x="10754360" y="195961"/>
                  </a:cubicBezTo>
                  <a:lnTo>
                    <a:pt x="10754360" y="5437759"/>
                  </a:lnTo>
                  <a:cubicBezTo>
                    <a:pt x="10754360" y="5545963"/>
                    <a:pt x="10666603" y="5633720"/>
                    <a:pt x="10558399" y="5633720"/>
                  </a:cubicBezTo>
                  <a:lnTo>
                    <a:pt x="195961" y="5633720"/>
                  </a:lnTo>
                  <a:cubicBezTo>
                    <a:pt x="87757" y="5633720"/>
                    <a:pt x="0" y="5545963"/>
                    <a:pt x="0" y="543775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314183" y="3955799"/>
            <a:ext cx="116843" cy="3792731"/>
            <a:chOff x="0" y="0"/>
            <a:chExt cx="155791" cy="50569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5829" cy="5057013"/>
            </a:xfrm>
            <a:custGeom>
              <a:avLst/>
              <a:gdLst/>
              <a:ahLst/>
              <a:cxnLst/>
              <a:rect r="r" b="b" t="t" l="l"/>
              <a:pathLst>
                <a:path h="5057013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5057013"/>
                  </a:lnTo>
                  <a:lnTo>
                    <a:pt x="0" y="5057013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9784080" y="3893820"/>
            <a:ext cx="548640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BB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QUICK RECAP QUESTIONS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84080" y="4524375"/>
            <a:ext cx="7315200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1.  What is the difference between a class and an object?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2.  Why do we use self?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3.  What is the difference between a function and a method?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04875" y="8220075"/>
            <a:ext cx="16478250" cy="787146"/>
            <a:chOff x="0" y="0"/>
            <a:chExt cx="21971000" cy="10495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7100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197100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21771102" y="0"/>
                  </a:lnTo>
                  <a:cubicBezTo>
                    <a:pt x="21881464" y="0"/>
                    <a:pt x="21971000" y="89535"/>
                    <a:pt x="21971000" y="199898"/>
                  </a:cubicBezTo>
                  <a:lnTo>
                    <a:pt x="21971000" y="849630"/>
                  </a:lnTo>
                  <a:cubicBezTo>
                    <a:pt x="21971000" y="959993"/>
                    <a:pt x="21881464" y="1049528"/>
                    <a:pt x="2177110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0C4A6E"/>
            </a:solidFill>
            <a:ln w="1905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80160" y="8229600"/>
            <a:ext cx="15727680" cy="768096"/>
            <a:chOff x="0" y="0"/>
            <a:chExt cx="20970240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9702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979" r="0" b="-34897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097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 the concept → Write the class → Create the object → Make it do something.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DAHXWBvlmHU</dc:identifier>
  <dcterms:modified xsi:type="dcterms:W3CDTF">2011-08-01T06:04:30Z</dcterms:modified>
  <cp:revision>1</cp:revision>
  <dc:title>OOP_Bootcamp_AI_Club_KIET (1).pptx</dc:title>
</cp:coreProperties>
</file>